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45"/>
  </p:notesMasterIdLst>
  <p:handoutMasterIdLst>
    <p:handoutMasterId r:id="rId46"/>
  </p:handoutMasterIdLst>
  <p:sldIdLst>
    <p:sldId id="256" r:id="rId2"/>
    <p:sldId id="300" r:id="rId3"/>
    <p:sldId id="301" r:id="rId4"/>
    <p:sldId id="257" r:id="rId5"/>
    <p:sldId id="303" r:id="rId6"/>
    <p:sldId id="304" r:id="rId7"/>
    <p:sldId id="305" r:id="rId8"/>
    <p:sldId id="302" r:id="rId9"/>
    <p:sldId id="306" r:id="rId10"/>
    <p:sldId id="307" r:id="rId11"/>
    <p:sldId id="308" r:id="rId12"/>
    <p:sldId id="309" r:id="rId13"/>
    <p:sldId id="259" r:id="rId14"/>
    <p:sldId id="281" r:id="rId15"/>
    <p:sldId id="260" r:id="rId16"/>
    <p:sldId id="282" r:id="rId17"/>
    <p:sldId id="283" r:id="rId18"/>
    <p:sldId id="284" r:id="rId19"/>
    <p:sldId id="285" r:id="rId20"/>
    <p:sldId id="287" r:id="rId21"/>
    <p:sldId id="288" r:id="rId22"/>
    <p:sldId id="263" r:id="rId23"/>
    <p:sldId id="264" r:id="rId24"/>
    <p:sldId id="265" r:id="rId25"/>
    <p:sldId id="266" r:id="rId26"/>
    <p:sldId id="310" r:id="rId27"/>
    <p:sldId id="314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311" r:id="rId37"/>
    <p:sldId id="276" r:id="rId38"/>
    <p:sldId id="289" r:id="rId39"/>
    <p:sldId id="290" r:id="rId40"/>
    <p:sldId id="294" r:id="rId41"/>
    <p:sldId id="297" r:id="rId42"/>
    <p:sldId id="312" r:id="rId43"/>
    <p:sldId id="313" r:id="rId4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5BBB"/>
    <a:srgbClr val="00C7B1"/>
    <a:srgbClr val="828383"/>
    <a:srgbClr val="666666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13" autoAdjust="0"/>
    <p:restoredTop sz="76904" autoAdjust="0"/>
  </p:normalViewPr>
  <p:slideViewPr>
    <p:cSldViewPr snapToGrid="0" snapToObjects="1">
      <p:cViewPr varScale="1">
        <p:scale>
          <a:sx n="87" d="100"/>
          <a:sy n="87" d="100"/>
        </p:scale>
        <p:origin x="1284" y="90"/>
      </p:cViewPr>
      <p:guideLst/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6/15/2021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6/15/2021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89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97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8555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8487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0712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59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88950" cy="6857998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58368" y="3968496"/>
            <a:ext cx="6638544" cy="1650381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50000"/>
              </a:lnSpc>
              <a:buNone/>
              <a:defRPr sz="2400" b="0" i="0">
                <a:solidFill>
                  <a:srgbClr val="000000"/>
                </a:solidFill>
                <a:latin typeface="+mj-lt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 and Instructor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658368" y="1490472"/>
            <a:ext cx="6638544" cy="2386584"/>
          </a:xfrm>
          <a:prstGeom prst="rect">
            <a:avLst/>
          </a:prstGeom>
          <a:ln>
            <a:noFill/>
          </a:ln>
        </p:spPr>
        <p:txBody>
          <a:bodyPr lIns="0" anchor="b">
            <a:noAutofit/>
          </a:bodyPr>
          <a:lstStyle>
            <a:lvl1pPr algn="l">
              <a:lnSpc>
                <a:spcPts val="5800"/>
              </a:lnSpc>
              <a:defRPr sz="6000" b="1" i="0" cap="all" baseline="0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2" descr="“computer science zhejiang university logo”的图片搜索结果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5237766"/>
            <a:ext cx="1890203" cy="94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152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566928" y="2185416"/>
            <a:ext cx="10515600" cy="3848100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100" indent="-342900">
              <a:lnSpc>
                <a:spcPct val="100000"/>
              </a:lnSpc>
              <a:buClr>
                <a:srgbClr val="005BBB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1143000" algn="l"/>
              </a:tabLs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5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566928" y="2185416"/>
            <a:ext cx="10515600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457200" marR="0" indent="-4064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5BBB"/>
              </a:buClr>
              <a:buSzPct val="100000"/>
              <a:buFont typeface="Arial" charset="0"/>
              <a:buChar char="•"/>
              <a:tabLst/>
              <a:defRPr sz="2400" b="0" i="0" spc="-5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800089" indent="-342900">
              <a:buFont typeface="Arial" panose="020B0604020202020204" pitchFamily="34" charset="0"/>
              <a:buChar char="−"/>
              <a:defRPr sz="2000">
                <a:solidFill>
                  <a:schemeClr val="tx1"/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 Text</a:t>
            </a:r>
          </a:p>
        </p:txBody>
      </p:sp>
      <p:sp>
        <p:nvSpPr>
          <p:cNvPr id="6" name="Title Placeholder 12"/>
          <p:cNvSpPr>
            <a:spLocks noGrp="1"/>
          </p:cNvSpPr>
          <p:nvPr>
            <p:ph type="title" hasCustomPrompt="1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>
              <a:defRPr b="0"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889820" y="5795302"/>
            <a:ext cx="1302179" cy="1062698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566928" y="2320111"/>
            <a:ext cx="105156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 text</a:t>
            </a:r>
          </a:p>
          <a:p>
            <a:pPr marL="1143000" marR="0" lvl="2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566928" y="1316736"/>
            <a:ext cx="10515600" cy="86843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10255504" y="6240989"/>
            <a:ext cx="725424" cy="534516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600" b="1" smtClean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600" b="1" dirty="0">
              <a:solidFill>
                <a:schemeClr val="tx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5" name="Picture 2" descr="“computer science zhejiang university logo”的图片搜索结果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" y="-2"/>
            <a:ext cx="1890203" cy="945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Placeholder 5"/>
          <p:cNvSpPr txBox="1">
            <a:spLocks/>
          </p:cNvSpPr>
          <p:nvPr userDrawn="1"/>
        </p:nvSpPr>
        <p:spPr>
          <a:xfrm>
            <a:off x="2505456" y="334265"/>
            <a:ext cx="6638544" cy="336346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None/>
              <a:defRPr sz="2400" b="0" i="0" kern="1200" baseline="0">
                <a:solidFill>
                  <a:srgbClr val="000000"/>
                </a:solidFill>
                <a:latin typeface="+mj-lt"/>
                <a:ea typeface="Georgia" charset="0"/>
                <a:cs typeface="Georgia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Lecture</a:t>
            </a:r>
            <a:r>
              <a:rPr lang="en-US" sz="2000" baseline="0" dirty="0">
                <a:solidFill>
                  <a:schemeClr val="tx2">
                    <a:lumMod val="75000"/>
                  </a:schemeClr>
                </a:solidFill>
              </a:rPr>
              <a:t> 9: Wired Equivalent Privacy (WEP)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50" y="851445"/>
            <a:ext cx="11387761" cy="20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898" r:id="rId2"/>
    <p:sldLayoutId id="2147483907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2"/>
          </a:solidFill>
          <a:latin typeface="+mj-lt"/>
          <a:ea typeface="Georgia" charset="0"/>
          <a:cs typeface="Georgia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5BBB"/>
        </a:buClr>
        <a:buFont typeface="Arial" panose="020B0604020202020204" pitchFamily="34" charset="0"/>
        <a:buChar char="•"/>
        <a:defRPr sz="24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2pPr>
      <a:lvl3pPr marL="1143000" marR="0" indent="-228600" algn="l" defTabSz="914400" rtl="0" eaLnBrk="1" fontAlgn="auto" latinLnBrk="0" hangingPunct="1">
        <a:lnSpc>
          <a:spcPts val="2300"/>
        </a:lnSpc>
        <a:spcBef>
          <a:spcPts val="500"/>
        </a:spcBef>
        <a:spcAft>
          <a:spcPts val="0"/>
        </a:spcAft>
        <a:buClr>
          <a:srgbClr val="005BBB"/>
        </a:buClr>
        <a:buSzTx/>
        <a:buFont typeface="LucidaGrande" charset="0"/>
        <a:buChar char="-"/>
        <a:tabLst/>
        <a:defRPr sz="20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5BBB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Lecture 9: </a:t>
            </a:r>
            <a:r>
              <a:rPr lang="en-US" dirty="0"/>
              <a:t>Wired Equivalent Privacy (WEP)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Instructor: </a:t>
            </a:r>
            <a:r>
              <a:rPr lang="en-US" dirty="0" err="1">
                <a:solidFill>
                  <a:schemeClr val="tx1"/>
                </a:solidFill>
              </a:rPr>
              <a:t>Kui</a:t>
            </a:r>
            <a:r>
              <a:rPr lang="en-US" dirty="0">
                <a:solidFill>
                  <a:schemeClr val="tx1"/>
                </a:solidFill>
              </a:rPr>
              <a:t> Ren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800" dirty="0"/>
              <a:t>Wireless network and </a:t>
            </a:r>
            <a:r>
              <a:rPr lang="en-US" altLang="zh-CN" sz="4800" dirty="0" err="1"/>
              <a:t>ioT</a:t>
            </a:r>
            <a:r>
              <a:rPr lang="en-US" altLang="zh-CN" sz="4800"/>
              <a:t> security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52218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Wi-Fi is a wireless networking technology used across the globe.</a:t>
            </a:r>
          </a:p>
          <a:p>
            <a:endParaRPr lang="en-US" dirty="0"/>
          </a:p>
          <a:p>
            <a:r>
              <a:rPr lang="en-US" dirty="0"/>
              <a:t>Wi-Fi refers to any system that uses the 802.11 standard, which was developed by the Institute of Electrical and Electronics Engineers (IEEE) and released in 1997. </a:t>
            </a:r>
          </a:p>
          <a:p>
            <a:endParaRPr lang="en-US" dirty="0"/>
          </a:p>
          <a:p>
            <a:r>
              <a:rPr lang="en-US" dirty="0"/>
              <a:t>The term Wi-Fi, which is alternatively spelled </a:t>
            </a:r>
            <a:r>
              <a:rPr lang="en-US" dirty="0" err="1"/>
              <a:t>WiFi</a:t>
            </a:r>
            <a:r>
              <a:rPr lang="en-US" dirty="0"/>
              <a:t>, </a:t>
            </a:r>
            <a:r>
              <a:rPr lang="en-US" dirty="0" err="1"/>
              <a:t>Wi-fi</a:t>
            </a:r>
            <a:r>
              <a:rPr lang="en-US" dirty="0"/>
              <a:t>, </a:t>
            </a:r>
            <a:r>
              <a:rPr lang="en-US" dirty="0" err="1"/>
              <a:t>Wifi</a:t>
            </a:r>
            <a:r>
              <a:rPr lang="en-US" dirty="0"/>
              <a:t>, or </a:t>
            </a:r>
            <a:r>
              <a:rPr lang="en-US" dirty="0" err="1"/>
              <a:t>wifi</a:t>
            </a:r>
            <a:r>
              <a:rPr lang="en-US" dirty="0"/>
              <a:t>, was pushed by the </a:t>
            </a:r>
            <a:r>
              <a:rPr lang="en-US" b="1" dirty="0"/>
              <a:t>Wi-Fi Alliance</a:t>
            </a:r>
            <a:r>
              <a:rPr lang="en-US" dirty="0"/>
              <a:t> , a trade group that pioneered commercialization of the technology.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Wi-Fi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06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3799332" cy="3848100"/>
          </a:xfrm>
        </p:spPr>
        <p:txBody>
          <a:bodyPr/>
          <a:lstStyle/>
          <a:p>
            <a:r>
              <a:rPr lang="en-US" sz="2000" dirty="0"/>
              <a:t>802.11 is a set of standards for  wireless local area network (WLAN)  computer communication,  developed by the IEEE LAN/MAN  Standards Committee (IEEE 802) in  the 5 GHz and 2.4 GHz public  spectrum bands.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802.11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851" y="2185416"/>
            <a:ext cx="6567678" cy="383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83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Sensitive Information over Wi-Fi</a:t>
            </a:r>
          </a:p>
        </p:txBody>
      </p:sp>
      <p:pic>
        <p:nvPicPr>
          <p:cNvPr id="5" name="Picture 2" descr="Image result for wifi attacks on the ri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8508" y="2441576"/>
            <a:ext cx="7852439" cy="355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3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inherent physical protection </a:t>
            </a:r>
          </a:p>
          <a:p>
            <a:pPr lvl="1"/>
            <a:r>
              <a:rPr lang="en-US" dirty="0"/>
              <a:t>Physical connections between devices are replaced by logical associations  </a:t>
            </a:r>
          </a:p>
          <a:p>
            <a:pPr lvl="1"/>
            <a:r>
              <a:rPr lang="en-US" dirty="0"/>
              <a:t>Sending and receiving messages do not need physical access to the network infrastructure (cables, hubs, routers, etc.)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security is more of a concern in wireless?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772" y="3895414"/>
            <a:ext cx="5188268" cy="2600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3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Broadcast communications  </a:t>
            </a:r>
          </a:p>
          <a:p>
            <a:pPr lvl="1"/>
            <a:r>
              <a:rPr lang="en-US" dirty="0"/>
              <a:t>Wireless usually means radio, which has a broadcast nature</a:t>
            </a:r>
          </a:p>
          <a:p>
            <a:pPr lvl="1"/>
            <a:r>
              <a:rPr lang="en-US" dirty="0"/>
              <a:t>Transmissions can be overheard by anyone in range – anyone can generate transmissions, </a:t>
            </a:r>
          </a:p>
          <a:p>
            <a:pPr lvl="2"/>
            <a:r>
              <a:rPr lang="en-US" dirty="0"/>
              <a:t>which will be received by other devices in range</a:t>
            </a:r>
          </a:p>
          <a:p>
            <a:pPr lvl="2"/>
            <a:r>
              <a:rPr lang="en-US" dirty="0"/>
              <a:t>which will interfere with other nearby transmissions and may prevent their correct reception (jamming)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security is more of a concern in wireless?</a:t>
            </a:r>
          </a:p>
        </p:txBody>
      </p:sp>
      <p:pic>
        <p:nvPicPr>
          <p:cNvPr id="2050" name="Picture 2" descr="“broadcast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563" y="4806302"/>
            <a:ext cx="4250817" cy="1913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t="27790" b="10705"/>
          <a:stretch/>
        </p:blipFill>
        <p:spPr>
          <a:xfrm>
            <a:off x="6732270" y="4806302"/>
            <a:ext cx="3486150" cy="191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012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285232" cy="3848100"/>
          </a:xfrm>
        </p:spPr>
        <p:txBody>
          <a:bodyPr/>
          <a:lstStyle/>
          <a:p>
            <a:r>
              <a:rPr lang="en-US" dirty="0"/>
              <a:t>Eavesdropping is easy</a:t>
            </a:r>
          </a:p>
          <a:p>
            <a:r>
              <a:rPr lang="en-US" dirty="0"/>
              <a:t>Injecting bogus messages into the network is easy</a:t>
            </a:r>
          </a:p>
          <a:p>
            <a:r>
              <a:rPr lang="en-US" dirty="0"/>
              <a:t>Replaying previously recorded messages is easy</a:t>
            </a:r>
          </a:p>
          <a:p>
            <a:r>
              <a:rPr lang="en-US" dirty="0"/>
              <a:t>Illegitimate access to the network and its services is easy</a:t>
            </a:r>
          </a:p>
          <a:p>
            <a:r>
              <a:rPr lang="en-US" dirty="0"/>
              <a:t>Denial of service is easily achieved by jamming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security is more of a concern in wireless?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79" y="2592658"/>
            <a:ext cx="4709301" cy="30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4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Wireless technology doesn’t remove any old security issue</a:t>
            </a:r>
          </a:p>
          <a:p>
            <a:endParaRPr lang="en-US" sz="2800" dirty="0"/>
          </a:p>
          <a:p>
            <a:pPr lvl="1"/>
            <a:r>
              <a:rPr lang="en-US" sz="2400" dirty="0"/>
              <a:t>Eavesdropping</a:t>
            </a:r>
          </a:p>
          <a:p>
            <a:endParaRPr lang="en-US" sz="2800" dirty="0"/>
          </a:p>
          <a:p>
            <a:pPr lvl="1"/>
            <a:r>
              <a:rPr lang="en-US" sz="2400" dirty="0"/>
              <a:t>Man-in-the-middle attacks</a:t>
            </a:r>
          </a:p>
          <a:p>
            <a:endParaRPr lang="en-US" sz="2800" dirty="0"/>
          </a:p>
          <a:p>
            <a:pPr lvl="1"/>
            <a:r>
              <a:rPr lang="en-US" sz="2400" dirty="0"/>
              <a:t>Denial of Service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932259"/>
            <a:ext cx="5330190" cy="33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25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Easy to perform, most impossible to detect</a:t>
            </a:r>
          </a:p>
          <a:p>
            <a:r>
              <a:rPr lang="en-US" dirty="0"/>
              <a:t>By default , everything is transmitted in clear text</a:t>
            </a:r>
          </a:p>
          <a:p>
            <a:pPr lvl="1"/>
            <a:r>
              <a:rPr lang="en-US" dirty="0"/>
              <a:t>Username, passwords, content...</a:t>
            </a:r>
          </a:p>
          <a:p>
            <a:pPr lvl="1"/>
            <a:r>
              <a:rPr lang="en-US" dirty="0"/>
              <a:t>No security offered by the transmission medium</a:t>
            </a:r>
          </a:p>
          <a:p>
            <a:r>
              <a:rPr lang="en-US" dirty="0"/>
              <a:t>Different tools available on the internet</a:t>
            </a:r>
          </a:p>
          <a:p>
            <a:pPr lvl="1"/>
            <a:r>
              <a:rPr lang="en-US" dirty="0"/>
              <a:t>Network sniffers, protocol analyzers</a:t>
            </a:r>
          </a:p>
          <a:p>
            <a:pPr lvl="1"/>
            <a:r>
              <a:rPr lang="en-US" dirty="0"/>
              <a:t>Password collectors</a:t>
            </a:r>
          </a:p>
          <a:p>
            <a:r>
              <a:rPr lang="en-US" dirty="0"/>
              <a:t>With the right equipment, it’s possible to eavesdrop traffic from few kilometers away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Eavesdropping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770" y="2185416"/>
            <a:ext cx="2657094" cy="265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05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6553962" cy="3848100"/>
          </a:xfrm>
        </p:spPr>
        <p:txBody>
          <a:bodyPr/>
          <a:lstStyle/>
          <a:p>
            <a:r>
              <a:rPr lang="en-US" dirty="0"/>
              <a:t>Attacker spoofs a disassociate message from the victim</a:t>
            </a:r>
          </a:p>
          <a:p>
            <a:r>
              <a:rPr lang="en-US" dirty="0"/>
              <a:t>The victim starts to look for a new AP, and the attacker advertises his own AP on a different channel, using the real AP’s MAC address</a:t>
            </a:r>
          </a:p>
          <a:p>
            <a:r>
              <a:rPr lang="en-US" dirty="0"/>
              <a:t>The attacker connects to the real AP using victim’s MAC address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 In The Middle Attack 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150" y="2058011"/>
            <a:ext cx="3607118" cy="397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1676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696712" cy="3848100"/>
          </a:xfrm>
        </p:spPr>
        <p:txBody>
          <a:bodyPr/>
          <a:lstStyle/>
          <a:p>
            <a:r>
              <a:rPr lang="en-US" dirty="0"/>
              <a:t> Attack on transmission regency used</a:t>
            </a:r>
          </a:p>
          <a:p>
            <a:pPr lvl="1"/>
            <a:r>
              <a:rPr lang="en-US" dirty="0"/>
              <a:t>Frequency jamming</a:t>
            </a:r>
          </a:p>
          <a:p>
            <a:pPr lvl="1"/>
            <a:r>
              <a:rPr lang="en-US" dirty="0"/>
              <a:t>Not very technical, but works</a:t>
            </a:r>
          </a:p>
          <a:p>
            <a:r>
              <a:rPr lang="en-US" dirty="0"/>
              <a:t>Attack on MAC layer</a:t>
            </a:r>
          </a:p>
          <a:p>
            <a:pPr lvl="1"/>
            <a:r>
              <a:rPr lang="en-US" dirty="0"/>
              <a:t>Spoofed disassociation messages</a:t>
            </a:r>
          </a:p>
          <a:p>
            <a:pPr lvl="1"/>
            <a:r>
              <a:rPr lang="en-US" dirty="0"/>
              <a:t>Can target on specific user</a:t>
            </a:r>
          </a:p>
          <a:p>
            <a:r>
              <a:rPr lang="en-US" dirty="0"/>
              <a:t>Attacks on higher layer protocol (TCP/IP protocol)</a:t>
            </a:r>
          </a:p>
          <a:p>
            <a:pPr lvl="1"/>
            <a:r>
              <a:rPr lang="en-US" dirty="0"/>
              <a:t>SYN Flooding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Denial of Service 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9257" t="11581" r="7931"/>
          <a:stretch/>
        </p:blipFill>
        <p:spPr>
          <a:xfrm>
            <a:off x="6263640" y="2697481"/>
            <a:ext cx="5406390" cy="29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3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Confidentiality </a:t>
            </a:r>
          </a:p>
          <a:p>
            <a:r>
              <a:rPr lang="en-US" dirty="0"/>
              <a:t>Authenticity </a:t>
            </a:r>
          </a:p>
          <a:p>
            <a:r>
              <a:rPr lang="en-US" dirty="0"/>
              <a:t>Replay detection</a:t>
            </a:r>
          </a:p>
          <a:p>
            <a:r>
              <a:rPr lang="en-US" dirty="0"/>
              <a:t>Integrity</a:t>
            </a:r>
          </a:p>
          <a:p>
            <a:r>
              <a:rPr lang="en-US" dirty="0"/>
              <a:t>Access control </a:t>
            </a:r>
          </a:p>
          <a:p>
            <a:r>
              <a:rPr lang="en-US" dirty="0"/>
              <a:t>Protection against jamming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Wireless Communication Security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12113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088437" cy="3848100"/>
          </a:xfrm>
        </p:spPr>
        <p:txBody>
          <a:bodyPr/>
          <a:lstStyle/>
          <a:p>
            <a:r>
              <a:rPr lang="en-US" dirty="0"/>
              <a:t>Wired Equivalent Privacy (WEP)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Wi-Fi Protected Access (WPA)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Wi-Fi Protected Access II (WPA2)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</a:rPr>
              <a:t>Wi-Fi Security Protocols</a:t>
            </a:r>
            <a:endParaRPr lang="en-US" dirty="0"/>
          </a:p>
        </p:txBody>
      </p:sp>
      <p:pic>
        <p:nvPicPr>
          <p:cNvPr id="1026" name="Picture 2" descr="“WiFi security protocols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097" y="1899872"/>
            <a:ext cx="5247431" cy="413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2082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66928" y="2185416"/>
            <a:ext cx="5396550" cy="3848100"/>
          </a:xfrm>
        </p:spPr>
        <p:txBody>
          <a:bodyPr/>
          <a:lstStyle/>
          <a:p>
            <a:r>
              <a:rPr lang="en-US" dirty="0"/>
              <a:t>WEP is Wired Equivalent Privacy</a:t>
            </a:r>
          </a:p>
          <a:p>
            <a:r>
              <a:rPr lang="en-US" dirty="0"/>
              <a:t>Link-layer encryption</a:t>
            </a:r>
          </a:p>
          <a:p>
            <a:r>
              <a:rPr lang="en-US" dirty="0"/>
              <a:t>Defined in the IEEE 802.11 standard</a:t>
            </a:r>
          </a:p>
          <a:p>
            <a:r>
              <a:rPr lang="en-US" dirty="0"/>
              <a:t>Goals of WEP</a:t>
            </a:r>
          </a:p>
          <a:p>
            <a:pPr lvl="1"/>
            <a:r>
              <a:rPr lang="en-US" dirty="0"/>
              <a:t>Confidentiality</a:t>
            </a:r>
          </a:p>
          <a:p>
            <a:pPr lvl="1"/>
            <a:r>
              <a:rPr lang="en-US" dirty="0"/>
              <a:t>Access control</a:t>
            </a:r>
          </a:p>
          <a:p>
            <a:pPr lvl="1"/>
            <a:r>
              <a:rPr lang="en-US" dirty="0"/>
              <a:t>Data integrity</a:t>
            </a:r>
          </a:p>
          <a:p>
            <a:r>
              <a:rPr lang="en-US" dirty="0"/>
              <a:t>Yet, WEP </a:t>
            </a:r>
            <a:r>
              <a:rPr lang="en-US" dirty="0">
                <a:solidFill>
                  <a:srgbClr val="FF0000"/>
                </a:solidFill>
              </a:rPr>
              <a:t>failed</a:t>
            </a:r>
            <a:r>
              <a:rPr lang="en-US" dirty="0"/>
              <a:t> to achieve any of the above goals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what is WEP?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9523" r="7866"/>
          <a:stretch/>
        </p:blipFill>
        <p:spPr>
          <a:xfrm>
            <a:off x="6144188" y="2185416"/>
            <a:ext cx="4361473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674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Uses RC4 (stream cipher) for encryption</a:t>
            </a:r>
          </a:p>
          <a:p>
            <a:pPr lvl="1"/>
            <a:r>
              <a:rPr lang="en-US" sz="1800" dirty="0"/>
              <a:t>A compromise of hardware costs, speed, and security</a:t>
            </a:r>
          </a:p>
          <a:p>
            <a:r>
              <a:rPr lang="en-US" sz="2000" dirty="0"/>
              <a:t>Originally (1999) 64 bit (40 +24):</a:t>
            </a:r>
          </a:p>
          <a:p>
            <a:pPr lvl="1"/>
            <a:r>
              <a:rPr lang="en-US" sz="1800" dirty="0"/>
              <a:t>40 bit key</a:t>
            </a:r>
          </a:p>
          <a:p>
            <a:pPr lvl="1"/>
            <a:r>
              <a:rPr lang="en-US" sz="1800" dirty="0"/>
              <a:t>24 bit Initialization Vector (IV)</a:t>
            </a:r>
          </a:p>
          <a:p>
            <a:r>
              <a:rPr lang="en-US" sz="2000" dirty="0"/>
              <a:t>128 bit (104 + 14):</a:t>
            </a:r>
          </a:p>
          <a:p>
            <a:pPr lvl="1"/>
            <a:r>
              <a:rPr lang="en-US" sz="1800" dirty="0"/>
              <a:t>104 bit (13 ASCII characters, 26 Hex-Characters) key. 104 = 13*8.</a:t>
            </a:r>
          </a:p>
          <a:p>
            <a:pPr lvl="1"/>
            <a:r>
              <a:rPr lang="en-US" sz="1800" dirty="0"/>
              <a:t>24 bit Initialization Vector (IV)</a:t>
            </a:r>
          </a:p>
          <a:p>
            <a:r>
              <a:rPr lang="en-US" sz="2000" dirty="0"/>
              <a:t>256 bit:</a:t>
            </a:r>
          </a:p>
          <a:p>
            <a:pPr lvl="1"/>
            <a:r>
              <a:rPr lang="en-US" sz="1800" dirty="0"/>
              <a:t>232 bit key</a:t>
            </a:r>
          </a:p>
          <a:p>
            <a:pPr lvl="1"/>
            <a:r>
              <a:rPr lang="en-US" sz="1800" dirty="0"/>
              <a:t>Available, but not common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Flavors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9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Encryption: Players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566928" y="2185166"/>
            <a:ext cx="6637887" cy="4114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000" dirty="0"/>
              <a:t>Message: What you’re encrypting</a:t>
            </a:r>
          </a:p>
          <a:p>
            <a:r>
              <a:rPr lang="en-US" altLang="en-US" sz="2000" dirty="0"/>
              <a:t>CRC: To verify the integrity of the message</a:t>
            </a:r>
          </a:p>
          <a:p>
            <a:r>
              <a:rPr lang="en-US" altLang="en-US" sz="2000" dirty="0"/>
              <a:t>Plaintext: The message + CRC</a:t>
            </a:r>
          </a:p>
          <a:p>
            <a:r>
              <a:rPr lang="en-US" altLang="en-US" sz="2000" dirty="0"/>
              <a:t>Initialization vector (IV): A 24-bit number which plays two roles that we’ll meet in a moment</a:t>
            </a:r>
          </a:p>
          <a:p>
            <a:r>
              <a:rPr lang="en-US" altLang="en-US" sz="2000" dirty="0"/>
              <a:t>Key: A 40 or 104-bit number which is used to build the keystream</a:t>
            </a:r>
          </a:p>
          <a:p>
            <a:r>
              <a:rPr lang="en-US" altLang="en-US" sz="2000" dirty="0"/>
              <a:t>Keystream: What is used to encrypt the plaintext</a:t>
            </a:r>
          </a:p>
          <a:p>
            <a:r>
              <a:rPr lang="en-US" altLang="en-US" sz="2000" dirty="0" err="1"/>
              <a:t>Ciphertext</a:t>
            </a:r>
            <a:r>
              <a:rPr lang="en-US" altLang="en-US" sz="2000" dirty="0"/>
              <a:t>: What we end up post-encryption</a:t>
            </a:r>
          </a:p>
        </p:txBody>
      </p:sp>
      <p:sp>
        <p:nvSpPr>
          <p:cNvPr id="6" name="Rectangle 7"/>
          <p:cNvSpPr>
            <a:spLocks noChangeArrowheads="1"/>
          </p:cNvSpPr>
          <p:nvPr/>
        </p:nvSpPr>
        <p:spPr bwMode="auto">
          <a:xfrm>
            <a:off x="7574512" y="2420938"/>
            <a:ext cx="2303463" cy="4683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Message</a:t>
            </a:r>
          </a:p>
        </p:txBody>
      </p:sp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9877975" y="2420938"/>
            <a:ext cx="468312" cy="468312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CRC</a:t>
            </a: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>
            <a:off x="7852325" y="3321050"/>
            <a:ext cx="877887" cy="4683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IV</a:t>
            </a:r>
          </a:p>
        </p:txBody>
      </p:sp>
      <p:sp>
        <p:nvSpPr>
          <p:cNvPr id="9" name="Rectangle 15"/>
          <p:cNvSpPr>
            <a:spLocks noChangeArrowheads="1"/>
          </p:cNvSpPr>
          <p:nvPr/>
        </p:nvSpPr>
        <p:spPr bwMode="auto">
          <a:xfrm>
            <a:off x="8725450" y="3321050"/>
            <a:ext cx="1462087" cy="46831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Key</a:t>
            </a: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7609437" y="4257675"/>
            <a:ext cx="2770188" cy="466725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Keystream</a:t>
            </a:r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7574512" y="5300663"/>
            <a:ext cx="2771775" cy="468312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1800">
                <a:latin typeface="Tahoma" panose="020B0604030504040204" pitchFamily="34" charset="0"/>
                <a:cs typeface="Tahoma" panose="020B0604030504040204" pitchFamily="34" charset="0"/>
              </a:rPr>
              <a:t>Ciphertext</a:t>
            </a:r>
          </a:p>
        </p:txBody>
      </p:sp>
    </p:spTree>
    <p:extLst>
      <p:ext uri="{BB962C8B-B14F-4D97-AF65-F5344CB8AC3E}">
        <p14:creationId xmlns:p14="http://schemas.microsoft.com/office/powerpoint/2010/main" val="122602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2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3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4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5" dur="250" autoRev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7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7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28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29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250" autoRev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10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Encryption: Step by Step</a:t>
            </a:r>
          </a:p>
        </p:txBody>
      </p:sp>
      <p:sp>
        <p:nvSpPr>
          <p:cNvPr id="4" name="Rectangle 5"/>
          <p:cNvSpPr txBox="1">
            <a:spLocks noChangeArrowheads="1"/>
          </p:cNvSpPr>
          <p:nvPr/>
        </p:nvSpPr>
        <p:spPr>
          <a:xfrm>
            <a:off x="682625" y="4760913"/>
            <a:ext cx="7772400" cy="13350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Step 1: Compute CRC for the message</a:t>
            </a:r>
          </a:p>
          <a:p>
            <a:pPr lvl="1"/>
            <a:r>
              <a:rPr lang="en-US" altLang="en-US" dirty="0"/>
              <a:t>CRC-32 polynomial is used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3348038" y="2961481"/>
            <a:ext cx="3276600" cy="86518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3600">
                <a:latin typeface="Tahoma" panose="020B0604030504040204" pitchFamily="34" charset="0"/>
              </a:rPr>
              <a:t>Message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6624638" y="2961481"/>
            <a:ext cx="1116013" cy="86518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3600">
                <a:latin typeface="Tahoma" panose="020B0604030504040204" pitchFamily="34" charset="0"/>
              </a:rPr>
              <a:t>CRC</a:t>
            </a:r>
          </a:p>
        </p:txBody>
      </p:sp>
    </p:spTree>
    <p:extLst>
      <p:ext uri="{BB962C8B-B14F-4D97-AF65-F5344CB8AC3E}">
        <p14:creationId xmlns:p14="http://schemas.microsoft.com/office/powerpoint/2010/main" val="161181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Encryption: Step by Step</a:t>
            </a:r>
          </a:p>
        </p:txBody>
      </p:sp>
      <p:sp>
        <p:nvSpPr>
          <p:cNvPr id="4" name="Rectangle 6"/>
          <p:cNvSpPr>
            <a:spLocks noChangeArrowheads="1"/>
          </p:cNvSpPr>
          <p:nvPr/>
        </p:nvSpPr>
        <p:spPr bwMode="auto">
          <a:xfrm>
            <a:off x="4247339" y="2600325"/>
            <a:ext cx="4140200" cy="8651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3600">
                <a:latin typeface="Tahoma" panose="020B0604030504040204" pitchFamily="34" charset="0"/>
              </a:rPr>
              <a:t>Key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202764" y="2600325"/>
            <a:ext cx="1044575" cy="8651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3600">
                <a:latin typeface="Tahoma" panose="020B0604030504040204" pitchFamily="34" charset="0"/>
              </a:rPr>
              <a:t>IV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682625" y="4184650"/>
            <a:ext cx="7772400" cy="1911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Step 2: Compute the keystream</a:t>
            </a:r>
          </a:p>
          <a:p>
            <a:pPr lvl="1"/>
            <a:r>
              <a:rPr lang="en-US" altLang="en-US" dirty="0"/>
              <a:t>IV is concatenated with the key</a:t>
            </a:r>
          </a:p>
          <a:p>
            <a:pPr lvl="1"/>
            <a:r>
              <a:rPr lang="en-US" altLang="en-US" dirty="0"/>
              <a:t>RC4 encryption algorithm is used on the 64 or 128 bit concatenation</a:t>
            </a: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957544" y="2600325"/>
            <a:ext cx="7237412" cy="865188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sz="3600">
                <a:latin typeface="Tahoma" panose="020B0604030504040204" pitchFamily="34" charset="0"/>
              </a:rPr>
              <a:t>Keystream</a:t>
            </a:r>
          </a:p>
        </p:txBody>
      </p:sp>
    </p:spTree>
    <p:extLst>
      <p:ext uri="{BB962C8B-B14F-4D97-AF65-F5344CB8AC3E}">
        <p14:creationId xmlns:p14="http://schemas.microsoft.com/office/powerpoint/2010/main" val="413095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Encryption: Step by Step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82625" y="4184650"/>
            <a:ext cx="7772400" cy="1911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Step 3: Encrypt the plaintext</a:t>
            </a:r>
          </a:p>
          <a:p>
            <a:pPr lvl="1"/>
            <a:r>
              <a:rPr lang="en-US" altLang="en-US" dirty="0"/>
              <a:t>The plaintext is </a:t>
            </a:r>
            <a:r>
              <a:rPr lang="en-US" altLang="en-US" dirty="0" err="1"/>
              <a:t>XORed</a:t>
            </a:r>
            <a:r>
              <a:rPr lang="en-US" altLang="en-US" dirty="0"/>
              <a:t> with the keystream to form the </a:t>
            </a:r>
            <a:r>
              <a:rPr lang="en-US" altLang="en-US" dirty="0" err="1"/>
              <a:t>ciphertext</a:t>
            </a:r>
            <a:endParaRPr lang="en-US" altLang="en-US" dirty="0"/>
          </a:p>
          <a:p>
            <a:pPr lvl="1"/>
            <a:r>
              <a:rPr lang="en-US" altLang="en-US" dirty="0"/>
              <a:t>The IV is prepended to the </a:t>
            </a:r>
            <a:r>
              <a:rPr lang="en-US" altLang="en-US" dirty="0" err="1"/>
              <a:t>ciphertext</a:t>
            </a:r>
            <a:endParaRPr lang="en-US" altLang="en-US" dirty="0"/>
          </a:p>
        </p:txBody>
      </p:sp>
      <p:grpSp>
        <p:nvGrpSpPr>
          <p:cNvPr id="6" name="Group 12"/>
          <p:cNvGrpSpPr>
            <a:grpSpLocks/>
          </p:cNvGrpSpPr>
          <p:nvPr/>
        </p:nvGrpSpPr>
        <p:grpSpPr bwMode="auto">
          <a:xfrm>
            <a:off x="3623504" y="2363274"/>
            <a:ext cx="4392613" cy="395287"/>
            <a:chOff x="1406" y="1389"/>
            <a:chExt cx="2767" cy="249"/>
          </a:xfrm>
          <a:solidFill>
            <a:schemeClr val="accent2"/>
          </a:solidFill>
        </p:grpSpPr>
        <p:sp>
          <p:nvSpPr>
            <p:cNvPr id="7" name="Rectangle 8"/>
            <p:cNvSpPr>
              <a:spLocks noChangeArrowheads="1"/>
            </p:cNvSpPr>
            <p:nvPr/>
          </p:nvSpPr>
          <p:spPr bwMode="auto">
            <a:xfrm>
              <a:off x="1406" y="1389"/>
              <a:ext cx="2064" cy="2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Message</a:t>
              </a: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3470" y="1389"/>
              <a:ext cx="703" cy="249"/>
            </a:xfrm>
            <a:prstGeom prst="rect">
              <a:avLst/>
            </a:prstGeom>
            <a:grp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CRC</a:t>
              </a:r>
            </a:p>
          </p:txBody>
        </p:sp>
      </p:grp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623504" y="3550724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Keystream</a:t>
            </a:r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3623504" y="2939536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Ciphertext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3118679" y="2939536"/>
            <a:ext cx="504825" cy="395288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7697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278 L 0.00013 -0.08634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468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3.7037E-7 L -3.75E-6 0.08681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3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Decryption: Step by Step</a:t>
            </a: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682625" y="4184650"/>
            <a:ext cx="7772400" cy="1911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Step 1: Build the keystream</a:t>
            </a:r>
          </a:p>
          <a:p>
            <a:pPr lvl="1"/>
            <a:r>
              <a:rPr lang="en-US" altLang="en-US" dirty="0"/>
              <a:t>Extract the IV from the incoming frame</a:t>
            </a:r>
          </a:p>
          <a:p>
            <a:pPr lvl="1"/>
            <a:r>
              <a:rPr lang="en-US" altLang="en-US" dirty="0"/>
              <a:t>Prepend the IV to the key</a:t>
            </a:r>
          </a:p>
          <a:p>
            <a:pPr lvl="1"/>
            <a:r>
              <a:rPr lang="en-US" altLang="en-US" dirty="0"/>
              <a:t>Use RC4 to build the keystream</a:t>
            </a:r>
          </a:p>
        </p:txBody>
      </p:sp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2232025" y="3429000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Keystream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232025" y="2133600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Ciphertext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1727200" y="2133600"/>
            <a:ext cx="504825" cy="3952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IV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3959225" y="3429000"/>
            <a:ext cx="1800225" cy="3937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Key</a:t>
            </a:r>
          </a:p>
        </p:txBody>
      </p:sp>
    </p:spTree>
    <p:extLst>
      <p:ext uri="{BB962C8B-B14F-4D97-AF65-F5344CB8AC3E}">
        <p14:creationId xmlns:p14="http://schemas.microsoft.com/office/powerpoint/2010/main" val="3169122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11111E-6 L 0.18907 0.18889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9444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  <p:bldP spid="6" grpId="0" animBg="1"/>
      <p:bldP spid="7" grpId="0" animBg="1"/>
      <p:bldP spid="7" grpId="1" animBg="1"/>
      <p:bldP spid="7" grpId="2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WEP </a:t>
            </a:r>
            <a:r>
              <a:rPr lang="en-US" dirty="0"/>
              <a:t>Decryption: Step by Step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682625" y="4184650"/>
            <a:ext cx="7772400" cy="19113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4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marR="0" indent="-228600" algn="l" defTabSz="914400" rtl="0" eaLnBrk="1" fontAlgn="auto" latinLnBrk="0" hangingPunct="1">
              <a:lnSpc>
                <a:spcPts val="2300"/>
              </a:lnSpc>
              <a:spcBef>
                <a:spcPts val="500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 sz="2000" kern="120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Step 2: Decrypt the plaintext and verify</a:t>
            </a:r>
          </a:p>
          <a:p>
            <a:pPr lvl="1"/>
            <a:r>
              <a:rPr lang="en-US" altLang="en-US" dirty="0"/>
              <a:t>XOR the keystream with the </a:t>
            </a:r>
            <a:r>
              <a:rPr lang="en-US" altLang="en-US" dirty="0" err="1"/>
              <a:t>ciphertext</a:t>
            </a:r>
            <a:endParaRPr lang="en-US" altLang="en-US" dirty="0"/>
          </a:p>
          <a:p>
            <a:pPr lvl="1"/>
            <a:r>
              <a:rPr lang="en-US" altLang="en-US" dirty="0"/>
              <a:t>Verify the extracted message with the CRC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813934" y="3526396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Keystream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813934" y="2230996"/>
            <a:ext cx="4387850" cy="39370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Ciphertext</a:t>
            </a: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3813934" y="2878696"/>
            <a:ext cx="3276600" cy="3952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>
                <a:latin typeface="Tahoma" panose="020B0604030504040204" pitchFamily="34" charset="0"/>
              </a:rPr>
              <a:t>Message</a:t>
            </a: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7090534" y="2878696"/>
            <a:ext cx="1116013" cy="395288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en-US" dirty="0">
                <a:latin typeface="Tahoma" panose="020B0604030504040204" pitchFamily="34" charset="0"/>
              </a:rPr>
              <a:t>CRC</a:t>
            </a:r>
          </a:p>
        </p:txBody>
      </p:sp>
    </p:spTree>
    <p:extLst>
      <p:ext uri="{BB962C8B-B14F-4D97-AF65-F5344CB8AC3E}">
        <p14:creationId xmlns:p14="http://schemas.microsoft.com/office/powerpoint/2010/main" val="143355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4.81481E-6 L 0.00013 0.09722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86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4.07407E-6 L 0.00013 -0.09166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583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6" grpId="1" animBg="1"/>
      <p:bldP spid="7" grpId="0" animBg="1"/>
      <p:bldP spid="7" grpId="1" animBg="1"/>
      <p:bldP spid="8" grpId="0" animBg="1"/>
      <p:bldP spid="9" grpId="0" animBg="1"/>
      <p:bldP spid="9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err="1"/>
              <a:t>Borisov</a:t>
            </a:r>
            <a:r>
              <a:rPr lang="en-US" dirty="0"/>
              <a:t>, et al. [1] :</a:t>
            </a:r>
          </a:p>
          <a:p>
            <a:pPr lvl="1"/>
            <a:r>
              <a:rPr lang="en-US" dirty="0"/>
              <a:t>Keystream (IV) reuse</a:t>
            </a:r>
          </a:p>
          <a:p>
            <a:pPr lvl="1"/>
            <a:r>
              <a:rPr lang="en-US" dirty="0"/>
              <a:t>Key management/distribution</a:t>
            </a:r>
          </a:p>
          <a:p>
            <a:pPr lvl="1"/>
            <a:r>
              <a:rPr lang="en-US" dirty="0"/>
              <a:t>Weak message authentication (ICV)</a:t>
            </a:r>
          </a:p>
          <a:p>
            <a:r>
              <a:rPr lang="en-US" dirty="0" err="1"/>
              <a:t>Arbaugh</a:t>
            </a:r>
            <a:r>
              <a:rPr lang="en-US" dirty="0"/>
              <a:t>, et al. [2]:</a:t>
            </a:r>
          </a:p>
          <a:p>
            <a:pPr lvl="1"/>
            <a:r>
              <a:rPr lang="en-US" dirty="0"/>
              <a:t>Shared key authentication</a:t>
            </a:r>
          </a:p>
          <a:p>
            <a:pPr lvl="2"/>
            <a:r>
              <a:rPr lang="en-US" altLang="zh-CN" dirty="0"/>
              <a:t>C</a:t>
            </a:r>
            <a:r>
              <a:rPr lang="en-US" dirty="0"/>
              <a:t>an authenticate with AP without knowing the WEP key</a:t>
            </a:r>
          </a:p>
          <a:p>
            <a:pPr lvl="2"/>
            <a:r>
              <a:rPr lang="en-US" dirty="0"/>
              <a:t>But still don’t know the WEP key, i.e. cannot access the network further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Problems with WEP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919721"/>
            <a:ext cx="102965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Borisov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Nikita, Ian Goldberg, and David Wagner. "Intercepting mobile communications: the insecurity of 802.11." </a:t>
            </a:r>
            <a:r>
              <a:rPr lang="en-US" sz="1400" i="1" dirty="0">
                <a:solidFill>
                  <a:srgbClr val="222222"/>
                </a:solidFill>
                <a:latin typeface="Arial" panose="020B0604020202020204" pitchFamily="34" charset="0"/>
              </a:rPr>
              <a:t>Proceedings of the 7th annual international conference on Mobile computing and networking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. ACM, 2001.</a:t>
            </a:r>
          </a:p>
          <a:p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[2] </a:t>
            </a:r>
            <a:r>
              <a:rPr lang="en-US" sz="1400" dirty="0" err="1">
                <a:solidFill>
                  <a:srgbClr val="222222"/>
                </a:solidFill>
                <a:latin typeface="Arial" panose="020B0604020202020204" pitchFamily="34" charset="0"/>
              </a:rPr>
              <a:t>Arbaugh</a:t>
            </a:r>
            <a:r>
              <a:rPr lang="en-US" sz="1400" dirty="0">
                <a:solidFill>
                  <a:srgbClr val="222222"/>
                </a:solidFill>
                <a:latin typeface="Arial" panose="020B0604020202020204" pitchFamily="34" charset="0"/>
              </a:rPr>
              <a:t>, W. A., Shankar, N., Wan, Y. J., &amp; Zhang, K. (2002). Your 80211 wireless network has no clothes. IEEE Wireless Communications, 9(6), 44-51.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298159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WEP seed is feed into PRNG to generate a keystream</a:t>
            </a:r>
          </a:p>
          <a:p>
            <a:pPr lvl="1"/>
            <a:r>
              <a:rPr lang="en-US" dirty="0"/>
              <a:t>WEP seed = 24-bit IV + </a:t>
            </a:r>
            <a:r>
              <a:rPr lang="en-US" u="sng" dirty="0"/>
              <a:t>fixed</a:t>
            </a:r>
            <a:r>
              <a:rPr lang="en-US" dirty="0"/>
              <a:t> key</a:t>
            </a:r>
          </a:p>
          <a:p>
            <a:pPr lvl="1"/>
            <a:r>
              <a:rPr lang="en-US" dirty="0"/>
              <a:t>Then, the keystream is </a:t>
            </a:r>
            <a:r>
              <a:rPr lang="en-US" dirty="0" err="1"/>
              <a:t>XOR’ed</a:t>
            </a:r>
            <a:r>
              <a:rPr lang="en-US" dirty="0"/>
              <a:t> with the plaintext and checksum to produce the </a:t>
            </a:r>
            <a:r>
              <a:rPr lang="en-US" dirty="0" err="1"/>
              <a:t>ciphertext</a:t>
            </a:r>
            <a:r>
              <a:rPr lang="en-US" dirty="0"/>
              <a:t>.</a:t>
            </a:r>
          </a:p>
          <a:p>
            <a:r>
              <a:rPr lang="en-US" dirty="0"/>
              <a:t>Whenever the </a:t>
            </a:r>
            <a:r>
              <a:rPr lang="en-US" u="sng" dirty="0"/>
              <a:t>same IV</a:t>
            </a:r>
            <a:r>
              <a:rPr lang="en-US" dirty="0"/>
              <a:t> is used with the same master key, </a:t>
            </a:r>
          </a:p>
          <a:p>
            <a:pPr lvl="1"/>
            <a:r>
              <a:rPr lang="en-US" u="sng" dirty="0"/>
              <a:t>the keystream will be the same</a:t>
            </a:r>
            <a:r>
              <a:rPr lang="en-US" dirty="0"/>
              <a:t> as well.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Keystreams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1596886" y="5028914"/>
            <a:ext cx="81235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 b="1" dirty="0"/>
              <a:t>A Stream-Cipher should never use the same key twice!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3670247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E(P1) = P1 </a:t>
            </a:r>
            <a:r>
              <a:rPr lang="en-US" dirty="0" err="1"/>
              <a:t>xor</a:t>
            </a:r>
            <a:r>
              <a:rPr lang="en-US" dirty="0"/>
              <a:t> C 	[C is the key]</a:t>
            </a:r>
          </a:p>
          <a:p>
            <a:r>
              <a:rPr lang="en-US" dirty="0"/>
              <a:t>E(P2) = P2 </a:t>
            </a:r>
            <a:r>
              <a:rPr lang="en-US" dirty="0" err="1"/>
              <a:t>xor</a:t>
            </a:r>
            <a:r>
              <a:rPr lang="en-US" dirty="0"/>
              <a:t> C  [C is the same key]</a:t>
            </a:r>
          </a:p>
          <a:p>
            <a:r>
              <a:rPr lang="en-US" dirty="0"/>
              <a:t>Since </a:t>
            </a:r>
            <a:r>
              <a:rPr lang="en-US" dirty="0" err="1"/>
              <a:t>xor</a:t>
            </a:r>
            <a:r>
              <a:rPr lang="en-US" dirty="0"/>
              <a:t> is commutative:</a:t>
            </a:r>
          </a:p>
          <a:p>
            <a:r>
              <a:rPr lang="en-US" dirty="0"/>
              <a:t>E(P1) </a:t>
            </a:r>
            <a:r>
              <a:rPr lang="en-US" dirty="0" err="1"/>
              <a:t>xor</a:t>
            </a:r>
            <a:r>
              <a:rPr lang="en-US" dirty="0"/>
              <a:t> E(P2) = P1 </a:t>
            </a:r>
            <a:r>
              <a:rPr lang="en-US" dirty="0" err="1"/>
              <a:t>xor</a:t>
            </a:r>
            <a:r>
              <a:rPr lang="en-US" dirty="0"/>
              <a:t> C </a:t>
            </a:r>
            <a:r>
              <a:rPr lang="en-US" dirty="0" err="1"/>
              <a:t>xor</a:t>
            </a:r>
            <a:r>
              <a:rPr lang="en-US" dirty="0"/>
              <a:t> P2 </a:t>
            </a:r>
            <a:r>
              <a:rPr lang="en-US" dirty="0" err="1"/>
              <a:t>xor</a:t>
            </a:r>
            <a:r>
              <a:rPr lang="en-US" dirty="0"/>
              <a:t> C</a:t>
            </a:r>
          </a:p>
          <a:p>
            <a:r>
              <a:rPr lang="en-US" dirty="0"/>
              <a:t> 		        = P1 </a:t>
            </a:r>
            <a:r>
              <a:rPr lang="en-US" dirty="0" err="1"/>
              <a:t>xor</a:t>
            </a:r>
            <a:r>
              <a:rPr lang="en-US" dirty="0"/>
              <a:t> P2 </a:t>
            </a:r>
            <a:r>
              <a:rPr lang="en-US" dirty="0" err="1"/>
              <a:t>xor</a:t>
            </a:r>
            <a:r>
              <a:rPr lang="en-US" dirty="0"/>
              <a:t> C </a:t>
            </a:r>
            <a:r>
              <a:rPr lang="en-US" dirty="0" err="1"/>
              <a:t>xor</a:t>
            </a:r>
            <a:r>
              <a:rPr lang="en-US" dirty="0"/>
              <a:t> C</a:t>
            </a:r>
          </a:p>
          <a:p>
            <a:r>
              <a:rPr lang="en-US" dirty="0"/>
              <a:t>		        = P1 </a:t>
            </a:r>
            <a:r>
              <a:rPr lang="en-US" dirty="0" err="1"/>
              <a:t>xor</a:t>
            </a:r>
            <a:r>
              <a:rPr lang="en-US" dirty="0"/>
              <a:t> P2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The Stream-Cipher-Breakdown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84037007"/>
              </p:ext>
            </p:extLst>
          </p:nvPr>
        </p:nvGraphicFramePr>
        <p:xfrm>
          <a:off x="1563084" y="5410200"/>
          <a:ext cx="8523287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77229" imgH="215806" progId="Equation.3">
                  <p:embed/>
                </p:oleObj>
              </mc:Choice>
              <mc:Fallback>
                <p:oleObj name="Equation" r:id="rId2" imgW="1777229" imgH="215806" progId="Equation.3">
                  <p:embed/>
                  <p:pic>
                    <p:nvPicPr>
                      <p:cNvPr id="2" name="Object 1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lum bright="100000" contrast="66000"/>
                        <a:grayscl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084" y="5410200"/>
                        <a:ext cx="8523287" cy="103505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74752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Master keys are unlikely to be changed due to key management issues (more on this later…)</a:t>
            </a:r>
          </a:p>
          <a:p>
            <a:endParaRPr lang="en-US" dirty="0"/>
          </a:p>
          <a:p>
            <a:r>
              <a:rPr lang="en-US" dirty="0"/>
              <a:t>24 bits of IV are not sufficient to avoid collisions</a:t>
            </a:r>
          </a:p>
          <a:p>
            <a:pPr lvl="1"/>
            <a:r>
              <a:rPr lang="en-US" dirty="0"/>
              <a:t>Assuming 1500-byte packets at 11 Mbps, 2^24 possible IVs will be exhausted in about 5 hours</a:t>
            </a:r>
          </a:p>
          <a:p>
            <a:pPr lvl="1"/>
            <a:r>
              <a:rPr lang="en-US" dirty="0"/>
              <a:t>If IVs are assigned randomly, collisions can be expected (50% probability) after 5000 packets (Birthday paradox).</a:t>
            </a:r>
          </a:p>
          <a:p>
            <a:pPr lvl="1"/>
            <a:r>
              <a:rPr lang="en-US" dirty="0"/>
              <a:t>If IVs are assigned sequentially, collisions are inevitable if cards are re-initialized (e.g., always start from zero)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Keystream Reuse/Collision</a:t>
            </a:r>
          </a:p>
        </p:txBody>
      </p:sp>
    </p:spTree>
    <p:extLst>
      <p:ext uri="{BB962C8B-B14F-4D97-AF65-F5344CB8AC3E}">
        <p14:creationId xmlns:p14="http://schemas.microsoft.com/office/powerpoint/2010/main" val="15327470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en-US" dirty="0"/>
              <a:t>It’s carried in plaintext in the “encrypted” message!</a:t>
            </a:r>
          </a:p>
          <a:p>
            <a:endParaRPr lang="en-US" altLang="en-US" dirty="0"/>
          </a:p>
          <a:p>
            <a:r>
              <a:rPr lang="en-US" altLang="en-US" dirty="0"/>
              <a:t>It’s only 24 bits!</a:t>
            </a:r>
          </a:p>
          <a:p>
            <a:endParaRPr lang="en-US" altLang="en-US" dirty="0"/>
          </a:p>
          <a:p>
            <a:r>
              <a:rPr lang="en-US" altLang="en-US" dirty="0"/>
              <a:t>There are no restrictions on IV reuse!</a:t>
            </a:r>
          </a:p>
          <a:p>
            <a:endParaRPr lang="en-US" altLang="en-US" dirty="0"/>
          </a:p>
          <a:p>
            <a:r>
              <a:rPr lang="en-US" altLang="en-US" dirty="0"/>
              <a:t>The IV forms a significant portion of the “seed” for the RC4 algorithm!</a:t>
            </a:r>
          </a:p>
          <a:p>
            <a:pPr lvl="1"/>
            <a:r>
              <a:rPr lang="en-US" dirty="0"/>
              <a:t>It was discovered that it is easy to decrypt RC4 </a:t>
            </a:r>
            <a:r>
              <a:rPr lang="en-US" dirty="0" err="1"/>
              <a:t>ciphertext</a:t>
            </a:r>
            <a:r>
              <a:rPr lang="en-US" dirty="0"/>
              <a:t> if part of the key is known.</a:t>
            </a:r>
          </a:p>
          <a:p>
            <a:pPr marL="457200" lvl="1" indent="0">
              <a:buNone/>
            </a:pPr>
            <a:endParaRPr lang="en-US" alt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vector (IV)</a:t>
            </a:r>
          </a:p>
        </p:txBody>
      </p:sp>
    </p:spTree>
    <p:extLst>
      <p:ext uri="{BB962C8B-B14F-4D97-AF65-F5344CB8AC3E}">
        <p14:creationId xmlns:p14="http://schemas.microsoft.com/office/powerpoint/2010/main" val="33936063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It has been known for a while that RC4 has weak keys</a:t>
            </a:r>
          </a:p>
          <a:p>
            <a:pPr lvl="1"/>
            <a:r>
              <a:rPr lang="en-US" dirty="0"/>
              <a:t>Weak keys are more susceptible to showing the relationship between plaintext and </a:t>
            </a:r>
            <a:r>
              <a:rPr lang="en-US" dirty="0" err="1"/>
              <a:t>ciphertext</a:t>
            </a:r>
            <a:endParaRPr lang="en-US" dirty="0"/>
          </a:p>
          <a:p>
            <a:endParaRPr lang="en-US" dirty="0"/>
          </a:p>
          <a:p>
            <a:r>
              <a:rPr lang="en-US" dirty="0"/>
              <a:t>Weak IVs correspond to weak Keys.</a:t>
            </a:r>
          </a:p>
          <a:p>
            <a:pPr lvl="1"/>
            <a:r>
              <a:rPr lang="en-US" dirty="0"/>
              <a:t>Weak IVs have the following patterns: </a:t>
            </a:r>
          </a:p>
          <a:p>
            <a:pPr lvl="2"/>
            <a:r>
              <a:rPr lang="en-US" dirty="0"/>
              <a:t>First byte: range from 3 to 7</a:t>
            </a:r>
          </a:p>
          <a:p>
            <a:pPr lvl="2"/>
            <a:r>
              <a:rPr lang="en-US" dirty="0"/>
              <a:t>Second byte: 255</a:t>
            </a:r>
          </a:p>
          <a:p>
            <a:pPr lvl="2"/>
            <a:r>
              <a:rPr lang="en-US" dirty="0"/>
              <a:t>Third byte: anything</a:t>
            </a:r>
          </a:p>
          <a:p>
            <a:pPr lvl="1"/>
            <a:r>
              <a:rPr lang="en-US" dirty="0"/>
              <a:t>There are approx. 9000 weak IVs out of the 40 bit WEP secret keys. It is about 5% of total number IVs.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IVs and Weak Keys in RC4</a:t>
            </a:r>
          </a:p>
        </p:txBody>
      </p:sp>
    </p:spTree>
    <p:extLst>
      <p:ext uri="{BB962C8B-B14F-4D97-AF65-F5344CB8AC3E}">
        <p14:creationId xmlns:p14="http://schemas.microsoft.com/office/powerpoint/2010/main" val="31553636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ICV is generated from a cyclic redundancy check (CRC-32)</a:t>
            </a:r>
          </a:p>
          <a:p>
            <a:pPr lvl="1"/>
            <a:r>
              <a:rPr lang="en-US" dirty="0"/>
              <a:t>Only a simple arithmetic computation. </a:t>
            </a:r>
          </a:p>
          <a:p>
            <a:pPr lvl="1"/>
            <a:r>
              <a:rPr lang="en-US" dirty="0"/>
              <a:t>Can be done easily by anyone.</a:t>
            </a:r>
          </a:p>
          <a:p>
            <a:pPr lvl="1"/>
            <a:r>
              <a:rPr lang="en-US" dirty="0"/>
              <a:t>Not cryptographically secure.</a:t>
            </a:r>
          </a:p>
          <a:p>
            <a:endParaRPr lang="en-US" dirty="0"/>
          </a:p>
          <a:p>
            <a:r>
              <a:rPr lang="en-US" dirty="0"/>
              <a:t>Easy for an attacker to change a packet and then change ICV to get response from AP.</a:t>
            </a:r>
          </a:p>
          <a:p>
            <a:pPr lvl="1"/>
            <a:r>
              <a:rPr lang="en-US" dirty="0"/>
              <a:t>E.g., replay attacks or injection attacks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Message Integrity (ICV)</a:t>
            </a:r>
          </a:p>
        </p:txBody>
      </p:sp>
    </p:spTree>
    <p:extLst>
      <p:ext uri="{BB962C8B-B14F-4D97-AF65-F5344CB8AC3E}">
        <p14:creationId xmlns:p14="http://schemas.microsoft.com/office/powerpoint/2010/main" val="3929088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WEP does </a:t>
            </a:r>
            <a:r>
              <a:rPr lang="en-US" u="sng" dirty="0"/>
              <a:t>NOT</a:t>
            </a:r>
            <a:r>
              <a:rPr lang="en-US" dirty="0"/>
              <a:t> include any key management protocols!</a:t>
            </a:r>
          </a:p>
          <a:p>
            <a:pPr lvl="1"/>
            <a:r>
              <a:rPr lang="en-US" dirty="0"/>
              <a:t>Master keys could be one of four globally shared keys</a:t>
            </a:r>
          </a:p>
          <a:p>
            <a:endParaRPr lang="en-US" dirty="0"/>
          </a:p>
          <a:p>
            <a:r>
              <a:rPr lang="en-US" dirty="0"/>
              <a:t>Key must be updated manually</a:t>
            </a:r>
          </a:p>
          <a:p>
            <a:pPr lvl="1"/>
            <a:r>
              <a:rPr lang="en-US" dirty="0"/>
              <a:t>Often, one key is relied on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Management</a:t>
            </a:r>
          </a:p>
        </p:txBody>
      </p:sp>
    </p:spTree>
    <p:extLst>
      <p:ext uri="{BB962C8B-B14F-4D97-AF65-F5344CB8AC3E}">
        <p14:creationId xmlns:p14="http://schemas.microsoft.com/office/powerpoint/2010/main" val="11164413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Keys are manually distributed</a:t>
            </a:r>
          </a:p>
          <a:p>
            <a:r>
              <a:rPr lang="en-US" dirty="0"/>
              <a:t>Keys are statically configured</a:t>
            </a:r>
          </a:p>
          <a:p>
            <a:pPr lvl="1"/>
            <a:r>
              <a:rPr lang="en-US" dirty="0"/>
              <a:t>Implications: often infrequently changed and easy to remember!</a:t>
            </a:r>
          </a:p>
          <a:p>
            <a:r>
              <a:rPr lang="en-US" dirty="0"/>
              <a:t>Key values can be directly set as hex data</a:t>
            </a:r>
          </a:p>
          <a:p>
            <a:r>
              <a:rPr lang="en-US" dirty="0"/>
              <a:t>Key generators provided for convenience</a:t>
            </a:r>
          </a:p>
          <a:p>
            <a:pPr lvl="1"/>
            <a:r>
              <a:rPr lang="en-US" dirty="0"/>
              <a:t>ASCII string is converted into keying material</a:t>
            </a:r>
          </a:p>
          <a:p>
            <a:pPr lvl="1"/>
            <a:r>
              <a:rPr lang="en-US" dirty="0"/>
              <a:t>Non-standard but in wide use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WEP (Re)Keying in Practice</a:t>
            </a:r>
          </a:p>
        </p:txBody>
      </p:sp>
    </p:spTree>
    <p:extLst>
      <p:ext uri="{BB962C8B-B14F-4D97-AF65-F5344CB8AC3E}">
        <p14:creationId xmlns:p14="http://schemas.microsoft.com/office/powerpoint/2010/main" val="3771735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Authentication is optional</a:t>
            </a:r>
          </a:p>
          <a:p>
            <a:r>
              <a:rPr lang="en-US" dirty="0"/>
              <a:t>WEP uses a “Shared Key Authentication” protocol to authenticate stations</a:t>
            </a:r>
          </a:p>
          <a:p>
            <a:pPr lvl="1"/>
            <a:r>
              <a:rPr lang="en-US" dirty="0"/>
              <a:t>Initiator requests shared key authentication</a:t>
            </a:r>
          </a:p>
          <a:p>
            <a:pPr lvl="1"/>
            <a:r>
              <a:rPr lang="en-US" dirty="0"/>
              <a:t>Responder sends initiator random challenge text</a:t>
            </a:r>
          </a:p>
          <a:p>
            <a:pPr lvl="1"/>
            <a:r>
              <a:rPr lang="en-US" dirty="0"/>
              <a:t>Initiator sends responder encrypted challenge text</a:t>
            </a:r>
          </a:p>
          <a:p>
            <a:pPr lvl="1"/>
            <a:r>
              <a:rPr lang="en-US" dirty="0"/>
              <a:t>Responder signals successful completion of protocol</a:t>
            </a:r>
          </a:p>
          <a:p>
            <a:r>
              <a:rPr lang="en-US" dirty="0"/>
              <a:t>This is supposed to prove that the initiator knows the correct key</a:t>
            </a:r>
          </a:p>
          <a:p>
            <a:r>
              <a:rPr lang="en-US" dirty="0"/>
              <a:t>However, if a keystream is known, no key is necessary, so anybody can authenticate!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894467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IV (key) reuse due to limited IV space</a:t>
            </a:r>
          </a:p>
          <a:p>
            <a:pPr lvl="1"/>
            <a:r>
              <a:rPr lang="en-US" dirty="0"/>
              <a:t>Known plaintext  attack</a:t>
            </a:r>
          </a:p>
          <a:p>
            <a:pPr lvl="2"/>
            <a:r>
              <a:rPr lang="en-US" dirty="0"/>
              <a:t>Lots of known plaintext in IP, ICMP, ARP, and etc.</a:t>
            </a:r>
          </a:p>
          <a:p>
            <a:pPr lvl="1"/>
            <a:r>
              <a:rPr lang="en-US" dirty="0"/>
              <a:t>Partial known plaintext attack</a:t>
            </a:r>
          </a:p>
          <a:p>
            <a:pPr lvl="2"/>
            <a:r>
              <a:rPr lang="en-US" dirty="0"/>
              <a:t>e.g., the IP header</a:t>
            </a:r>
          </a:p>
          <a:p>
            <a:pPr lvl="2"/>
            <a:r>
              <a:rPr lang="en-US" dirty="0"/>
              <a:t>Possible to recover some portion of the keystream</a:t>
            </a:r>
          </a:p>
          <a:p>
            <a:pPr lvl="3"/>
            <a:r>
              <a:rPr lang="en-US" dirty="0"/>
              <a:t>Can extend partially recovered keystream to the entire keystream via repeated probing/trying</a:t>
            </a:r>
          </a:p>
          <a:p>
            <a:r>
              <a:rPr lang="en-US" dirty="0"/>
              <a:t>Weak Integrity check (ICV)</a:t>
            </a:r>
          </a:p>
          <a:p>
            <a:pPr lvl="1"/>
            <a:r>
              <a:rPr lang="en-US" dirty="0"/>
              <a:t>Lack of IV replay protection (ARP replay attacks)</a:t>
            </a:r>
          </a:p>
          <a:p>
            <a:pPr lvl="1"/>
            <a:r>
              <a:rPr lang="en-US" dirty="0"/>
              <a:t>Possible to flip bits in real time, which is enabled by linearity of CRC32 (weak integrity check)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WEP Weakness Summary</a:t>
            </a:r>
          </a:p>
        </p:txBody>
      </p:sp>
    </p:spTree>
    <p:extLst>
      <p:ext uri="{BB962C8B-B14F-4D97-AF65-F5344CB8AC3E}">
        <p14:creationId xmlns:p14="http://schemas.microsoft.com/office/powerpoint/2010/main" val="40451406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No key management or exchange framework defined</a:t>
            </a:r>
          </a:p>
          <a:p>
            <a:endParaRPr lang="en-US" dirty="0"/>
          </a:p>
          <a:p>
            <a:r>
              <a:rPr lang="en-US" dirty="0"/>
              <a:t>Loose authentication</a:t>
            </a:r>
          </a:p>
          <a:p>
            <a:pPr lvl="1"/>
            <a:r>
              <a:rPr lang="en-US" dirty="0"/>
              <a:t>Beacon messages are not authenticated</a:t>
            </a:r>
          </a:p>
          <a:p>
            <a:pPr lvl="2"/>
            <a:r>
              <a:rPr lang="en-US" dirty="0"/>
              <a:t>Enables station to roam to a rogue AP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Disassociate (also De-</a:t>
            </a:r>
            <a:r>
              <a:rPr lang="en-US" dirty="0" err="1"/>
              <a:t>auth</a:t>
            </a:r>
            <a:r>
              <a:rPr lang="en-US" dirty="0"/>
              <a:t>), re-associate messages not authenticated</a:t>
            </a:r>
          </a:p>
          <a:p>
            <a:pPr lvl="2"/>
            <a:r>
              <a:rPr lang="en-US" dirty="0"/>
              <a:t>Enables </a:t>
            </a:r>
            <a:r>
              <a:rPr lang="en-US" dirty="0" err="1"/>
              <a:t>DoS</a:t>
            </a:r>
            <a:r>
              <a:rPr lang="en-US" dirty="0"/>
              <a:t> attacks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WEP Weakness Summary (Cont’d)</a:t>
            </a:r>
          </a:p>
        </p:txBody>
      </p:sp>
    </p:spTree>
    <p:extLst>
      <p:ext uri="{BB962C8B-B14F-4D97-AF65-F5344CB8AC3E}">
        <p14:creationId xmlns:p14="http://schemas.microsoft.com/office/powerpoint/2010/main" val="685155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The Brute Force / Dictionary Attack</a:t>
            </a:r>
          </a:p>
          <a:p>
            <a:r>
              <a:rPr lang="en-US" dirty="0"/>
              <a:t>The FMS Attack </a:t>
            </a:r>
          </a:p>
          <a:p>
            <a:r>
              <a:rPr lang="en-US" dirty="0"/>
              <a:t>The </a:t>
            </a:r>
            <a:r>
              <a:rPr lang="en-US" altLang="zh-CN" dirty="0" err="1"/>
              <a:t>C</a:t>
            </a:r>
            <a:r>
              <a:rPr lang="en-US" dirty="0" err="1"/>
              <a:t>hopchop</a:t>
            </a:r>
            <a:r>
              <a:rPr lang="en-US" b="1" dirty="0"/>
              <a:t> </a:t>
            </a:r>
            <a:r>
              <a:rPr lang="en-US" dirty="0"/>
              <a:t>Attack</a:t>
            </a:r>
          </a:p>
          <a:p>
            <a:r>
              <a:rPr lang="en-US" dirty="0"/>
              <a:t>The Fragmentation Attack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 on WEP</a:t>
            </a:r>
          </a:p>
        </p:txBody>
      </p:sp>
    </p:spTree>
    <p:extLst>
      <p:ext uri="{BB962C8B-B14F-4D97-AF65-F5344CB8AC3E}">
        <p14:creationId xmlns:p14="http://schemas.microsoft.com/office/powerpoint/2010/main" val="28980998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“Power” of the WEP relies in the difficulty of discovery of the secret key through a brute-force attack</a:t>
            </a:r>
          </a:p>
          <a:p>
            <a:endParaRPr lang="en-US" dirty="0"/>
          </a:p>
          <a:p>
            <a:r>
              <a:rPr lang="en-US" dirty="0"/>
              <a:t>“Dictionary attack” uses dictionary of keys, not all possible keys</a:t>
            </a:r>
          </a:p>
          <a:p>
            <a:endParaRPr lang="en-US" dirty="0"/>
          </a:p>
          <a:p>
            <a:r>
              <a:rPr lang="en-US" dirty="0"/>
              <a:t>Such attack requires less then a month for all keys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Attacks: The Brute Force / Dictionary Attack </a:t>
            </a:r>
          </a:p>
        </p:txBody>
      </p:sp>
    </p:spTree>
    <p:extLst>
      <p:ext uri="{BB962C8B-B14F-4D97-AF65-F5344CB8AC3E}">
        <p14:creationId xmlns:p14="http://schemas.microsoft.com/office/powerpoint/2010/main" val="777766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Capture 2 WEP encrypted packets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Try to decrypt it using the captured IV and a potential key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Verify decrypted ICV (the CRC)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400" dirty="0"/>
              <a:t>Verify the key on the 2nd packet (optional)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Brute Force / Dictionary Attack: </a:t>
            </a:r>
            <a:r>
              <a:rPr lang="en-US" altLang="zh-CN" dirty="0"/>
              <a:t>Steps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903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2001 – </a:t>
            </a:r>
            <a:r>
              <a:rPr lang="en-US" dirty="0" err="1"/>
              <a:t>Fluhrer</a:t>
            </a:r>
            <a:r>
              <a:rPr lang="en-US" dirty="0"/>
              <a:t>, Martin and Shamir found a class of RC4 keys called “weak keys”</a:t>
            </a:r>
          </a:p>
          <a:p>
            <a:r>
              <a:rPr lang="en-US" altLang="en-US" dirty="0"/>
              <a:t>If the first 2 bytes of enough key stream are known -&gt; The RC4 key is discovered</a:t>
            </a:r>
          </a:p>
          <a:p>
            <a:r>
              <a:rPr lang="en-US" altLang="en-US" dirty="0"/>
              <a:t>The first 8 bytes of WEP packet is a known SNAP-SAP header</a:t>
            </a:r>
          </a:p>
          <a:p>
            <a:r>
              <a:rPr lang="en-US" altLang="en-US" dirty="0" err="1"/>
              <a:t>AirSnort</a:t>
            </a:r>
            <a:r>
              <a:rPr lang="en-US" altLang="en-US" dirty="0"/>
              <a:t> implements this attack</a:t>
            </a:r>
          </a:p>
          <a:p>
            <a:pPr lvl="1"/>
            <a:r>
              <a:rPr lang="en-US" altLang="en-US" dirty="0"/>
              <a:t>Recovers key after 20,000 packets = 11 seconds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Attacks: The FMS Attack</a:t>
            </a:r>
          </a:p>
        </p:txBody>
      </p:sp>
    </p:spTree>
    <p:extLst>
      <p:ext uri="{BB962C8B-B14F-4D97-AF65-F5344CB8AC3E}">
        <p14:creationId xmlns:p14="http://schemas.microsoft.com/office/powerpoint/2010/main" val="8635085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lnSpc>
                <a:spcPct val="116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>
                <a:cs typeface="Times New Roman" panose="02020603050405020304" pitchFamily="18" charset="0"/>
              </a:rPr>
              <a:t>Does not recover the key, it just reveals the message</a:t>
            </a:r>
          </a:p>
          <a:p>
            <a:pPr>
              <a:lnSpc>
                <a:spcPct val="116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/>
              <a:t>Exploits an ICV vulnerability</a:t>
            </a:r>
            <a:endParaRPr lang="en-US" dirty="0"/>
          </a:p>
          <a:p>
            <a:r>
              <a:rPr lang="en-US" dirty="0"/>
              <a:t>Steps:</a:t>
            </a:r>
          </a:p>
          <a:p>
            <a:pPr lvl="1"/>
            <a:r>
              <a:rPr lang="en-US" dirty="0"/>
              <a:t>Capture one packet</a:t>
            </a:r>
          </a:p>
          <a:p>
            <a:pPr lvl="1"/>
            <a:r>
              <a:rPr lang="en-US" dirty="0"/>
              <a:t>Truncate the last byte and try to guess one “value” for plaintext</a:t>
            </a:r>
          </a:p>
          <a:p>
            <a:pPr lvl="1"/>
            <a:r>
              <a:rPr lang="en-US" dirty="0"/>
              <a:t>Correct the checksum and send packet to AP</a:t>
            </a:r>
          </a:p>
          <a:p>
            <a:pPr lvl="1"/>
            <a:r>
              <a:rPr lang="en-US" dirty="0"/>
              <a:t>If guess is correct the AP will reply</a:t>
            </a:r>
          </a:p>
          <a:p>
            <a:pPr lvl="1"/>
            <a:r>
              <a:rPr lang="en-US" dirty="0"/>
              <a:t>Repeat until all bytes are decrypted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Attacks: The </a:t>
            </a:r>
            <a:r>
              <a:rPr lang="en-US" altLang="zh-CN" dirty="0" err="1"/>
              <a:t>C</a:t>
            </a:r>
            <a:r>
              <a:rPr lang="en-US" dirty="0" err="1"/>
              <a:t>hopchop</a:t>
            </a:r>
            <a:r>
              <a:rPr lang="en-US" b="1" dirty="0"/>
              <a:t> </a:t>
            </a:r>
            <a:r>
              <a:rPr lang="en-US" dirty="0"/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31266480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034" y="4685378"/>
            <a:ext cx="4011516" cy="197527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6138" y="1316736"/>
            <a:ext cx="10515600" cy="868430"/>
          </a:xfrm>
        </p:spPr>
        <p:txBody>
          <a:bodyPr/>
          <a:lstStyle/>
          <a:p>
            <a:r>
              <a:rPr lang="en-US" dirty="0" err="1"/>
              <a:t>KoreK</a:t>
            </a:r>
            <a:r>
              <a:rPr lang="en-US" dirty="0"/>
              <a:t> </a:t>
            </a:r>
            <a:r>
              <a:rPr lang="en-US" altLang="zh-CN" dirty="0" err="1"/>
              <a:t>C</a:t>
            </a:r>
            <a:r>
              <a:rPr lang="en-US" dirty="0" err="1"/>
              <a:t>hopchop</a:t>
            </a:r>
            <a:r>
              <a:rPr lang="en-US" b="1" dirty="0"/>
              <a:t> </a:t>
            </a:r>
            <a:r>
              <a:rPr lang="en-US" dirty="0"/>
              <a:t>Attack Illustrated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96138" y="2525043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93973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491808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89643" y="252504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287478" y="2525043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185313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83148" y="252504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980983" y="252504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365834" y="2525043"/>
            <a:ext cx="1831716" cy="5864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3389643" y="2587411"/>
            <a:ext cx="250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Encrypted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4437" y="2587410"/>
            <a:ext cx="161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ENC. ICV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6138" y="367221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593973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491808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3389643" y="3672210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4287478" y="3672212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185313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083148" y="3672211"/>
            <a:ext cx="745435" cy="58640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365834" y="3672212"/>
            <a:ext cx="1831716" cy="58640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389643" y="3734580"/>
            <a:ext cx="2500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Encrypted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4437" y="3734579"/>
            <a:ext cx="1614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?</a:t>
            </a:r>
          </a:p>
        </p:txBody>
      </p:sp>
      <p:sp>
        <p:nvSpPr>
          <p:cNvPr id="29" name="Multiply 28"/>
          <p:cNvSpPr/>
          <p:nvPr/>
        </p:nvSpPr>
        <p:spPr>
          <a:xfrm>
            <a:off x="6868342" y="2361042"/>
            <a:ext cx="993913" cy="914400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696137" y="4685378"/>
            <a:ext cx="5058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Guess the value of the deleted byte and calculate new ICV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83147" y="6072809"/>
            <a:ext cx="4233669" cy="5764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7025707" y="3087437"/>
            <a:ext cx="8845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FA</a:t>
            </a:r>
          </a:p>
        </p:txBody>
      </p:sp>
    </p:spTree>
    <p:extLst>
      <p:ext uri="{BB962C8B-B14F-4D97-AF65-F5344CB8AC3E}">
        <p14:creationId xmlns:p14="http://schemas.microsoft.com/office/powerpoint/2010/main" val="241385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6" grpId="0" animBg="1"/>
      <p:bldP spid="27" grpId="0"/>
      <p:bldP spid="28" grpId="0"/>
      <p:bldP spid="29" grpId="0" animBg="1"/>
      <p:bldP spid="31" grpId="0"/>
      <p:bldP spid="32" grpId="0" animBg="1"/>
      <p:bldP spid="3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Fragmentation means chopping a packet into smaller packets</a:t>
            </a:r>
          </a:p>
          <a:p>
            <a:pPr lvl="1"/>
            <a:r>
              <a:rPr lang="en-US" dirty="0"/>
              <a:t>Increases the traffic but improves performance in the presence of noise</a:t>
            </a:r>
          </a:p>
          <a:p>
            <a:r>
              <a:rPr lang="en-US" dirty="0"/>
              <a:t>802.11 and IP protocol allow fragmentation</a:t>
            </a:r>
          </a:p>
          <a:p>
            <a:r>
              <a:rPr lang="en-US" dirty="0"/>
              <a:t>802.11 allows for at most 16 fragments</a:t>
            </a:r>
          </a:p>
          <a:p>
            <a:r>
              <a:rPr lang="en-US" dirty="0">
                <a:solidFill>
                  <a:srgbClr val="FF0000"/>
                </a:solidFill>
              </a:rPr>
              <a:t>This feature can be used for breaking WEP!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Attacks: The Fragmentation Attack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44" y="4407820"/>
            <a:ext cx="6303645" cy="2450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0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000" dirty="0"/>
              <a:t>During fragmentation, WEP encryption is performed independently on each individual fragment using the same IV.</a:t>
            </a:r>
          </a:p>
          <a:p>
            <a:pPr lvl="1"/>
            <a:r>
              <a:rPr lang="en-US" altLang="en-US" sz="1800" dirty="0"/>
              <a:t>Possible to send multiple fragments (16) using the same key stream</a:t>
            </a:r>
            <a:endParaRPr lang="en-US" sz="1800" dirty="0"/>
          </a:p>
          <a:p>
            <a:r>
              <a:rPr lang="en-US" altLang="zh-CN" sz="2000" dirty="0"/>
              <a:t>Y</a:t>
            </a:r>
            <a:r>
              <a:rPr lang="en-US" sz="2000" dirty="0"/>
              <a:t>ou know more about the plaintext than you think you know.</a:t>
            </a:r>
          </a:p>
          <a:p>
            <a:pPr lvl="1"/>
            <a:r>
              <a:rPr lang="en-US" sz="1800" dirty="0"/>
              <a:t>Almost all encrypted data packets have a LLC/SNAP header, 8 bytes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XOR gives 8 bytes of the key stream</a:t>
            </a:r>
          </a:p>
          <a:p>
            <a:r>
              <a:rPr lang="en-US" sz="2000" dirty="0">
                <a:solidFill>
                  <a:srgbClr val="FF0000"/>
                </a:solidFill>
              </a:rPr>
              <a:t>At this point, arbitrary data of (8 − 4) · 16 = 64 bytes (4 byte CRC tag) may be sent</a:t>
            </a:r>
          </a:p>
          <a:p>
            <a:endParaRPr lang="en-US" sz="20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Fragmentation Attacks, Basics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2184590" y="4019709"/>
            <a:ext cx="7280275" cy="1023938"/>
            <a:chOff x="2349500" y="2921000"/>
            <a:chExt cx="7280275" cy="1023938"/>
          </a:xfrm>
        </p:grpSpPr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2349500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AA</a:t>
              </a: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2962275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AA</a:t>
              </a:r>
            </a:p>
          </p:txBody>
        </p:sp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3575050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dirty="0">
                  <a:latin typeface="Tahoma" panose="020B0604030504040204" pitchFamily="34" charset="0"/>
                </a:rPr>
                <a:t>03</a:t>
              </a: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4186237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dirty="0">
                  <a:latin typeface="Tahoma" panose="020B0604030504040204" pitchFamily="34" charset="0"/>
                </a:rPr>
                <a:t>00</a:t>
              </a: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4799012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00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5410200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00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6022975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 dirty="0">
                  <a:latin typeface="Tahoma" panose="020B0604030504040204" pitchFamily="34" charset="0"/>
                </a:rPr>
                <a:t>08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6634162" y="3171825"/>
              <a:ext cx="612775" cy="468313"/>
            </a:xfrm>
            <a:prstGeom prst="rect">
              <a:avLst/>
            </a:prstGeom>
            <a:solidFill>
              <a:srgbClr val="00B0F0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/>
              <a:r>
                <a:rPr lang="en-US" altLang="en-US">
                  <a:latin typeface="Tahoma" panose="020B0604030504040204" pitchFamily="34" charset="0"/>
                </a:rPr>
                <a:t>??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2349500" y="3640138"/>
              <a:ext cx="608012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DSAP</a:t>
              </a:r>
            </a:p>
          </p:txBody>
        </p:sp>
        <p:sp>
          <p:nvSpPr>
            <p:cNvPr id="14" name="Text Box 23"/>
            <p:cNvSpPr txBox="1">
              <a:spLocks noChangeArrowheads="1"/>
            </p:cNvSpPr>
            <p:nvPr/>
          </p:nvSpPr>
          <p:spPr bwMode="auto">
            <a:xfrm>
              <a:off x="6130925" y="3640138"/>
              <a:ext cx="99377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Ether type</a:t>
              </a:r>
            </a:p>
          </p:txBody>
        </p:sp>
        <p:sp>
          <p:nvSpPr>
            <p:cNvPr id="15" name="Text Box 26"/>
            <p:cNvSpPr txBox="1">
              <a:spLocks noChangeArrowheads="1"/>
            </p:cNvSpPr>
            <p:nvPr/>
          </p:nvSpPr>
          <p:spPr bwMode="auto">
            <a:xfrm>
              <a:off x="4618037" y="3640138"/>
              <a:ext cx="99060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ORG Code</a:t>
              </a:r>
            </a:p>
          </p:txBody>
        </p:sp>
        <p:sp>
          <p:nvSpPr>
            <p:cNvPr id="16" name="Text Box 28"/>
            <p:cNvSpPr txBox="1">
              <a:spLocks noChangeArrowheads="1"/>
            </p:cNvSpPr>
            <p:nvPr/>
          </p:nvSpPr>
          <p:spPr bwMode="auto">
            <a:xfrm>
              <a:off x="3575050" y="3640138"/>
              <a:ext cx="593725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CTRL</a:t>
              </a:r>
            </a:p>
          </p:txBody>
        </p:sp>
        <p:sp>
          <p:nvSpPr>
            <p:cNvPr id="17" name="Text Box 29"/>
            <p:cNvSpPr txBox="1">
              <a:spLocks noChangeArrowheads="1"/>
            </p:cNvSpPr>
            <p:nvPr/>
          </p:nvSpPr>
          <p:spPr bwMode="auto">
            <a:xfrm>
              <a:off x="2962275" y="3640138"/>
              <a:ext cx="585787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US" altLang="en-US" sz="1400">
                  <a:latin typeface="Tahoma" panose="020B0604030504040204" pitchFamily="34" charset="0"/>
                </a:rPr>
                <a:t>SSAP</a:t>
              </a:r>
            </a:p>
          </p:txBody>
        </p:sp>
        <p:grpSp>
          <p:nvGrpSpPr>
            <p:cNvPr id="18" name="Group 33"/>
            <p:cNvGrpSpPr>
              <a:grpSpLocks/>
            </p:cNvGrpSpPr>
            <p:nvPr/>
          </p:nvGrpSpPr>
          <p:grpSpPr bwMode="auto">
            <a:xfrm>
              <a:off x="7246937" y="2921000"/>
              <a:ext cx="2382838" cy="822325"/>
              <a:chOff x="3810" y="1480"/>
              <a:chExt cx="1501" cy="518"/>
            </a:xfrm>
          </p:grpSpPr>
          <p:sp>
            <p:nvSpPr>
              <p:cNvPr id="19" name="Line 30"/>
              <p:cNvSpPr>
                <a:spLocks noChangeShapeType="1"/>
              </p:cNvSpPr>
              <p:nvPr/>
            </p:nvSpPr>
            <p:spPr bwMode="auto">
              <a:xfrm flipH="1">
                <a:off x="3810" y="1706"/>
                <a:ext cx="385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Box 31"/>
              <p:cNvSpPr txBox="1">
                <a:spLocks noChangeArrowheads="1"/>
              </p:cNvSpPr>
              <p:nvPr/>
            </p:nvSpPr>
            <p:spPr bwMode="auto">
              <a:xfrm>
                <a:off x="4173" y="1480"/>
                <a:ext cx="1138" cy="5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 eaLnBrk="1" hangingPunct="1"/>
                <a:r>
                  <a:rPr lang="en-US" altLang="en-US" dirty="0"/>
                  <a:t>Can be either</a:t>
                </a:r>
              </a:p>
              <a:p>
                <a:pPr algn="ctr" eaLnBrk="1" hangingPunct="1"/>
                <a:r>
                  <a:rPr lang="en-US" altLang="en-US" dirty="0"/>
                  <a:t>IP or ARP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6258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Increase the number of bytes used for encryption (“protects” against FMS attack)</a:t>
            </a:r>
          </a:p>
          <a:p>
            <a:r>
              <a:rPr lang="en-US" dirty="0"/>
              <a:t>Remove the weak IV - keystream re-use vulnerabilities </a:t>
            </a:r>
          </a:p>
          <a:p>
            <a:r>
              <a:rPr lang="en-US" dirty="0"/>
              <a:t>Prevent key re-use</a:t>
            </a:r>
          </a:p>
          <a:p>
            <a:r>
              <a:rPr lang="en-US" dirty="0"/>
              <a:t>Extensible Authentication Protocol (EAP) – change often the WEP-key </a:t>
            </a:r>
          </a:p>
          <a:p>
            <a:r>
              <a:rPr lang="en-US" dirty="0"/>
              <a:t>Deploy Intrusion Detection Systems (IDS) to protect against injected traffic </a:t>
            </a:r>
          </a:p>
          <a:p>
            <a:r>
              <a:rPr lang="en-US" dirty="0"/>
              <a:t>Companies sell hardware using modified versions of the WEP protocol claiming to be secure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Arial" panose="020B0604020202020204" pitchFamily="34" charset="0"/>
              </a:rPr>
              <a:t>Protecting WEP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9358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WEP has a long history of vulnerabilities and “fixes” </a:t>
            </a:r>
          </a:p>
          <a:p>
            <a:r>
              <a:rPr lang="en-US" dirty="0"/>
              <a:t>WEP is a good example of how attacks evolve and mature over time </a:t>
            </a:r>
          </a:p>
          <a:p>
            <a:r>
              <a:rPr lang="en-US" dirty="0"/>
              <a:t>Attacks that a few years ago took days, now take minutes if the right tools are used</a:t>
            </a:r>
          </a:p>
          <a:p>
            <a:r>
              <a:rPr lang="en-US" dirty="0"/>
              <a:t>2005 WEP is officially declared deprecated by IEEE 802.11 committee </a:t>
            </a:r>
          </a:p>
          <a:p>
            <a:r>
              <a:rPr lang="en-US" dirty="0"/>
              <a:t>2008 WEP used by 30% of users in a US university</a:t>
            </a:r>
          </a:p>
          <a:p>
            <a:r>
              <a:rPr lang="en-US" dirty="0"/>
              <a:t>Today – too many old networks, some using WEP</a:t>
            </a:r>
          </a:p>
          <a:p>
            <a:r>
              <a:rPr lang="en-US" dirty="0"/>
              <a:t>WEP must be abandoned once and for all, rather than patch it yet again !!!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b="1" dirty="0">
                <a:latin typeface="Arial" panose="020B0604020202020204" pitchFamily="34" charset="0"/>
              </a:rPr>
              <a:t>Conclusions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185542"/>
      </p:ext>
    </p:extLst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Custom 1">
      <a:dk1>
        <a:srgbClr val="000000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3183</TotalTime>
  <Words>2325</Words>
  <Application>Microsoft Office PowerPoint</Application>
  <PresentationFormat>宽屏</PresentationFormat>
  <Paragraphs>341</Paragraphs>
  <Slides>43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1" baseType="lpstr">
      <vt:lpstr>LucidaGrande</vt:lpstr>
      <vt:lpstr>Arial</vt:lpstr>
      <vt:lpstr>Calibri</vt:lpstr>
      <vt:lpstr>Tahoma</vt:lpstr>
      <vt:lpstr>Times New Roman</vt:lpstr>
      <vt:lpstr>Wingdings</vt:lpstr>
      <vt:lpstr>UB Powerpoint Template</vt:lpstr>
      <vt:lpstr>Equation</vt:lpstr>
      <vt:lpstr>Wireless network and ioT security</vt:lpstr>
      <vt:lpstr>Wi-Fi</vt:lpstr>
      <vt:lpstr>802.11</vt:lpstr>
      <vt:lpstr>Sensitive Information over Wi-Fi</vt:lpstr>
      <vt:lpstr>Why security is more of a concern in wireless?</vt:lpstr>
      <vt:lpstr>Why security is more of a concern in wireless?</vt:lpstr>
      <vt:lpstr>Why security is more of a concern in wireless?</vt:lpstr>
      <vt:lpstr>Threats</vt:lpstr>
      <vt:lpstr>Eavesdropping</vt:lpstr>
      <vt:lpstr>Man In The Middle Attack </vt:lpstr>
      <vt:lpstr>Denial of Service </vt:lpstr>
      <vt:lpstr>Wireless Communication Security Requirements</vt:lpstr>
      <vt:lpstr>Wi-Fi Security Protocols</vt:lpstr>
      <vt:lpstr>So what is WEP?</vt:lpstr>
      <vt:lpstr>WEP Flavors</vt:lpstr>
      <vt:lpstr>WEP Encryption: Players</vt:lpstr>
      <vt:lpstr>WEP Encryption: Step by Step</vt:lpstr>
      <vt:lpstr>WEP Encryption: Step by Step</vt:lpstr>
      <vt:lpstr>WEP Encryption: Step by Step</vt:lpstr>
      <vt:lpstr>WEP Decryption: Step by Step</vt:lpstr>
      <vt:lpstr>WEP Decryption: Step by Step</vt:lpstr>
      <vt:lpstr>Major Problems with WEP</vt:lpstr>
      <vt:lpstr>Keystreams</vt:lpstr>
      <vt:lpstr>The Stream-Cipher-Breakdown</vt:lpstr>
      <vt:lpstr>Keystream Reuse/Collision</vt:lpstr>
      <vt:lpstr>Initialization vector (IV)</vt:lpstr>
      <vt:lpstr>Weak IVs and Weak Keys in RC4</vt:lpstr>
      <vt:lpstr>Weak Message Integrity (ICV)</vt:lpstr>
      <vt:lpstr>Key Management</vt:lpstr>
      <vt:lpstr>WEP (Re)Keying in Practice</vt:lpstr>
      <vt:lpstr>User Authentication</vt:lpstr>
      <vt:lpstr>WEP Weakness Summary</vt:lpstr>
      <vt:lpstr>WEP Weakness Summary (Cont’d)</vt:lpstr>
      <vt:lpstr>Common Attacks on WEP</vt:lpstr>
      <vt:lpstr>Common Attacks: The Brute Force / Dictionary Attack </vt:lpstr>
      <vt:lpstr>The Brute Force / Dictionary Attack: Steps</vt:lpstr>
      <vt:lpstr>Common Attacks: The FMS Attack</vt:lpstr>
      <vt:lpstr>Common Attacks: The Chopchop Attack</vt:lpstr>
      <vt:lpstr>KoreK Chopchop Attack Illustrated</vt:lpstr>
      <vt:lpstr>Common Attacks: The Fragmentation Attack</vt:lpstr>
      <vt:lpstr>Fragmentation Attacks, Basics</vt:lpstr>
      <vt:lpstr>Protecting WEP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巴 钟杰</cp:lastModifiedBy>
  <cp:revision>277</cp:revision>
  <cp:lastPrinted>2016-07-18T17:32:49Z</cp:lastPrinted>
  <dcterms:created xsi:type="dcterms:W3CDTF">2016-06-28T14:05:07Z</dcterms:created>
  <dcterms:modified xsi:type="dcterms:W3CDTF">2021-06-15T05:13:56Z</dcterms:modified>
  <cp:category/>
</cp:coreProperties>
</file>