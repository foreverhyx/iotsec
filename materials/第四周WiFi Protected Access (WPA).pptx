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01" r:id="rId1"/>
  </p:sldMasterIdLst>
  <p:notesMasterIdLst>
    <p:notesMasterId r:id="rId38"/>
  </p:notesMasterIdLst>
  <p:handoutMasterIdLst>
    <p:handoutMasterId r:id="rId39"/>
  </p:handoutMasterIdLst>
  <p:sldIdLst>
    <p:sldId id="256" r:id="rId2"/>
    <p:sldId id="257" r:id="rId3"/>
    <p:sldId id="294" r:id="rId4"/>
    <p:sldId id="259" r:id="rId5"/>
    <p:sldId id="295" r:id="rId6"/>
    <p:sldId id="296" r:id="rId7"/>
    <p:sldId id="297" r:id="rId8"/>
    <p:sldId id="267" r:id="rId9"/>
    <p:sldId id="262" r:id="rId10"/>
    <p:sldId id="263" r:id="rId11"/>
    <p:sldId id="268" r:id="rId12"/>
    <p:sldId id="273" r:id="rId13"/>
    <p:sldId id="274" r:id="rId14"/>
    <p:sldId id="275" r:id="rId15"/>
    <p:sldId id="277" r:id="rId16"/>
    <p:sldId id="278" r:id="rId17"/>
    <p:sldId id="279" r:id="rId18"/>
    <p:sldId id="280" r:id="rId19"/>
    <p:sldId id="298" r:id="rId20"/>
    <p:sldId id="287" r:id="rId21"/>
    <p:sldId id="301" r:id="rId22"/>
    <p:sldId id="288" r:id="rId23"/>
    <p:sldId id="289" r:id="rId24"/>
    <p:sldId id="290" r:id="rId25"/>
    <p:sldId id="302" r:id="rId26"/>
    <p:sldId id="291" r:id="rId27"/>
    <p:sldId id="311" r:id="rId28"/>
    <p:sldId id="314" r:id="rId29"/>
    <p:sldId id="315" r:id="rId30"/>
    <p:sldId id="317" r:id="rId31"/>
    <p:sldId id="318" r:id="rId32"/>
    <p:sldId id="319" r:id="rId33"/>
    <p:sldId id="321" r:id="rId34"/>
    <p:sldId id="293" r:id="rId35"/>
    <p:sldId id="300" r:id="rId36"/>
    <p:sldId id="299" r:id="rId37"/>
  </p:sldIdLst>
  <p:sldSz cx="12192000" cy="6858000"/>
  <p:notesSz cx="6858000" cy="9144000"/>
  <p:defaultTextStyle>
    <a:defPPr>
      <a:defRPr lang="en-US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BBB"/>
    <a:srgbClr val="000000"/>
    <a:srgbClr val="00C7B1"/>
    <a:srgbClr val="828383"/>
    <a:srgbClr val="666666"/>
    <a:srgbClr val="4DC3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37"/>
    <p:restoredTop sz="78747" autoAdjust="0"/>
  </p:normalViewPr>
  <p:slideViewPr>
    <p:cSldViewPr snapToGrid="0" snapToObjects="1">
      <p:cViewPr varScale="1">
        <p:scale>
          <a:sx n="89" d="100"/>
          <a:sy n="89" d="100"/>
        </p:scale>
        <p:origin x="1194" y="96"/>
      </p:cViewPr>
      <p:guideLst/>
    </p:cSldViewPr>
  </p:slideViewPr>
  <p:outlineViewPr>
    <p:cViewPr>
      <p:scale>
        <a:sx n="33" d="100"/>
        <a:sy n="33" d="100"/>
      </p:scale>
      <p:origin x="0" y="-606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87" d="100"/>
          <a:sy n="87" d="100"/>
        </p:scale>
        <p:origin x="3904" y="19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handoutMaster" Target="handoutMasters/handout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Arial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1D33A1-6D17-2C4C-B4C2-C83DB37352CC}" type="datetimeFigureOut">
              <a:rPr lang="en-US" smtClean="0">
                <a:latin typeface="Arial" charset="0"/>
              </a:rPr>
              <a:t>6/21/2021</a:t>
            </a:fld>
            <a:endParaRPr lang="en-US" dirty="0">
              <a:latin typeface="Arial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Arial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59171E-5108-1245-8B63-E8B205C9AF87}" type="slidenum">
              <a:rPr lang="en-US" smtClean="0">
                <a:latin typeface="Arial" charset="0"/>
              </a:rPr>
              <a:t>‹#›</a:t>
            </a:fld>
            <a:endParaRPr lang="en-US" dirty="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754230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charset="0"/>
              </a:defRPr>
            </a:lvl1pPr>
          </a:lstStyle>
          <a:p>
            <a:fld id="{5B96CA4F-2197-CC40-B4FC-798A937A9DC6}" type="datetimeFigureOut">
              <a:rPr lang="en-US" smtClean="0"/>
              <a:pPr/>
              <a:t>6/21/2021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charset="0"/>
              </a:defRPr>
            </a:lvl1pPr>
          </a:lstStyle>
          <a:p>
            <a:fld id="{02322656-8894-1544-92AA-01B3CF5E618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27504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917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+mn-cs"/>
      </a:defRPr>
    </a:lvl1pPr>
    <a:lvl2pPr marL="609585" algn="l" defTabSz="121917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+mn-cs"/>
      </a:defRPr>
    </a:lvl2pPr>
    <a:lvl3pPr marL="1219170" algn="l" defTabSz="121917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+mn-cs"/>
      </a:defRPr>
    </a:lvl3pPr>
    <a:lvl4pPr marL="1828754" algn="l" defTabSz="121917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+mn-cs"/>
      </a:defRPr>
    </a:lvl4pPr>
    <a:lvl5pPr marL="2438339" algn="l" defTabSz="121917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+mn-cs"/>
      </a:defRPr>
    </a:lvl5pPr>
    <a:lvl6pPr marL="3047924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3" Type="http://schemas.openxmlformats.org/officeDocument/2006/relationships/hyperlink" Target="http://en.wikipedia.org/wiki/Communications_protocol" TargetMode="External"/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en.wikipedia.org/wiki/AAA_protocol" TargetMode="Externa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38073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3187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41857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56507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7449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76988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47026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Provide</a:t>
            </a:r>
            <a:r>
              <a:rPr lang="en-US" baseline="0" dirty="0"/>
              <a:t> e</a:t>
            </a:r>
            <a:r>
              <a:rPr lang="en-US" dirty="0"/>
              <a:t>nhanced security and authentication</a:t>
            </a:r>
          </a:p>
          <a:p>
            <a:endParaRPr lang="en-US" dirty="0"/>
          </a:p>
          <a:p>
            <a:r>
              <a:rPr lang="en-US" dirty="0"/>
              <a:t>Preferred for enterprise mode - business, government, education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34992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Remote Authentication Dial In User Service</a:t>
            </a:r>
            <a:r>
              <a:rPr lang="en-US" dirty="0"/>
              <a:t> (</a:t>
            </a:r>
            <a:r>
              <a:rPr lang="en-US" b="1" dirty="0"/>
              <a:t>RADIUS</a:t>
            </a:r>
            <a:r>
              <a:rPr lang="en-US" dirty="0"/>
              <a:t>) is a networking </a:t>
            </a:r>
            <a:r>
              <a:rPr lang="en-US" dirty="0">
                <a:hlinkClick r:id="rId3" tooltip="Communications protocol"/>
              </a:rPr>
              <a:t>protocol</a:t>
            </a:r>
            <a:r>
              <a:rPr lang="en-US" dirty="0"/>
              <a:t> that provides centralized Authentication, Authorization, and Accounting (</a:t>
            </a:r>
            <a:r>
              <a:rPr lang="en-US" dirty="0">
                <a:hlinkClick r:id="rId4" tooltip="AAA protocol"/>
              </a:rPr>
              <a:t>AAA</a:t>
            </a:r>
            <a:r>
              <a:rPr lang="en-US" dirty="0"/>
              <a:t>) management for computers to connect and use a network service. RADIUS was developed by Livingston Enterprises, Inc.,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447596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31588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419063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51996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" y="0"/>
            <a:ext cx="12188950" cy="6857998"/>
          </a:xfrm>
          <a:prstGeom prst="rect">
            <a:avLst/>
          </a:prstGeom>
        </p:spPr>
      </p:pic>
      <p:sp>
        <p:nvSpPr>
          <p:cNvPr id="10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658368" y="3968496"/>
            <a:ext cx="6638544" cy="1650381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lnSpc>
                <a:spcPct val="150000"/>
              </a:lnSpc>
              <a:buNone/>
              <a:defRPr sz="2400" b="0" i="0">
                <a:solidFill>
                  <a:srgbClr val="000000"/>
                </a:solidFill>
                <a:latin typeface="+mj-lt"/>
                <a:ea typeface="Georgia" charset="0"/>
                <a:cs typeface="Georgia" charset="0"/>
              </a:defRPr>
            </a:lvl1pPr>
          </a:lstStyle>
          <a:p>
            <a:pPr lvl="0"/>
            <a:r>
              <a:rPr lang="en-US" dirty="0"/>
              <a:t>Sub-topic and Instructor</a:t>
            </a:r>
          </a:p>
        </p:txBody>
      </p:sp>
      <p:sp>
        <p:nvSpPr>
          <p:cNvPr id="14" name="Title 1"/>
          <p:cNvSpPr>
            <a:spLocks noGrp="1"/>
          </p:cNvSpPr>
          <p:nvPr>
            <p:ph type="ctrTitle" hasCustomPrompt="1"/>
          </p:nvPr>
        </p:nvSpPr>
        <p:spPr>
          <a:xfrm>
            <a:off x="658368" y="1490472"/>
            <a:ext cx="6638544" cy="2386584"/>
          </a:xfrm>
          <a:prstGeom prst="rect">
            <a:avLst/>
          </a:prstGeom>
          <a:ln>
            <a:noFill/>
          </a:ln>
        </p:spPr>
        <p:txBody>
          <a:bodyPr lIns="0" anchor="b">
            <a:noAutofit/>
          </a:bodyPr>
          <a:lstStyle>
            <a:lvl1pPr algn="l">
              <a:lnSpc>
                <a:spcPts val="5800"/>
              </a:lnSpc>
              <a:defRPr sz="6000" b="1" i="0" cap="all" baseline="0">
                <a:solidFill>
                  <a:srgbClr val="005BBB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Title</a:t>
            </a:r>
          </a:p>
        </p:txBody>
      </p:sp>
      <p:pic>
        <p:nvPicPr>
          <p:cNvPr id="8" name="Picture 2" descr="“computer science zhejiang university logo”的图片搜索结果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400" y="5237766"/>
            <a:ext cx="1890203" cy="945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115210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3 level Bullet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sz="quarter" idx="10" hasCustomPrompt="1"/>
          </p:nvPr>
        </p:nvSpPr>
        <p:spPr>
          <a:xfrm>
            <a:off x="566928" y="2185416"/>
            <a:ext cx="10515600" cy="3848100"/>
          </a:xfrm>
          <a:prstGeom prst="rect">
            <a:avLst/>
          </a:prstGeom>
        </p:spPr>
        <p:txBody>
          <a:bodyPr>
            <a:noAutofit/>
          </a:bodyPr>
          <a:lstStyle>
            <a:lvl1pPr marL="285750" indent="-285750">
              <a:lnSpc>
                <a:spcPct val="100000"/>
              </a:lnSpc>
              <a:buClr>
                <a:srgbClr val="005BBB"/>
              </a:buClr>
              <a:buFont typeface="Arial" panose="020B0604020202020204" pitchFamily="34" charset="0"/>
              <a:buChar char="•"/>
              <a:defRPr sz="2400" b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800100" indent="-342900">
              <a:lnSpc>
                <a:spcPct val="100000"/>
              </a:lnSpc>
              <a:buClr>
                <a:srgbClr val="005BBB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marR="0" indent="-228600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5BBB"/>
              </a:buClr>
              <a:buSzTx/>
              <a:buFont typeface="LucidaGrande" charset="0"/>
              <a:buChar char="-"/>
              <a:tabLst>
                <a:tab pos="1143000" algn="l"/>
              </a:tabLst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>
              <a:buClr>
                <a:srgbClr val="005BBB"/>
              </a:buClr>
              <a:defRPr>
                <a:solidFill>
                  <a:srgbClr val="666666"/>
                </a:solidFill>
                <a:latin typeface="Arial" charset="0"/>
                <a:ea typeface="Arial" charset="0"/>
                <a:cs typeface="Arial" charset="0"/>
              </a:defRPr>
            </a:lvl4pPr>
            <a:lvl5pPr>
              <a:buClr>
                <a:srgbClr val="005BBB"/>
              </a:buClr>
              <a:defRPr>
                <a:solidFill>
                  <a:srgbClr val="666666"/>
                </a:solidFill>
                <a:latin typeface="Arial" charset="0"/>
                <a:ea typeface="Arial" charset="0"/>
                <a:cs typeface="Arial" charset="0"/>
              </a:defRPr>
            </a:lvl5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 text</a:t>
            </a:r>
          </a:p>
          <a:p>
            <a:pPr marL="1143000" marR="0" lvl="2" indent="-228600" algn="l" defTabSz="914400" rtl="0" eaLnBrk="1" fontAlgn="auto" latinLnBrk="0" hangingPunct="1">
              <a:lnSpc>
                <a:spcPts val="2300"/>
              </a:lnSpc>
              <a:spcBef>
                <a:spcPts val="500"/>
              </a:spcBef>
              <a:spcAft>
                <a:spcPts val="0"/>
              </a:spcAft>
              <a:buClr>
                <a:srgbClr val="005BBB"/>
              </a:buClr>
              <a:buSzTx/>
              <a:buFont typeface="LucidaGrande" charset="0"/>
              <a:buChar char="-"/>
              <a:tabLst/>
              <a:defRPr/>
            </a:pPr>
            <a:r>
              <a:rPr lang="en-US" dirty="0"/>
              <a:t>Third level</a:t>
            </a:r>
          </a:p>
        </p:txBody>
      </p:sp>
      <p:sp>
        <p:nvSpPr>
          <p:cNvPr id="5" name="Title Placeholder 12"/>
          <p:cNvSpPr>
            <a:spLocks noGrp="1"/>
          </p:cNvSpPr>
          <p:nvPr>
            <p:ph type="title" hasCustomPrompt="1"/>
          </p:nvPr>
        </p:nvSpPr>
        <p:spPr>
          <a:xfrm>
            <a:off x="566928" y="1316736"/>
            <a:ext cx="10515600" cy="86843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>
              <a:defRPr sz="3200" b="0"/>
            </a:lvl1pPr>
          </a:lstStyle>
          <a:p>
            <a:r>
              <a:rPr lang="en-US" dirty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5494120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"/>
          <p:cNvSpPr>
            <a:spLocks noGrp="1"/>
          </p:cNvSpPr>
          <p:nvPr>
            <p:ph type="body" idx="10" hasCustomPrompt="1"/>
          </p:nvPr>
        </p:nvSpPr>
        <p:spPr>
          <a:xfrm>
            <a:off x="566928" y="2185416"/>
            <a:ext cx="10515600" cy="3732425"/>
          </a:xfrm>
          <a:prstGeom prst="rect">
            <a:avLst/>
          </a:prstGeom>
        </p:spPr>
        <p:txBody>
          <a:bodyPr lIns="182880" rIns="182880">
            <a:noAutofit/>
          </a:bodyPr>
          <a:lstStyle>
            <a:lvl1pPr marL="457200" marR="0" indent="-4064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5BBB"/>
              </a:buClr>
              <a:buSzPct val="100000"/>
              <a:buFont typeface="Arial" charset="0"/>
              <a:buChar char="•"/>
              <a:tabLst/>
              <a:defRPr sz="2400" b="0" i="0" spc="-50" baseline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defRPr>
            </a:lvl1pPr>
            <a:lvl2pPr marL="800089" indent="-342900">
              <a:buFont typeface="Arial" panose="020B0604020202020204" pitchFamily="34" charset="0"/>
              <a:buChar char="−"/>
              <a:defRPr sz="2000">
                <a:solidFill>
                  <a:schemeClr val="tx1"/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 Text</a:t>
            </a:r>
          </a:p>
        </p:txBody>
      </p:sp>
      <p:sp>
        <p:nvSpPr>
          <p:cNvPr id="6" name="Title Placeholder 12"/>
          <p:cNvSpPr>
            <a:spLocks noGrp="1"/>
          </p:cNvSpPr>
          <p:nvPr>
            <p:ph type="title" hasCustomPrompt="1"/>
          </p:nvPr>
        </p:nvSpPr>
        <p:spPr>
          <a:xfrm>
            <a:off x="566928" y="1316736"/>
            <a:ext cx="10515600" cy="86843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>
              <a:defRPr b="0" baseline="0"/>
            </a:lvl1pPr>
          </a:lstStyle>
          <a:p>
            <a:r>
              <a:rPr lang="en-US" dirty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307407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0889820" y="5795302"/>
            <a:ext cx="1302179" cy="1062698"/>
          </a:xfrm>
          <a:prstGeom prst="rect">
            <a:avLst/>
          </a:prstGeom>
        </p:spPr>
      </p:pic>
      <p:sp>
        <p:nvSpPr>
          <p:cNvPr id="12" name="Text Placeholder 11"/>
          <p:cNvSpPr>
            <a:spLocks noGrp="1"/>
          </p:cNvSpPr>
          <p:nvPr>
            <p:ph type="body" idx="1"/>
          </p:nvPr>
        </p:nvSpPr>
        <p:spPr>
          <a:xfrm>
            <a:off x="566928" y="2320111"/>
            <a:ext cx="10515600" cy="38133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 text</a:t>
            </a:r>
          </a:p>
          <a:p>
            <a:pPr marL="1143000" marR="0" lvl="2" indent="-228600" algn="l" defTabSz="914400" rtl="0" eaLnBrk="1" fontAlgn="auto" latinLnBrk="0" hangingPunct="1">
              <a:lnSpc>
                <a:spcPts val="2300"/>
              </a:lnSpc>
              <a:spcBef>
                <a:spcPts val="500"/>
              </a:spcBef>
              <a:spcAft>
                <a:spcPts val="0"/>
              </a:spcAft>
              <a:buClr>
                <a:srgbClr val="005BBB"/>
              </a:buClr>
              <a:buSzTx/>
              <a:buFont typeface="LucidaGrande" charset="0"/>
              <a:buChar char="-"/>
              <a:tabLst/>
              <a:defRPr/>
            </a:pPr>
            <a:r>
              <a:rPr lang="en-US" dirty="0"/>
              <a:t>Third level</a:t>
            </a:r>
          </a:p>
        </p:txBody>
      </p:sp>
      <p:sp>
        <p:nvSpPr>
          <p:cNvPr id="13" name="Title Placeholder 12"/>
          <p:cNvSpPr>
            <a:spLocks noGrp="1"/>
          </p:cNvSpPr>
          <p:nvPr>
            <p:ph type="title"/>
          </p:nvPr>
        </p:nvSpPr>
        <p:spPr>
          <a:xfrm>
            <a:off x="566928" y="1316736"/>
            <a:ext cx="10515600" cy="86843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/>
          <a:p>
            <a:r>
              <a:rPr lang="en-US" dirty="0"/>
              <a:t>Click to edit title</a:t>
            </a:r>
          </a:p>
        </p:txBody>
      </p:sp>
      <p:sp>
        <p:nvSpPr>
          <p:cNvPr id="11" name="Slide Number Placeholder 6"/>
          <p:cNvSpPr txBox="1">
            <a:spLocks/>
          </p:cNvSpPr>
          <p:nvPr userDrawn="1"/>
        </p:nvSpPr>
        <p:spPr>
          <a:xfrm>
            <a:off x="10255504" y="6240989"/>
            <a:ext cx="725424" cy="534516"/>
          </a:xfrm>
          <a:prstGeom prst="rect">
            <a:avLst/>
          </a:prstGeom>
        </p:spPr>
        <p:txBody>
          <a:bodyPr vert="horz" lIns="121920" tIns="60960" rIns="121920" bIns="60960" rtlCol="0" anchor="ctr"/>
          <a:lstStyle>
            <a:defPPr>
              <a:defRPr lang="en-US"/>
            </a:defPPr>
            <a:lvl1pPr marL="0" algn="r" defTabSz="685800" rtl="0" eaLnBrk="1" latinLnBrk="0" hangingPunct="1">
              <a:defRPr sz="1000" b="1" i="0" kern="1200">
                <a:solidFill>
                  <a:srgbClr val="828383"/>
                </a:solidFill>
                <a:latin typeface="Museo Slab 900" charset="0"/>
                <a:ea typeface="Museo Slab 900" charset="0"/>
                <a:cs typeface="Museo Slab 900" charset="0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915D2C3-7EB9-F849-9C19-1CC92E2870ED}" type="slidenum">
              <a:rPr lang="en-US" sz="1600" b="1" smtClean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pPr/>
              <a:t>‹#›</a:t>
            </a:fld>
            <a:endParaRPr lang="en-US" sz="1600" b="1" dirty="0">
              <a:solidFill>
                <a:schemeClr val="tx1"/>
              </a:solidFill>
              <a:latin typeface="Arial" charset="0"/>
              <a:ea typeface="Arial" charset="0"/>
              <a:cs typeface="Arial" charset="0"/>
            </a:endParaRPr>
          </a:p>
        </p:txBody>
      </p:sp>
      <p:pic>
        <p:nvPicPr>
          <p:cNvPr id="15" name="Picture 2" descr="“computer science zhejiang university logo”的图片搜索结果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928" y="-2"/>
            <a:ext cx="1890203" cy="945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 Placeholder 5"/>
          <p:cNvSpPr txBox="1">
            <a:spLocks/>
          </p:cNvSpPr>
          <p:nvPr userDrawn="1"/>
        </p:nvSpPr>
        <p:spPr>
          <a:xfrm>
            <a:off x="2505456" y="334265"/>
            <a:ext cx="6638544" cy="336346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Clr>
                <a:srgbClr val="005BBB"/>
              </a:buClr>
              <a:buFont typeface="Arial" panose="020B0604020202020204" pitchFamily="34" charset="0"/>
              <a:buNone/>
              <a:defRPr sz="2400" b="0" i="0" kern="1200" baseline="0">
                <a:solidFill>
                  <a:srgbClr val="000000"/>
                </a:solidFill>
                <a:latin typeface="+mj-lt"/>
                <a:ea typeface="Georgia" charset="0"/>
                <a:cs typeface="Georgia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005BBB"/>
              </a:buClr>
              <a:buFont typeface="Arial" panose="020B0604020202020204" pitchFamily="34" charset="0"/>
              <a:buChar char="•"/>
              <a:defRPr sz="2000" kern="1200" baseline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005BBB"/>
              </a:buClr>
              <a:buFont typeface="LucidaGrande" charset="0"/>
              <a:buChar char="-"/>
              <a:defRPr sz="1800" kern="1200" baseline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5BBB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5BBB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chemeClr val="tx2">
                    <a:lumMod val="75000"/>
                  </a:schemeClr>
                </a:solidFill>
              </a:rPr>
              <a:t>Lecture 10: Wi</a:t>
            </a:r>
            <a:r>
              <a:rPr lang="en-US" altLang="zh-CN" sz="2000" dirty="0">
                <a:solidFill>
                  <a:schemeClr val="tx2">
                    <a:lumMod val="75000"/>
                  </a:schemeClr>
                </a:solidFill>
              </a:rPr>
              <a:t>-</a:t>
            </a:r>
            <a:r>
              <a:rPr lang="en-US" sz="2000" dirty="0">
                <a:solidFill>
                  <a:schemeClr val="tx2">
                    <a:lumMod val="75000"/>
                  </a:schemeClr>
                </a:solidFill>
              </a:rPr>
              <a:t>Fi Protected Access (WPA)</a:t>
            </a:r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3050" y="851445"/>
            <a:ext cx="11387761" cy="208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80356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8" r:id="rId1"/>
    <p:sldLayoutId id="2147483898" r:id="rId2"/>
    <p:sldLayoutId id="2147483907" r:id="rId3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kern="1200">
          <a:solidFill>
            <a:schemeClr val="tx2"/>
          </a:solidFill>
          <a:latin typeface="+mj-lt"/>
          <a:ea typeface="Georgia" charset="0"/>
          <a:cs typeface="Georgia" charset="0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rgbClr val="005BBB"/>
        </a:buClr>
        <a:buFont typeface="Arial" panose="020B0604020202020204" pitchFamily="34" charset="0"/>
        <a:buChar char="•"/>
        <a:defRPr sz="2400" kern="1200" baseline="0">
          <a:solidFill>
            <a:srgbClr val="000000"/>
          </a:solidFill>
          <a:latin typeface="Arial" charset="0"/>
          <a:ea typeface="Arial" charset="0"/>
          <a:cs typeface="Arial" charset="0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Clr>
          <a:srgbClr val="005BBB"/>
        </a:buClr>
        <a:buFont typeface="Arial" panose="020B0604020202020204" pitchFamily="34" charset="0"/>
        <a:buChar char="•"/>
        <a:defRPr sz="2000" kern="1200" baseline="0">
          <a:solidFill>
            <a:srgbClr val="000000"/>
          </a:solidFill>
          <a:latin typeface="Arial" charset="0"/>
          <a:ea typeface="Arial" charset="0"/>
          <a:cs typeface="Arial" charset="0"/>
        </a:defRPr>
      </a:lvl2pPr>
      <a:lvl3pPr marL="1143000" marR="0" indent="-228600" algn="l" defTabSz="914400" rtl="0" eaLnBrk="1" fontAlgn="auto" latinLnBrk="0" hangingPunct="1">
        <a:lnSpc>
          <a:spcPts val="2300"/>
        </a:lnSpc>
        <a:spcBef>
          <a:spcPts val="500"/>
        </a:spcBef>
        <a:spcAft>
          <a:spcPts val="0"/>
        </a:spcAft>
        <a:buClr>
          <a:srgbClr val="005BBB"/>
        </a:buClr>
        <a:buSzTx/>
        <a:buFont typeface="LucidaGrande" charset="0"/>
        <a:buChar char="-"/>
        <a:tabLst/>
        <a:defRPr sz="2000" kern="1200" baseline="0">
          <a:solidFill>
            <a:srgbClr val="000000"/>
          </a:solidFill>
          <a:latin typeface="Arial" charset="0"/>
          <a:ea typeface="Arial" charset="0"/>
          <a:cs typeface="Arial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5BBB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charset="0"/>
          <a:ea typeface="Arial" charset="0"/>
          <a:cs typeface="Arial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5BBB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charset="0"/>
          <a:ea typeface="Arial" charset="0"/>
          <a:cs typeface="Arial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tx1"/>
                </a:solidFill>
              </a:rPr>
              <a:t>Lecture 10: Wi-Fi Protected Access (WPA)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</a:rPr>
              <a:t>Instructor: </a:t>
            </a:r>
            <a:r>
              <a:rPr lang="en-US" dirty="0" err="1">
                <a:solidFill>
                  <a:schemeClr val="tx1"/>
                </a:solidFill>
              </a:rPr>
              <a:t>Kui</a:t>
            </a:r>
            <a:r>
              <a:rPr lang="en-US" dirty="0">
                <a:solidFill>
                  <a:schemeClr val="tx1"/>
                </a:solidFill>
              </a:rPr>
              <a:t> Ren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sz="4800" dirty="0"/>
              <a:t>Wireless network and IoT security</a:t>
            </a:r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42522186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Wi-Fi Protected Access (WPA) is </a:t>
            </a:r>
          </a:p>
          <a:p>
            <a:pPr lvl="1"/>
            <a:r>
              <a:rPr lang="en-US" dirty="0"/>
              <a:t>A response by the WLAN industry to offer an immediate, a stronger security solution than WEP.</a:t>
            </a:r>
          </a:p>
          <a:p>
            <a:endParaRPr lang="en-US" dirty="0"/>
          </a:p>
          <a:p>
            <a:r>
              <a:rPr lang="en-US" dirty="0"/>
              <a:t>WPA is intended to be:</a:t>
            </a:r>
          </a:p>
          <a:p>
            <a:pPr lvl="1"/>
            <a:r>
              <a:rPr lang="en-US" dirty="0"/>
              <a:t>A software/firmware upgrade to existing access points</a:t>
            </a:r>
          </a:p>
          <a:p>
            <a:pPr lvl="1"/>
            <a:r>
              <a:rPr lang="en-US" dirty="0"/>
              <a:t>Inexpensive in terms of time and cost to implement</a:t>
            </a:r>
          </a:p>
          <a:p>
            <a:pPr lvl="1"/>
            <a:r>
              <a:rPr lang="en-US" dirty="0"/>
              <a:t>Compatible with vendors</a:t>
            </a:r>
          </a:p>
          <a:p>
            <a:pPr lvl="1"/>
            <a:r>
              <a:rPr lang="en-US" dirty="0"/>
              <a:t>Suitable for enterprise, small sites, home networks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Wi-Fi Protected Access (WPA)</a:t>
            </a:r>
          </a:p>
        </p:txBody>
      </p:sp>
    </p:spTree>
    <p:extLst>
      <p:ext uri="{BB962C8B-B14F-4D97-AF65-F5344CB8AC3E}">
        <p14:creationId xmlns:p14="http://schemas.microsoft.com/office/powerpoint/2010/main" val="16373401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/>
              <p:cNvSpPr>
                <a:spLocks noGrp="1"/>
              </p:cNvSpPr>
              <p:nvPr>
                <p:ph sz="quarter" idx="10"/>
              </p:nvPr>
            </p:nvSpPr>
            <p:spPr/>
            <p:txBody>
              <a:bodyPr/>
              <a:lstStyle/>
              <a:p>
                <a:r>
                  <a:rPr lang="en-US" dirty="0"/>
                  <a:t>WPA wraps RC4 cipher engine in four new algorithms</a:t>
                </a:r>
              </a:p>
              <a:p>
                <a:pPr marL="971550" lvl="1" indent="-457200">
                  <a:buFont typeface="+mj-lt"/>
                  <a:buAutoNum type="arabicPeriod"/>
                </a:pPr>
                <a:r>
                  <a:rPr lang="en-US" dirty="0"/>
                  <a:t>A Message Integrity Code (MIC) called Michael</a:t>
                </a:r>
              </a:p>
              <a:p>
                <a:pPr marL="1200150" lvl="2" indent="-342900"/>
                <a:r>
                  <a:rPr lang="en-US" dirty="0"/>
                  <a:t>Designed for deployed hardware</a:t>
                </a:r>
              </a:p>
              <a:p>
                <a:pPr marL="1200150" lvl="2" indent="-342900"/>
                <a:r>
                  <a:rPr lang="en-US" dirty="0"/>
                  <a:t>Requires use of active countermeasures</a:t>
                </a:r>
              </a:p>
              <a:p>
                <a:pPr marL="971550" lvl="1" indent="-457200">
                  <a:buFont typeface="+mj-lt"/>
                  <a:buAutoNum type="arabicPeriod"/>
                </a:pPr>
                <a:r>
                  <a:rPr lang="en-US" dirty="0"/>
                  <a:t>Extended 48-bit IV and IV Sequencing Rules</a:t>
                </a:r>
              </a:p>
              <a:p>
                <a:pPr marL="1200150" lvl="2" indent="-342900"/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48</m:t>
                        </m:r>
                      </m:sup>
                    </m:sSup>
                  </m:oMath>
                </a14:m>
                <a:r>
                  <a:rPr lang="en-US" dirty="0"/>
                  <a:t> is a large number! More than 500 trillion</a:t>
                </a:r>
              </a:p>
              <a:p>
                <a:pPr marL="1200150" lvl="2" indent="-342900"/>
                <a:r>
                  <a:rPr lang="en-US" dirty="0"/>
                  <a:t>Sequencing rules specify how IVs are selected and verified</a:t>
                </a:r>
              </a:p>
              <a:p>
                <a:pPr marL="971550" lvl="1" indent="-457200">
                  <a:buFont typeface="+mj-lt"/>
                  <a:buAutoNum type="arabicPeriod"/>
                </a:pPr>
                <a:r>
                  <a:rPr lang="en-US" dirty="0"/>
                  <a:t>Key Derivation and Distribution</a:t>
                </a:r>
              </a:p>
              <a:p>
                <a:pPr marL="1200150" lvl="2" indent="-342900"/>
                <a:r>
                  <a:rPr lang="en-US" dirty="0"/>
                  <a:t>Creating a key hierarchy out of the master key</a:t>
                </a:r>
              </a:p>
              <a:p>
                <a:pPr marL="1200150" lvl="2" indent="-342900"/>
                <a:r>
                  <a:rPr lang="en-US" dirty="0"/>
                  <a:t>Master keys can be refreshed in a secure manner </a:t>
                </a:r>
              </a:p>
              <a:p>
                <a:pPr marL="971550" lvl="1" indent="-457200">
                  <a:buFont typeface="+mj-lt"/>
                  <a:buAutoNum type="arabicPeriod"/>
                </a:pPr>
                <a:r>
                  <a:rPr lang="en-US" dirty="0"/>
                  <a:t>Temporal Key Integrity Protocol generates per-packet keys</a:t>
                </a:r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2" name="Content Placeholder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blipFill>
                <a:blip r:embed="rId2"/>
                <a:stretch>
                  <a:fillRect l="-754" t="-1109" b="-104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How WPA Addresses the WEP Vulnerabilities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34380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b="1" dirty="0"/>
              <a:t>Encryption method: </a:t>
            </a:r>
            <a:r>
              <a:rPr lang="en-US" dirty="0"/>
              <a:t>RC4</a:t>
            </a:r>
          </a:p>
          <a:p>
            <a:r>
              <a:rPr lang="en-US" b="1" dirty="0"/>
              <a:t>Key size: </a:t>
            </a:r>
            <a:r>
              <a:rPr lang="en-US" dirty="0"/>
              <a:t>128 bits (varies)</a:t>
            </a:r>
          </a:p>
          <a:p>
            <a:pPr lvl="1"/>
            <a:r>
              <a:rPr lang="en-US" dirty="0"/>
              <a:t>Changes encryption key every frame</a:t>
            </a:r>
          </a:p>
          <a:p>
            <a:r>
              <a:rPr lang="en-US" b="1" dirty="0"/>
              <a:t>Key management: </a:t>
            </a:r>
            <a:r>
              <a:rPr lang="en-US" dirty="0"/>
              <a:t>TKIP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Resolves keys to be used, looks at client’s configuration; 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Sets unique default key for each client</a:t>
            </a:r>
          </a:p>
          <a:p>
            <a:r>
              <a:rPr lang="en-US" b="1" dirty="0"/>
              <a:t>Hash method: </a:t>
            </a:r>
            <a:r>
              <a:rPr lang="en-US" dirty="0"/>
              <a:t>Michael</a:t>
            </a:r>
          </a:p>
          <a:p>
            <a:pPr lvl="1"/>
            <a:r>
              <a:rPr lang="en-US" dirty="0"/>
              <a:t>8 bytes, placed between data and ICV</a:t>
            </a:r>
          </a:p>
          <a:p>
            <a:r>
              <a:rPr lang="en-US" b="1" dirty="0"/>
              <a:t>802.1x authentication: </a:t>
            </a:r>
            <a:r>
              <a:rPr lang="en-US" dirty="0"/>
              <a:t>can be required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WPA Facts</a:t>
            </a:r>
          </a:p>
        </p:txBody>
      </p:sp>
    </p:spTree>
    <p:extLst>
      <p:ext uri="{BB962C8B-B14F-4D97-AF65-F5344CB8AC3E}">
        <p14:creationId xmlns:p14="http://schemas.microsoft.com/office/powerpoint/2010/main" val="34629608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altLang="en-US" dirty="0"/>
              <a:t>Message Integrity Code (MIC) - 64-bit message calculated using the “Michael” algorithm</a:t>
            </a:r>
          </a:p>
          <a:p>
            <a:pPr lvl="1"/>
            <a:r>
              <a:rPr lang="en-US" altLang="en-US" dirty="0"/>
              <a:t>Designed for deployed legacy hardware</a:t>
            </a:r>
          </a:p>
          <a:p>
            <a:pPr lvl="1"/>
            <a:r>
              <a:rPr lang="en-US" altLang="en-US" dirty="0"/>
              <a:t>The Michael algorithm was the strongest that WPA designers could come up with that would still work with most older network cards</a:t>
            </a:r>
          </a:p>
          <a:p>
            <a:pPr lvl="2"/>
            <a:r>
              <a:rPr lang="en-US" altLang="en-US" dirty="0"/>
              <a:t>Uses a lot swaps, shifts, even discarding operations </a:t>
            </a:r>
          </a:p>
          <a:p>
            <a:r>
              <a:rPr lang="en-US" altLang="en-US" dirty="0"/>
              <a:t>Protects both data and header</a:t>
            </a:r>
          </a:p>
          <a:p>
            <a:r>
              <a:rPr lang="en-US" altLang="en-US" dirty="0"/>
              <a:t>The MIC is a hash that is calculated on a per-packet basis</a:t>
            </a:r>
          </a:p>
          <a:p>
            <a:r>
              <a:rPr lang="en-US" altLang="en-US" dirty="0"/>
              <a:t>The MIC is also on a per-sender, per-receiver basis</a:t>
            </a:r>
          </a:p>
          <a:p>
            <a:pPr lvl="1"/>
            <a:r>
              <a:rPr lang="en-US" altLang="en-US" dirty="0"/>
              <a:t>The MIC is based on seed value (IVs), destination MAC, source MAC, and payload</a:t>
            </a:r>
          </a:p>
          <a:p>
            <a:endParaRPr lang="en-US" alt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Message Integrity Check: Michael Algorithm </a:t>
            </a:r>
          </a:p>
        </p:txBody>
      </p:sp>
    </p:spTree>
    <p:extLst>
      <p:ext uri="{BB962C8B-B14F-4D97-AF65-F5344CB8AC3E}">
        <p14:creationId xmlns:p14="http://schemas.microsoft.com/office/powerpoint/2010/main" val="7724484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>
                <a:ea typeface="PMingLiU" pitchFamily="18" charset="-120"/>
              </a:rPr>
              <a:t>Data Integrity: The Michael MIC Algorithm</a:t>
            </a:r>
            <a:br>
              <a:rPr kumimoji="1" lang="en-US" altLang="zh-TW" dirty="0">
                <a:ea typeface="PMingLiU" pitchFamily="18" charset="-120"/>
              </a:rPr>
            </a:br>
            <a:endParaRPr lang="en-US" dirty="0"/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2283871" y="2253670"/>
            <a:ext cx="2295525" cy="406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kumimoji="1" lang="en-US" altLang="zh-TW" sz="2000">
                <a:solidFill>
                  <a:srgbClr val="5C00B8"/>
                </a:solidFill>
                <a:ea typeface="PMingLiU" pitchFamily="18" charset="-120"/>
              </a:rPr>
              <a:t>Destination MAC</a:t>
            </a: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4758783" y="2253670"/>
            <a:ext cx="2295525" cy="406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kumimoji="1" lang="en-US" altLang="zh-TW" sz="2000">
                <a:solidFill>
                  <a:srgbClr val="5C00B8"/>
                </a:solidFill>
                <a:ea typeface="PMingLiU" pitchFamily="18" charset="-120"/>
              </a:rPr>
              <a:t>Source MAC</a:t>
            </a: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7279733" y="2253670"/>
            <a:ext cx="2295525" cy="406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kumimoji="1" lang="en-US" altLang="zh-TW" sz="2000">
                <a:solidFill>
                  <a:srgbClr val="5C00B8"/>
                </a:solidFill>
                <a:latin typeface="Times New Roman" pitchFamily="18" charset="0"/>
                <a:ea typeface="PMingLiU" pitchFamily="18" charset="-120"/>
              </a:rPr>
              <a:t>802.11 Data Payload</a:t>
            </a:r>
          </a:p>
        </p:txBody>
      </p:sp>
      <p:sp>
        <p:nvSpPr>
          <p:cNvPr id="7" name="Oval 6"/>
          <p:cNvSpPr>
            <a:spLocks noChangeArrowheads="1"/>
          </p:cNvSpPr>
          <p:nvPr/>
        </p:nvSpPr>
        <p:spPr bwMode="auto">
          <a:xfrm>
            <a:off x="5254083" y="3107745"/>
            <a:ext cx="1306513" cy="85566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kumimoji="1" lang="en-US" altLang="zh-TW" sz="2000">
                <a:solidFill>
                  <a:srgbClr val="5C00B8"/>
                </a:solidFill>
                <a:ea typeface="PMingLiU" pitchFamily="18" charset="-120"/>
              </a:rPr>
              <a:t>Michael</a:t>
            </a:r>
          </a:p>
        </p:txBody>
      </p:sp>
      <p:sp>
        <p:nvSpPr>
          <p:cNvPr id="8" name="Line 7"/>
          <p:cNvSpPr>
            <a:spLocks noChangeShapeType="1"/>
          </p:cNvSpPr>
          <p:nvPr/>
        </p:nvSpPr>
        <p:spPr bwMode="auto">
          <a:xfrm>
            <a:off x="5884321" y="2658482"/>
            <a:ext cx="0" cy="4492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3498308" y="2658482"/>
            <a:ext cx="1755775" cy="854075"/>
          </a:xfrm>
          <a:custGeom>
            <a:avLst/>
            <a:gdLst>
              <a:gd name="T0" fmla="*/ 0 w 1106"/>
              <a:gd name="T1" fmla="*/ 0 h 538"/>
              <a:gd name="T2" fmla="*/ 0 w 1106"/>
              <a:gd name="T3" fmla="*/ 2147483647 h 538"/>
              <a:gd name="T4" fmla="*/ 2147483647 w 1106"/>
              <a:gd name="T5" fmla="*/ 2147483647 h 538"/>
              <a:gd name="T6" fmla="*/ 0 60000 65536"/>
              <a:gd name="T7" fmla="*/ 0 60000 65536"/>
              <a:gd name="T8" fmla="*/ 0 60000 65536"/>
              <a:gd name="T9" fmla="*/ 0 w 1106"/>
              <a:gd name="T10" fmla="*/ 0 h 538"/>
              <a:gd name="T11" fmla="*/ 1106 w 1106"/>
              <a:gd name="T12" fmla="*/ 538 h 53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106" h="538">
                <a:moveTo>
                  <a:pt x="0" y="0"/>
                </a:moveTo>
                <a:lnTo>
                  <a:pt x="0" y="538"/>
                </a:lnTo>
                <a:lnTo>
                  <a:pt x="1106" y="538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rot="10800000" flipV="1">
            <a:off x="6559008" y="2658482"/>
            <a:ext cx="1755775" cy="854075"/>
          </a:xfrm>
          <a:custGeom>
            <a:avLst/>
            <a:gdLst>
              <a:gd name="T0" fmla="*/ 0 w 1106"/>
              <a:gd name="T1" fmla="*/ 0 h 538"/>
              <a:gd name="T2" fmla="*/ 0 w 1106"/>
              <a:gd name="T3" fmla="*/ 2147483647 h 538"/>
              <a:gd name="T4" fmla="*/ 2147483647 w 1106"/>
              <a:gd name="T5" fmla="*/ 2147483647 h 538"/>
              <a:gd name="T6" fmla="*/ 0 60000 65536"/>
              <a:gd name="T7" fmla="*/ 0 60000 65536"/>
              <a:gd name="T8" fmla="*/ 0 60000 65536"/>
              <a:gd name="T9" fmla="*/ 0 w 1106"/>
              <a:gd name="T10" fmla="*/ 0 h 538"/>
              <a:gd name="T11" fmla="*/ 1106 w 1106"/>
              <a:gd name="T12" fmla="*/ 538 h 53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106" h="538">
                <a:moveTo>
                  <a:pt x="0" y="0"/>
                </a:moveTo>
                <a:lnTo>
                  <a:pt x="0" y="538"/>
                </a:lnTo>
                <a:lnTo>
                  <a:pt x="1106" y="538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5030246" y="4231695"/>
            <a:ext cx="1889125" cy="406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kumimoji="1" lang="en-US" altLang="zh-TW" sz="2000">
                <a:solidFill>
                  <a:srgbClr val="5C00B8"/>
                </a:solidFill>
                <a:ea typeface="PMingLiU" pitchFamily="18" charset="-120"/>
              </a:rPr>
              <a:t>64 Bit MIC</a:t>
            </a:r>
          </a:p>
        </p:txBody>
      </p:sp>
      <p:grpSp>
        <p:nvGrpSpPr>
          <p:cNvPr id="12" name="Group 11"/>
          <p:cNvGrpSpPr>
            <a:grpSpLocks/>
          </p:cNvGrpSpPr>
          <p:nvPr/>
        </p:nvGrpSpPr>
        <p:grpSpPr bwMode="auto">
          <a:xfrm>
            <a:off x="3814221" y="5042907"/>
            <a:ext cx="4770437" cy="450850"/>
            <a:chOff x="1803" y="2670"/>
            <a:chExt cx="3005" cy="256"/>
          </a:xfrm>
        </p:grpSpPr>
        <p:sp>
          <p:nvSpPr>
            <p:cNvPr id="13" name="Rectangle 12"/>
            <p:cNvSpPr>
              <a:spLocks noChangeArrowheads="1"/>
            </p:cNvSpPr>
            <p:nvPr/>
          </p:nvSpPr>
          <p:spPr bwMode="auto">
            <a:xfrm>
              <a:off x="2426" y="2670"/>
              <a:ext cx="1021" cy="25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kumimoji="1" lang="en-US" altLang="zh-TW" sz="2000">
                  <a:solidFill>
                    <a:srgbClr val="5C00B8"/>
                  </a:solidFill>
                  <a:latin typeface="Times New Roman" pitchFamily="18" charset="0"/>
                  <a:ea typeface="PMingLiU" pitchFamily="18" charset="-120"/>
                </a:rPr>
                <a:t>Data Payload</a:t>
              </a:r>
            </a:p>
          </p:txBody>
        </p:sp>
        <p:sp>
          <p:nvSpPr>
            <p:cNvPr id="14" name="Rectangle 13"/>
            <p:cNvSpPr>
              <a:spLocks noChangeArrowheads="1"/>
            </p:cNvSpPr>
            <p:nvPr/>
          </p:nvSpPr>
          <p:spPr bwMode="auto">
            <a:xfrm>
              <a:off x="1803" y="2670"/>
              <a:ext cx="623" cy="25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kumimoji="1" lang="en-US" altLang="zh-TW" sz="2000">
                  <a:solidFill>
                    <a:srgbClr val="5C00B8"/>
                  </a:solidFill>
                  <a:latin typeface="Times New Roman" pitchFamily="18" charset="0"/>
                  <a:ea typeface="PMingLiU" pitchFamily="18" charset="-120"/>
                </a:rPr>
                <a:t>16 Bit IV</a:t>
              </a:r>
            </a:p>
          </p:txBody>
        </p:sp>
        <p:sp>
          <p:nvSpPr>
            <p:cNvPr id="15" name="Rectangle 14"/>
            <p:cNvSpPr>
              <a:spLocks noChangeArrowheads="1"/>
            </p:cNvSpPr>
            <p:nvPr/>
          </p:nvSpPr>
          <p:spPr bwMode="auto">
            <a:xfrm>
              <a:off x="3448" y="2670"/>
              <a:ext cx="679" cy="25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80000"/>
                </a:lnSpc>
              </a:pPr>
              <a:r>
                <a:rPr kumimoji="1" lang="en-US" altLang="zh-TW" sz="2000">
                  <a:solidFill>
                    <a:srgbClr val="5C00B8"/>
                  </a:solidFill>
                  <a:latin typeface="Times New Roman" pitchFamily="18" charset="0"/>
                  <a:ea typeface="PMingLiU" pitchFamily="18" charset="-120"/>
                </a:rPr>
                <a:t>64 Bit </a:t>
              </a:r>
            </a:p>
            <a:p>
              <a:pPr algn="ctr">
                <a:lnSpc>
                  <a:spcPct val="80000"/>
                </a:lnSpc>
              </a:pPr>
              <a:r>
                <a:rPr kumimoji="1" lang="en-US" altLang="zh-TW" sz="2000">
                  <a:solidFill>
                    <a:srgbClr val="5C00B8"/>
                  </a:solidFill>
                  <a:latin typeface="Times New Roman" pitchFamily="18" charset="0"/>
                  <a:ea typeface="PMingLiU" pitchFamily="18" charset="-120"/>
                </a:rPr>
                <a:t>MIC</a:t>
              </a:r>
            </a:p>
          </p:txBody>
        </p:sp>
        <p:sp>
          <p:nvSpPr>
            <p:cNvPr id="16" name="Rectangle 15"/>
            <p:cNvSpPr>
              <a:spLocks noChangeArrowheads="1"/>
            </p:cNvSpPr>
            <p:nvPr/>
          </p:nvSpPr>
          <p:spPr bwMode="auto">
            <a:xfrm>
              <a:off x="4129" y="2670"/>
              <a:ext cx="679" cy="25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80000"/>
                </a:lnSpc>
              </a:pPr>
              <a:r>
                <a:rPr kumimoji="1" lang="en-US" altLang="zh-TW" sz="2000">
                  <a:solidFill>
                    <a:srgbClr val="5C00B8"/>
                  </a:solidFill>
                  <a:latin typeface="Times New Roman" pitchFamily="18" charset="0"/>
                  <a:ea typeface="PMingLiU" pitchFamily="18" charset="-120"/>
                </a:rPr>
                <a:t>32 Bit </a:t>
              </a:r>
            </a:p>
            <a:p>
              <a:pPr algn="ctr">
                <a:lnSpc>
                  <a:spcPct val="80000"/>
                </a:lnSpc>
              </a:pPr>
              <a:r>
                <a:rPr kumimoji="1" lang="en-US" altLang="zh-TW" sz="2000">
                  <a:solidFill>
                    <a:srgbClr val="5C00B8"/>
                  </a:solidFill>
                  <a:latin typeface="Times New Roman" pitchFamily="18" charset="0"/>
                  <a:ea typeface="PMingLiU" pitchFamily="18" charset="-120"/>
                </a:rPr>
                <a:t>ICV</a:t>
              </a:r>
            </a:p>
          </p:txBody>
        </p:sp>
      </p:grpSp>
      <p:sp>
        <p:nvSpPr>
          <p:cNvPr id="17" name="Line 16"/>
          <p:cNvSpPr>
            <a:spLocks noChangeShapeType="1"/>
          </p:cNvSpPr>
          <p:nvPr/>
        </p:nvSpPr>
        <p:spPr bwMode="auto">
          <a:xfrm>
            <a:off x="5884321" y="3963407"/>
            <a:ext cx="0" cy="2254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8" name="Line 17"/>
          <p:cNvSpPr>
            <a:spLocks noChangeShapeType="1"/>
          </p:cNvSpPr>
          <p:nvPr/>
        </p:nvSpPr>
        <p:spPr bwMode="auto">
          <a:xfrm>
            <a:off x="5930358" y="4638095"/>
            <a:ext cx="944563" cy="3603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9" name="Oval 18"/>
          <p:cNvSpPr>
            <a:spLocks noChangeArrowheads="1"/>
          </p:cNvSpPr>
          <p:nvPr/>
        </p:nvSpPr>
        <p:spPr bwMode="auto">
          <a:xfrm>
            <a:off x="5119146" y="5943020"/>
            <a:ext cx="1846262" cy="85566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kumimoji="1" lang="en-US" altLang="zh-TW" sz="2000">
                <a:solidFill>
                  <a:srgbClr val="5C00B8"/>
                </a:solidFill>
                <a:ea typeface="PMingLiU" pitchFamily="18" charset="-120"/>
              </a:rPr>
              <a:t>Per Frame</a:t>
            </a:r>
          </a:p>
          <a:p>
            <a:pPr algn="ctr"/>
            <a:r>
              <a:rPr kumimoji="1" lang="en-US" altLang="zh-TW" sz="2000">
                <a:solidFill>
                  <a:srgbClr val="5C00B8"/>
                </a:solidFill>
                <a:ea typeface="PMingLiU" pitchFamily="18" charset="-120"/>
              </a:rPr>
              <a:t>Encryption</a:t>
            </a:r>
          </a:p>
        </p:txBody>
      </p:sp>
      <p:sp>
        <p:nvSpPr>
          <p:cNvPr id="20" name="Line 19"/>
          <p:cNvSpPr>
            <a:spLocks noChangeShapeType="1"/>
          </p:cNvSpPr>
          <p:nvPr/>
        </p:nvSpPr>
        <p:spPr bwMode="auto">
          <a:xfrm>
            <a:off x="6965408" y="6347832"/>
            <a:ext cx="18891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Box 20"/>
          <p:cNvSpPr txBox="1">
            <a:spLocks noChangeArrowheads="1"/>
          </p:cNvSpPr>
          <p:nvPr/>
        </p:nvSpPr>
        <p:spPr bwMode="auto">
          <a:xfrm>
            <a:off x="7052721" y="5965245"/>
            <a:ext cx="232727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1" lang="en-US" altLang="zh-TW" sz="2000">
                <a:solidFill>
                  <a:srgbClr val="5C00B8"/>
                </a:solidFill>
                <a:ea typeface="PMingLiU" pitchFamily="18" charset="-120"/>
              </a:rPr>
              <a:t>Frame Transmitted</a:t>
            </a:r>
          </a:p>
        </p:txBody>
      </p:sp>
      <p:sp>
        <p:nvSpPr>
          <p:cNvPr id="22" name="Line 21"/>
          <p:cNvSpPr>
            <a:spLocks noChangeShapeType="1"/>
          </p:cNvSpPr>
          <p:nvPr/>
        </p:nvSpPr>
        <p:spPr bwMode="auto">
          <a:xfrm>
            <a:off x="6019258" y="5493757"/>
            <a:ext cx="0" cy="4492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03182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spcBef>
                <a:spcPct val="0"/>
              </a:spcBef>
            </a:pPr>
            <a:r>
              <a:rPr lang="pt-BR" dirty="0"/>
              <a:t>Due to inevitable weaknesses of Michael, WPA implements </a:t>
            </a:r>
            <a:r>
              <a:rPr lang="en-US" dirty="0"/>
              <a:t>a 16-bit monotonically incrementing counter</a:t>
            </a:r>
            <a:r>
              <a:rPr lang="pt-BR" b="1" dirty="0"/>
              <a:t> that discourages replay attacks:</a:t>
            </a:r>
          </a:p>
          <a:p>
            <a:pPr lvl="1">
              <a:spcBef>
                <a:spcPct val="0"/>
              </a:spcBef>
            </a:pPr>
            <a:r>
              <a:rPr lang="en-US" altLang="en-US" dirty="0"/>
              <a:t>Take the 1st and 3rd bytes of the old IV</a:t>
            </a:r>
          </a:p>
          <a:p>
            <a:pPr lvl="1">
              <a:spcBef>
                <a:spcPct val="0"/>
              </a:spcBef>
            </a:pPr>
            <a:r>
              <a:rPr lang="en-US" altLang="en-US" dirty="0"/>
              <a:t>Reset packet sequence # to 0 on rekey</a:t>
            </a:r>
          </a:p>
          <a:p>
            <a:pPr lvl="1">
              <a:spcBef>
                <a:spcPct val="0"/>
              </a:spcBef>
            </a:pPr>
            <a:r>
              <a:rPr lang="en-US" altLang="en-US" dirty="0"/>
              <a:t>Increment sequence # by 1 on each packet</a:t>
            </a:r>
          </a:p>
          <a:p>
            <a:pPr lvl="1">
              <a:spcBef>
                <a:spcPct val="0"/>
              </a:spcBef>
            </a:pPr>
            <a:r>
              <a:rPr lang="en-US" altLang="en-US" dirty="0"/>
              <a:t>Drop any packet received out of sequence</a:t>
            </a:r>
          </a:p>
          <a:p>
            <a:pPr>
              <a:spcBef>
                <a:spcPct val="0"/>
              </a:spcBef>
            </a:pPr>
            <a:endParaRPr lang="en-US" alt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Defeating Replays: IV Sequence Enforcement </a:t>
            </a:r>
            <a:br>
              <a:rPr lang="en-US" altLang="en-US" dirty="0"/>
            </a:br>
            <a:endParaRPr lang="en-US" dirty="0"/>
          </a:p>
        </p:txBody>
      </p:sp>
      <p:grpSp>
        <p:nvGrpSpPr>
          <p:cNvPr id="4" name="Group 3"/>
          <p:cNvGrpSpPr>
            <a:grpSpLocks/>
          </p:cNvGrpSpPr>
          <p:nvPr/>
        </p:nvGrpSpPr>
        <p:grpSpPr bwMode="auto">
          <a:xfrm>
            <a:off x="1905000" y="4298950"/>
            <a:ext cx="7874000" cy="1943100"/>
            <a:chOff x="240" y="858"/>
            <a:chExt cx="4960" cy="1224"/>
          </a:xfrm>
        </p:grpSpPr>
        <p:grpSp>
          <p:nvGrpSpPr>
            <p:cNvPr id="5" name="Group 4"/>
            <p:cNvGrpSpPr>
              <a:grpSpLocks/>
            </p:cNvGrpSpPr>
            <p:nvPr/>
          </p:nvGrpSpPr>
          <p:grpSpPr bwMode="auto">
            <a:xfrm>
              <a:off x="4336" y="858"/>
              <a:ext cx="864" cy="1224"/>
              <a:chOff x="2704" y="975"/>
              <a:chExt cx="864" cy="1224"/>
            </a:xfrm>
          </p:grpSpPr>
          <p:sp>
            <p:nvSpPr>
              <p:cNvPr id="8" name="Text Box 5"/>
              <p:cNvSpPr txBox="1">
                <a:spLocks noChangeArrowheads="1"/>
              </p:cNvSpPr>
              <p:nvPr/>
            </p:nvSpPr>
            <p:spPr bwMode="auto">
              <a:xfrm>
                <a:off x="2704" y="1680"/>
                <a:ext cx="864" cy="519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>
                <a:spAutoFit/>
              </a:bodyPr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lang="en-US" sz="2400" b="1">
                    <a:latin typeface="Arial Narrow" pitchFamily="34" charset="0"/>
                    <a:cs typeface="Arial" charset="0"/>
                  </a:rPr>
                  <a:t>Access Point</a:t>
                </a:r>
                <a:endParaRPr lang="en-US" sz="2400">
                  <a:latin typeface="Arial Narrow" pitchFamily="34" charset="0"/>
                  <a:cs typeface="Arial" charset="0"/>
                </a:endParaRPr>
              </a:p>
            </p:txBody>
          </p:sp>
          <p:pic>
            <p:nvPicPr>
              <p:cNvPr id="9" name="Picture 6" descr="access point 2"/>
              <p:cNvPicPr>
                <a:picLocks noChangeAspect="1" noChangeArrowheads="1"/>
              </p:cNvPicPr>
              <p:nvPr/>
            </p:nvPicPr>
            <p:blipFill>
              <a:blip r:embed="rId2" cstate="print"/>
              <a:srcRect/>
              <a:stretch>
                <a:fillRect/>
              </a:stretch>
            </p:blipFill>
            <p:spPr bwMode="auto">
              <a:xfrm>
                <a:off x="2704" y="975"/>
                <a:ext cx="749" cy="762"/>
              </a:xfrm>
              <a:prstGeom prst="rect">
                <a:avLst/>
              </a:prstGeom>
              <a:noFill/>
              <a:ln w="19050">
                <a:solidFill>
                  <a:schemeClr val="bg2"/>
                </a:solidFill>
                <a:miter lim="800000"/>
                <a:headEnd/>
                <a:tailEnd/>
              </a:ln>
            </p:spPr>
          </p:pic>
        </p:grpSp>
        <p:pic>
          <p:nvPicPr>
            <p:cNvPr id="6" name="Picture 7" descr="laptop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361" y="918"/>
              <a:ext cx="727" cy="5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7" name="Text Box 8"/>
            <p:cNvSpPr txBox="1">
              <a:spLocks noChangeArrowheads="1"/>
            </p:cNvSpPr>
            <p:nvPr/>
          </p:nvSpPr>
          <p:spPr bwMode="auto">
            <a:xfrm>
              <a:off x="240" y="1518"/>
              <a:ext cx="864" cy="518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sz="2400" b="1">
                  <a:latin typeface="Arial Narrow" pitchFamily="34" charset="0"/>
                  <a:cs typeface="Arial" charset="0"/>
                </a:rPr>
                <a:t>Wireless Station</a:t>
              </a:r>
              <a:endParaRPr lang="en-US" sz="2400">
                <a:latin typeface="Arial Narrow" pitchFamily="34" charset="0"/>
                <a:cs typeface="Arial" charset="0"/>
              </a:endParaRPr>
            </a:p>
          </p:txBody>
        </p:sp>
      </p:grpSp>
      <p:grpSp>
        <p:nvGrpSpPr>
          <p:cNvPr id="10" name="Group 10"/>
          <p:cNvGrpSpPr>
            <a:grpSpLocks/>
          </p:cNvGrpSpPr>
          <p:nvPr/>
        </p:nvGrpSpPr>
        <p:grpSpPr bwMode="auto">
          <a:xfrm>
            <a:off x="3602038" y="4375150"/>
            <a:ext cx="4110037" cy="533400"/>
            <a:chOff x="1405" y="2132"/>
            <a:chExt cx="2589" cy="336"/>
          </a:xfrm>
        </p:grpSpPr>
        <p:sp>
          <p:nvSpPr>
            <p:cNvPr id="11" name="Line 11"/>
            <p:cNvSpPr>
              <a:spLocks noChangeShapeType="1"/>
            </p:cNvSpPr>
            <p:nvPr/>
          </p:nvSpPr>
          <p:spPr bwMode="auto">
            <a:xfrm flipV="1">
              <a:off x="1405" y="2312"/>
              <a:ext cx="2589" cy="7"/>
            </a:xfrm>
            <a:prstGeom prst="line">
              <a:avLst/>
            </a:prstGeom>
            <a:noFill/>
            <a:ln w="82550">
              <a:solidFill>
                <a:schemeClr val="tx1"/>
              </a:solidFill>
              <a:round/>
              <a:headEnd type="none" w="sm" len="sm"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2" name="Group 12"/>
            <p:cNvGrpSpPr>
              <a:grpSpLocks/>
            </p:cNvGrpSpPr>
            <p:nvPr/>
          </p:nvGrpSpPr>
          <p:grpSpPr bwMode="auto">
            <a:xfrm>
              <a:off x="1950" y="2132"/>
              <a:ext cx="1580" cy="336"/>
              <a:chOff x="1950" y="2132"/>
              <a:chExt cx="1580" cy="336"/>
            </a:xfrm>
          </p:grpSpPr>
          <p:sp>
            <p:nvSpPr>
              <p:cNvPr id="13" name="Rectangle 13"/>
              <p:cNvSpPr>
                <a:spLocks noChangeArrowheads="1"/>
              </p:cNvSpPr>
              <p:nvPr/>
            </p:nvSpPr>
            <p:spPr bwMode="auto">
              <a:xfrm>
                <a:off x="1950" y="2132"/>
                <a:ext cx="428" cy="336"/>
              </a:xfrm>
              <a:prstGeom prst="rect">
                <a:avLst/>
              </a:prstGeom>
              <a:solidFill>
                <a:srgbClr val="00808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73025" tIns="36512" rIns="73025" bIns="36512" anchor="ctr"/>
              <a:lstStyle/>
              <a:p>
                <a:pPr algn="ctr" eaLnBrk="0" hangingPunct="0"/>
                <a:r>
                  <a:rPr lang="en-US" b="1">
                    <a:solidFill>
                      <a:schemeClr val="tx2"/>
                    </a:solidFill>
                    <a:cs typeface="Arial" charset="0"/>
                  </a:rPr>
                  <a:t>Hdr</a:t>
                </a:r>
              </a:p>
            </p:txBody>
          </p:sp>
          <p:sp>
            <p:nvSpPr>
              <p:cNvPr id="14" name="Rectangle 14"/>
              <p:cNvSpPr>
                <a:spLocks noChangeArrowheads="1"/>
              </p:cNvSpPr>
              <p:nvPr/>
            </p:nvSpPr>
            <p:spPr bwMode="auto">
              <a:xfrm>
                <a:off x="2378" y="2132"/>
                <a:ext cx="1152" cy="336"/>
              </a:xfrm>
              <a:prstGeom prst="rect">
                <a:avLst/>
              </a:prstGeom>
              <a:solidFill>
                <a:srgbClr val="00808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73025" tIns="36512" rIns="73025" bIns="36512" anchor="ctr"/>
              <a:lstStyle/>
              <a:p>
                <a:pPr algn="ctr" eaLnBrk="0" hangingPunct="0"/>
                <a:r>
                  <a:rPr lang="en-US" b="1">
                    <a:solidFill>
                      <a:schemeClr val="tx2"/>
                    </a:solidFill>
                    <a:cs typeface="Arial" charset="0"/>
                  </a:rPr>
                  <a:t>Packet </a:t>
                </a:r>
                <a:r>
                  <a:rPr lang="en-US" b="1" i="1">
                    <a:solidFill>
                      <a:schemeClr val="tx2"/>
                    </a:solidFill>
                    <a:latin typeface="Times New Roman" pitchFamily="18" charset="0"/>
                    <a:cs typeface="Arial" charset="0"/>
                  </a:rPr>
                  <a:t>n</a:t>
                </a:r>
              </a:p>
            </p:txBody>
          </p:sp>
        </p:grpSp>
      </p:grpSp>
      <p:grpSp>
        <p:nvGrpSpPr>
          <p:cNvPr id="15" name="Group 15"/>
          <p:cNvGrpSpPr>
            <a:grpSpLocks/>
          </p:cNvGrpSpPr>
          <p:nvPr/>
        </p:nvGrpSpPr>
        <p:grpSpPr bwMode="auto">
          <a:xfrm>
            <a:off x="3602038" y="5035550"/>
            <a:ext cx="4110037" cy="533400"/>
            <a:chOff x="1405" y="2132"/>
            <a:chExt cx="2589" cy="336"/>
          </a:xfrm>
        </p:grpSpPr>
        <p:sp>
          <p:nvSpPr>
            <p:cNvPr id="16" name="Line 16"/>
            <p:cNvSpPr>
              <a:spLocks noChangeShapeType="1"/>
            </p:cNvSpPr>
            <p:nvPr/>
          </p:nvSpPr>
          <p:spPr bwMode="auto">
            <a:xfrm flipV="1">
              <a:off x="1405" y="2312"/>
              <a:ext cx="2589" cy="7"/>
            </a:xfrm>
            <a:prstGeom prst="line">
              <a:avLst/>
            </a:prstGeom>
            <a:noFill/>
            <a:ln w="82550">
              <a:solidFill>
                <a:schemeClr val="tx1"/>
              </a:solidFill>
              <a:round/>
              <a:headEnd type="none" w="sm" len="sm"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7" name="Group 17"/>
            <p:cNvGrpSpPr>
              <a:grpSpLocks/>
            </p:cNvGrpSpPr>
            <p:nvPr/>
          </p:nvGrpSpPr>
          <p:grpSpPr bwMode="auto">
            <a:xfrm>
              <a:off x="1950" y="2132"/>
              <a:ext cx="1580" cy="336"/>
              <a:chOff x="1950" y="2132"/>
              <a:chExt cx="1580" cy="336"/>
            </a:xfrm>
          </p:grpSpPr>
          <p:sp>
            <p:nvSpPr>
              <p:cNvPr id="18" name="Rectangle 18"/>
              <p:cNvSpPr>
                <a:spLocks noChangeArrowheads="1"/>
              </p:cNvSpPr>
              <p:nvPr/>
            </p:nvSpPr>
            <p:spPr bwMode="auto">
              <a:xfrm>
                <a:off x="1950" y="2132"/>
                <a:ext cx="428" cy="336"/>
              </a:xfrm>
              <a:prstGeom prst="rect">
                <a:avLst/>
              </a:prstGeom>
              <a:solidFill>
                <a:srgbClr val="00808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73025" tIns="36512" rIns="73025" bIns="36512" anchor="ctr"/>
              <a:lstStyle/>
              <a:p>
                <a:pPr algn="ctr" eaLnBrk="0" hangingPunct="0"/>
                <a:r>
                  <a:rPr lang="en-US" b="1">
                    <a:solidFill>
                      <a:schemeClr val="tx2"/>
                    </a:solidFill>
                    <a:cs typeface="Arial" charset="0"/>
                  </a:rPr>
                  <a:t>Hdr</a:t>
                </a:r>
              </a:p>
            </p:txBody>
          </p:sp>
          <p:sp>
            <p:nvSpPr>
              <p:cNvPr id="19" name="Rectangle 19"/>
              <p:cNvSpPr>
                <a:spLocks noChangeArrowheads="1"/>
              </p:cNvSpPr>
              <p:nvPr/>
            </p:nvSpPr>
            <p:spPr bwMode="auto">
              <a:xfrm>
                <a:off x="2378" y="2132"/>
                <a:ext cx="1152" cy="336"/>
              </a:xfrm>
              <a:prstGeom prst="rect">
                <a:avLst/>
              </a:prstGeom>
              <a:solidFill>
                <a:srgbClr val="00808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73025" tIns="36512" rIns="73025" bIns="36512" anchor="ctr"/>
              <a:lstStyle/>
              <a:p>
                <a:pPr algn="ctr" eaLnBrk="0" hangingPunct="0"/>
                <a:r>
                  <a:rPr lang="en-US" b="1">
                    <a:solidFill>
                      <a:schemeClr val="tx2"/>
                    </a:solidFill>
                    <a:cs typeface="Arial" charset="0"/>
                  </a:rPr>
                  <a:t>Packet </a:t>
                </a:r>
                <a:r>
                  <a:rPr lang="en-US" b="1" i="1">
                    <a:solidFill>
                      <a:schemeClr val="tx2"/>
                    </a:solidFill>
                    <a:latin typeface="Times New Roman" pitchFamily="18" charset="0"/>
                    <a:cs typeface="Arial" charset="0"/>
                  </a:rPr>
                  <a:t>n</a:t>
                </a:r>
                <a:r>
                  <a:rPr lang="en-US" b="1">
                    <a:solidFill>
                      <a:schemeClr val="tx2"/>
                    </a:solidFill>
                    <a:latin typeface="Times New Roman" pitchFamily="18" charset="0"/>
                    <a:cs typeface="Arial" charset="0"/>
                  </a:rPr>
                  <a:t> + 1</a:t>
                </a:r>
              </a:p>
            </p:txBody>
          </p:sp>
        </p:grpSp>
      </p:grpSp>
      <p:grpSp>
        <p:nvGrpSpPr>
          <p:cNvPr id="20" name="Group 20"/>
          <p:cNvGrpSpPr>
            <a:grpSpLocks/>
          </p:cNvGrpSpPr>
          <p:nvPr/>
        </p:nvGrpSpPr>
        <p:grpSpPr bwMode="auto">
          <a:xfrm>
            <a:off x="3602038" y="5708650"/>
            <a:ext cx="4110037" cy="533400"/>
            <a:chOff x="1405" y="2132"/>
            <a:chExt cx="2589" cy="336"/>
          </a:xfrm>
        </p:grpSpPr>
        <p:sp>
          <p:nvSpPr>
            <p:cNvPr id="21" name="Line 21"/>
            <p:cNvSpPr>
              <a:spLocks noChangeShapeType="1"/>
            </p:cNvSpPr>
            <p:nvPr/>
          </p:nvSpPr>
          <p:spPr bwMode="auto">
            <a:xfrm flipV="1">
              <a:off x="1405" y="2312"/>
              <a:ext cx="2589" cy="7"/>
            </a:xfrm>
            <a:prstGeom prst="line">
              <a:avLst/>
            </a:prstGeom>
            <a:noFill/>
            <a:ln w="82550">
              <a:solidFill>
                <a:schemeClr val="tx1"/>
              </a:solidFill>
              <a:round/>
              <a:headEnd type="none" w="sm" len="sm"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22" name="Group 22"/>
            <p:cNvGrpSpPr>
              <a:grpSpLocks/>
            </p:cNvGrpSpPr>
            <p:nvPr/>
          </p:nvGrpSpPr>
          <p:grpSpPr bwMode="auto">
            <a:xfrm>
              <a:off x="1950" y="2132"/>
              <a:ext cx="1580" cy="336"/>
              <a:chOff x="1950" y="2132"/>
              <a:chExt cx="1580" cy="336"/>
            </a:xfrm>
          </p:grpSpPr>
          <p:sp>
            <p:nvSpPr>
              <p:cNvPr id="23" name="Rectangle 23"/>
              <p:cNvSpPr>
                <a:spLocks noChangeArrowheads="1"/>
              </p:cNvSpPr>
              <p:nvPr/>
            </p:nvSpPr>
            <p:spPr bwMode="auto">
              <a:xfrm>
                <a:off x="1950" y="2132"/>
                <a:ext cx="428" cy="336"/>
              </a:xfrm>
              <a:prstGeom prst="rect">
                <a:avLst/>
              </a:prstGeom>
              <a:solidFill>
                <a:srgbClr val="00808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73025" tIns="36512" rIns="73025" bIns="36512" anchor="ctr"/>
              <a:lstStyle/>
              <a:p>
                <a:pPr algn="ctr" eaLnBrk="0" hangingPunct="0"/>
                <a:r>
                  <a:rPr lang="en-US" b="1">
                    <a:solidFill>
                      <a:schemeClr val="tx2"/>
                    </a:solidFill>
                    <a:cs typeface="Arial" charset="0"/>
                  </a:rPr>
                  <a:t>Hdr</a:t>
                </a:r>
              </a:p>
            </p:txBody>
          </p:sp>
          <p:sp>
            <p:nvSpPr>
              <p:cNvPr id="24" name="Rectangle 24"/>
              <p:cNvSpPr>
                <a:spLocks noChangeArrowheads="1"/>
              </p:cNvSpPr>
              <p:nvPr/>
            </p:nvSpPr>
            <p:spPr bwMode="auto">
              <a:xfrm>
                <a:off x="2378" y="2132"/>
                <a:ext cx="1152" cy="336"/>
              </a:xfrm>
              <a:prstGeom prst="rect">
                <a:avLst/>
              </a:prstGeom>
              <a:solidFill>
                <a:srgbClr val="00808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73025" tIns="36512" rIns="73025" bIns="36512" anchor="ctr"/>
              <a:lstStyle/>
              <a:p>
                <a:pPr algn="ctr" eaLnBrk="0" hangingPunct="0"/>
                <a:r>
                  <a:rPr lang="en-US" b="1">
                    <a:solidFill>
                      <a:schemeClr val="tx2"/>
                    </a:solidFill>
                    <a:cs typeface="Arial" charset="0"/>
                  </a:rPr>
                  <a:t>Packet </a:t>
                </a:r>
                <a:r>
                  <a:rPr lang="en-US" b="1" i="1">
                    <a:solidFill>
                      <a:schemeClr val="tx2"/>
                    </a:solidFill>
                    <a:latin typeface="Times New Roman" pitchFamily="18" charset="0"/>
                    <a:cs typeface="Arial" charset="0"/>
                  </a:rPr>
                  <a:t>n</a:t>
                </a:r>
              </a:p>
            </p:txBody>
          </p:sp>
        </p:grpSp>
      </p:grpSp>
      <p:grpSp>
        <p:nvGrpSpPr>
          <p:cNvPr id="25" name="Group 25"/>
          <p:cNvGrpSpPr>
            <a:grpSpLocks/>
          </p:cNvGrpSpPr>
          <p:nvPr/>
        </p:nvGrpSpPr>
        <p:grpSpPr bwMode="auto">
          <a:xfrm>
            <a:off x="3702050" y="5741988"/>
            <a:ext cx="3937000" cy="500062"/>
            <a:chOff x="1468" y="3196"/>
            <a:chExt cx="2480" cy="315"/>
          </a:xfrm>
        </p:grpSpPr>
        <p:sp>
          <p:nvSpPr>
            <p:cNvPr id="26" name="Line 26"/>
            <p:cNvSpPr>
              <a:spLocks noChangeShapeType="1"/>
            </p:cNvSpPr>
            <p:nvPr/>
          </p:nvSpPr>
          <p:spPr bwMode="auto">
            <a:xfrm>
              <a:off x="1475" y="3203"/>
              <a:ext cx="2473" cy="299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" name="Line 27"/>
            <p:cNvSpPr>
              <a:spLocks noChangeShapeType="1"/>
            </p:cNvSpPr>
            <p:nvPr/>
          </p:nvSpPr>
          <p:spPr bwMode="auto">
            <a:xfrm flipV="1">
              <a:off x="1468" y="3196"/>
              <a:ext cx="2480" cy="315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275546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altLang="ko-KR" dirty="0">
                <a:ea typeface="굴림" pitchFamily="50" charset="-128"/>
              </a:rPr>
              <a:t>Refers to a process of delivering fresh encryption and integrity keys (MIC Keys) to the stations and Aps.</a:t>
            </a:r>
          </a:p>
          <a:p>
            <a:endParaRPr lang="en-US" altLang="ko-KR" dirty="0">
              <a:ea typeface="굴림" pitchFamily="50" charset="-128"/>
            </a:endParaRPr>
          </a:p>
          <a:p>
            <a:r>
              <a:rPr lang="en-US" dirty="0"/>
              <a:t>WPA Key hierarchy consists of a master key and session keys</a:t>
            </a:r>
          </a:p>
          <a:p>
            <a:pPr lvl="3"/>
            <a:endParaRPr lang="en-US" dirty="0"/>
          </a:p>
          <a:p>
            <a:pPr lvl="1"/>
            <a:r>
              <a:rPr lang="en-US" dirty="0"/>
              <a:t>Master key, called the</a:t>
            </a:r>
            <a:r>
              <a:rPr lang="en-US" b="1" dirty="0"/>
              <a:t> Pairwise Master Key </a:t>
            </a:r>
            <a:r>
              <a:rPr lang="en-US" dirty="0"/>
              <a:t>(PMK), is derived from either an 802.1X key exchange or from the passphrase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Session keys, collectively called the </a:t>
            </a:r>
            <a:r>
              <a:rPr lang="en-US" b="1" dirty="0"/>
              <a:t>Pairwise Transient Key</a:t>
            </a:r>
            <a:r>
              <a:rPr lang="en-US" dirty="0"/>
              <a:t> (PTK), are derived from the master key</a:t>
            </a:r>
          </a:p>
          <a:p>
            <a:endParaRPr lang="en-US" dirty="0"/>
          </a:p>
          <a:p>
            <a:endParaRPr lang="en-US" altLang="ko-KR" dirty="0">
              <a:ea typeface="굴림" pitchFamily="50" charset="-128"/>
            </a:endParaRP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TKIP Re-Key Mechanism</a:t>
            </a:r>
          </a:p>
        </p:txBody>
      </p:sp>
    </p:spTree>
    <p:extLst>
      <p:ext uri="{BB962C8B-B14F-4D97-AF65-F5344CB8AC3E}">
        <p14:creationId xmlns:p14="http://schemas.microsoft.com/office/powerpoint/2010/main" val="33982196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 err="1"/>
              <a:t>Pairwise</a:t>
            </a:r>
            <a:r>
              <a:rPr lang="fr-BE" dirty="0"/>
              <a:t> Master Key (PMK) Construction</a:t>
            </a:r>
            <a:endParaRPr lang="en-US" dirty="0"/>
          </a:p>
        </p:txBody>
      </p:sp>
      <p:grpSp>
        <p:nvGrpSpPr>
          <p:cNvPr id="23" name="Group 22"/>
          <p:cNvGrpSpPr/>
          <p:nvPr/>
        </p:nvGrpSpPr>
        <p:grpSpPr>
          <a:xfrm>
            <a:off x="566928" y="2745930"/>
            <a:ext cx="10777848" cy="3712285"/>
            <a:chOff x="566927" y="2745930"/>
            <a:chExt cx="10777848" cy="3712285"/>
          </a:xfrm>
          <a:solidFill>
            <a:schemeClr val="bg2">
              <a:lumMod val="85000"/>
            </a:schemeClr>
          </a:solidFill>
        </p:grpSpPr>
        <p:sp>
          <p:nvSpPr>
            <p:cNvPr id="24" name="Rectangle 23"/>
            <p:cNvSpPr/>
            <p:nvPr/>
          </p:nvSpPr>
          <p:spPr>
            <a:xfrm>
              <a:off x="566928" y="2745930"/>
              <a:ext cx="1920695" cy="648072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Passphrase</a:t>
              </a: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2781216" y="2745930"/>
              <a:ext cx="1920695" cy="648072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SSID</a:t>
              </a: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4995504" y="2745930"/>
              <a:ext cx="1920695" cy="648072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SSID Length</a:t>
              </a: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7209792" y="2745930"/>
              <a:ext cx="1920695" cy="648072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Number of iteration: 4096</a:t>
              </a:r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424080" y="2745930"/>
              <a:ext cx="1920695" cy="648072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</a:rPr>
                <a:t>Length of  the result key: 256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9" name="Rectangle 28"/>
            <p:cNvSpPr/>
            <p:nvPr/>
          </p:nvSpPr>
          <p:spPr>
            <a:xfrm>
              <a:off x="566927" y="4214174"/>
              <a:ext cx="10777848" cy="648072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(Password-Based Key Derivation Function 2 (PBKDF2)</a:t>
              </a: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4446590" y="5810143"/>
              <a:ext cx="3018519" cy="648072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BE" dirty="0" err="1">
                  <a:solidFill>
                    <a:schemeClr val="tx1"/>
                  </a:solidFill>
                </a:rPr>
                <a:t>Pairwise</a:t>
              </a:r>
              <a:r>
                <a:rPr lang="fr-BE" dirty="0">
                  <a:solidFill>
                    <a:schemeClr val="tx1"/>
                  </a:solidFill>
                </a:rPr>
                <a:t> Master Key (PMK)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1" name="Down Arrow 30"/>
            <p:cNvSpPr/>
            <p:nvPr/>
          </p:nvSpPr>
          <p:spPr>
            <a:xfrm>
              <a:off x="1371158" y="3503005"/>
              <a:ext cx="312234" cy="602166"/>
            </a:xfrm>
            <a:prstGeom prst="downArrow">
              <a:avLst/>
            </a:prstGeom>
            <a:grpFill/>
            <a:ln w="3810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2" name="Down Arrow 31"/>
            <p:cNvSpPr/>
            <p:nvPr/>
          </p:nvSpPr>
          <p:spPr>
            <a:xfrm>
              <a:off x="3585446" y="3503005"/>
              <a:ext cx="312234" cy="602166"/>
            </a:xfrm>
            <a:prstGeom prst="downArrow">
              <a:avLst/>
            </a:prstGeom>
            <a:grpFill/>
            <a:ln w="3810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3" name="Down Arrow 32"/>
            <p:cNvSpPr/>
            <p:nvPr/>
          </p:nvSpPr>
          <p:spPr>
            <a:xfrm>
              <a:off x="5799733" y="3503005"/>
              <a:ext cx="312234" cy="602166"/>
            </a:xfrm>
            <a:prstGeom prst="downArrow">
              <a:avLst/>
            </a:prstGeom>
            <a:grpFill/>
            <a:ln w="3810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4" name="Down Arrow 33"/>
            <p:cNvSpPr/>
            <p:nvPr/>
          </p:nvSpPr>
          <p:spPr>
            <a:xfrm>
              <a:off x="8014022" y="3503005"/>
              <a:ext cx="312234" cy="602166"/>
            </a:xfrm>
            <a:prstGeom prst="downArrow">
              <a:avLst/>
            </a:prstGeom>
            <a:grpFill/>
            <a:ln w="3810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5" name="Down Arrow 34"/>
            <p:cNvSpPr/>
            <p:nvPr/>
          </p:nvSpPr>
          <p:spPr>
            <a:xfrm>
              <a:off x="10228310" y="3510271"/>
              <a:ext cx="312234" cy="602166"/>
            </a:xfrm>
            <a:prstGeom prst="downArrow">
              <a:avLst/>
            </a:prstGeom>
            <a:grpFill/>
            <a:ln w="3810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6" name="Down Arrow 35"/>
            <p:cNvSpPr/>
            <p:nvPr/>
          </p:nvSpPr>
          <p:spPr>
            <a:xfrm>
              <a:off x="5799733" y="4989666"/>
              <a:ext cx="312234" cy="602166"/>
            </a:xfrm>
            <a:prstGeom prst="downArrow">
              <a:avLst/>
            </a:prstGeom>
            <a:grpFill/>
            <a:ln w="3810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411935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 err="1"/>
              <a:t>Pairwise</a:t>
            </a:r>
            <a:r>
              <a:rPr lang="fr-BE" dirty="0"/>
              <a:t> </a:t>
            </a:r>
            <a:r>
              <a:rPr lang="fr-BE" dirty="0" err="1"/>
              <a:t>Transient</a:t>
            </a:r>
            <a:r>
              <a:rPr lang="fr-BE" dirty="0"/>
              <a:t> Key (PTK) Construction</a:t>
            </a:r>
            <a:endParaRPr lang="en-US" dirty="0"/>
          </a:p>
        </p:txBody>
      </p:sp>
      <p:grpSp>
        <p:nvGrpSpPr>
          <p:cNvPr id="4" name="Group 3"/>
          <p:cNvGrpSpPr/>
          <p:nvPr/>
        </p:nvGrpSpPr>
        <p:grpSpPr>
          <a:xfrm>
            <a:off x="566927" y="2745930"/>
            <a:ext cx="10777848" cy="3584560"/>
            <a:chOff x="566927" y="2745930"/>
            <a:chExt cx="10777848" cy="3584560"/>
          </a:xfrm>
          <a:solidFill>
            <a:schemeClr val="bg2">
              <a:lumMod val="85000"/>
            </a:schemeClr>
          </a:solidFill>
        </p:grpSpPr>
        <p:sp>
          <p:nvSpPr>
            <p:cNvPr id="5" name="Rectangle 4"/>
            <p:cNvSpPr/>
            <p:nvPr/>
          </p:nvSpPr>
          <p:spPr>
            <a:xfrm>
              <a:off x="566928" y="2745930"/>
              <a:ext cx="1920695" cy="648072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PMK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2781216" y="2745930"/>
              <a:ext cx="1920695" cy="648072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>
                  <a:solidFill>
                    <a:schemeClr val="tx1"/>
                  </a:solidFill>
                </a:rPr>
                <a:t>ANonce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4995504" y="2745930"/>
              <a:ext cx="1920695" cy="648072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>
                  <a:solidFill>
                    <a:schemeClr val="tx1"/>
                  </a:solidFill>
                </a:rPr>
                <a:t>SNonce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7209792" y="2745930"/>
              <a:ext cx="1920695" cy="648072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STA MAC Address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9424080" y="2745930"/>
              <a:ext cx="1920695" cy="648072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</a:rPr>
                <a:t>AP MAC Address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566927" y="4214174"/>
              <a:ext cx="10777848" cy="648072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HASH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290473" y="5682418"/>
              <a:ext cx="3330753" cy="648072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Pairwise Transient Key (PTK) </a:t>
              </a:r>
            </a:p>
          </p:txBody>
        </p:sp>
        <p:sp>
          <p:nvSpPr>
            <p:cNvPr id="12" name="Down Arrow 11"/>
            <p:cNvSpPr/>
            <p:nvPr/>
          </p:nvSpPr>
          <p:spPr>
            <a:xfrm>
              <a:off x="1371158" y="3503005"/>
              <a:ext cx="312234" cy="602166"/>
            </a:xfrm>
            <a:prstGeom prst="downArrow">
              <a:avLst/>
            </a:prstGeom>
            <a:grpFill/>
            <a:ln w="3810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3" name="Down Arrow 12"/>
            <p:cNvSpPr/>
            <p:nvPr/>
          </p:nvSpPr>
          <p:spPr>
            <a:xfrm>
              <a:off x="3585446" y="3503005"/>
              <a:ext cx="312234" cy="602166"/>
            </a:xfrm>
            <a:prstGeom prst="downArrow">
              <a:avLst/>
            </a:prstGeom>
            <a:grpFill/>
            <a:ln w="3810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4" name="Down Arrow 13"/>
            <p:cNvSpPr/>
            <p:nvPr/>
          </p:nvSpPr>
          <p:spPr>
            <a:xfrm>
              <a:off x="5799733" y="3503005"/>
              <a:ext cx="312234" cy="602166"/>
            </a:xfrm>
            <a:prstGeom prst="downArrow">
              <a:avLst/>
            </a:prstGeom>
            <a:grpFill/>
            <a:ln w="3810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5" name="Down Arrow 14"/>
            <p:cNvSpPr/>
            <p:nvPr/>
          </p:nvSpPr>
          <p:spPr>
            <a:xfrm>
              <a:off x="8014022" y="3503005"/>
              <a:ext cx="312234" cy="602166"/>
            </a:xfrm>
            <a:prstGeom prst="downArrow">
              <a:avLst/>
            </a:prstGeom>
            <a:grpFill/>
            <a:ln w="3810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6" name="Down Arrow 15"/>
            <p:cNvSpPr/>
            <p:nvPr/>
          </p:nvSpPr>
          <p:spPr>
            <a:xfrm>
              <a:off x="10228310" y="3510271"/>
              <a:ext cx="312234" cy="602166"/>
            </a:xfrm>
            <a:prstGeom prst="downArrow">
              <a:avLst/>
            </a:prstGeom>
            <a:grpFill/>
            <a:ln w="3810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7" name="Down Arrow 16"/>
            <p:cNvSpPr/>
            <p:nvPr/>
          </p:nvSpPr>
          <p:spPr>
            <a:xfrm>
              <a:off x="5799733" y="4989666"/>
              <a:ext cx="312234" cy="602166"/>
            </a:xfrm>
            <a:prstGeom prst="downArrow">
              <a:avLst/>
            </a:prstGeom>
            <a:grpFill/>
            <a:ln w="3810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02456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>
          <a:xfrm>
            <a:off x="566928" y="2185416"/>
            <a:ext cx="10515600" cy="1706360"/>
          </a:xfrm>
        </p:spPr>
        <p:txBody>
          <a:bodyPr/>
          <a:lstStyle/>
          <a:p>
            <a:r>
              <a:rPr lang="en-US" b="1" dirty="0"/>
              <a:t>WEP</a:t>
            </a:r>
            <a:r>
              <a:rPr lang="en-US" dirty="0"/>
              <a:t> constructs a per-packet key by simply concatenating a base-key and the IV</a:t>
            </a:r>
          </a:p>
          <a:p>
            <a:r>
              <a:rPr lang="en-US" b="1" dirty="0"/>
              <a:t>TKIP</a:t>
            </a:r>
            <a:r>
              <a:rPr lang="en-US" dirty="0"/>
              <a:t> constructs a per-packet key by going through 2 key mixing phases</a:t>
            </a:r>
          </a:p>
          <a:p>
            <a:pPr lvl="1"/>
            <a:r>
              <a:rPr lang="en-US" dirty="0"/>
              <a:t>The mixing phases make difficult for an attacker to correlate IVs and per-packet key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TKIP: </a:t>
            </a:r>
            <a:r>
              <a:rPr lang="en-US" dirty="0"/>
              <a:t>Per-Packet Key Mixing</a:t>
            </a:r>
          </a:p>
        </p:txBody>
      </p:sp>
      <p:grpSp>
        <p:nvGrpSpPr>
          <p:cNvPr id="49" name="Group 48"/>
          <p:cNvGrpSpPr/>
          <p:nvPr/>
        </p:nvGrpSpPr>
        <p:grpSpPr>
          <a:xfrm>
            <a:off x="803824" y="4096929"/>
            <a:ext cx="10041808" cy="2287336"/>
            <a:chOff x="797180" y="4265261"/>
            <a:chExt cx="10041808" cy="2287336"/>
          </a:xfrm>
        </p:grpSpPr>
        <p:sp>
          <p:nvSpPr>
            <p:cNvPr id="35" name="Text Box 4"/>
            <p:cNvSpPr txBox="1">
              <a:spLocks noChangeArrowheads="1"/>
            </p:cNvSpPr>
            <p:nvPr/>
          </p:nvSpPr>
          <p:spPr bwMode="auto">
            <a:xfrm>
              <a:off x="3314882" y="4265261"/>
              <a:ext cx="1703166" cy="1323439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ko-KR" sz="3200">
                  <a:latin typeface="Arial" panose="020B0604020202020204" pitchFamily="34" charset="0"/>
                  <a:ea typeface="굴림" pitchFamily="50" charset="-128"/>
                  <a:cs typeface="Arial" panose="020B0604020202020204" pitchFamily="34" charset="0"/>
                </a:rPr>
                <a:t>Phase 1</a:t>
              </a:r>
            </a:p>
            <a:p>
              <a:pPr eaLnBrk="1" hangingPunct="1">
                <a:spcBef>
                  <a:spcPct val="50000"/>
                </a:spcBef>
              </a:pPr>
              <a:endParaRPr lang="en-US" altLang="en-US" sz="3200">
                <a:latin typeface="Arial" panose="020B0604020202020204" pitchFamily="34" charset="0"/>
                <a:ea typeface="굴림" pitchFamily="50" charset="-128"/>
                <a:cs typeface="Arial" panose="020B0604020202020204" pitchFamily="34" charset="0"/>
              </a:endParaRPr>
            </a:p>
          </p:txBody>
        </p:sp>
        <p:sp>
          <p:nvSpPr>
            <p:cNvPr id="36" name="Text Box 5"/>
            <p:cNvSpPr txBox="1">
              <a:spLocks noChangeArrowheads="1"/>
            </p:cNvSpPr>
            <p:nvPr/>
          </p:nvSpPr>
          <p:spPr bwMode="auto">
            <a:xfrm>
              <a:off x="6686827" y="5229158"/>
              <a:ext cx="1723192" cy="1323439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ko-KR" sz="3200" dirty="0">
                  <a:latin typeface="Arial" panose="020B0604020202020204" pitchFamily="34" charset="0"/>
                  <a:ea typeface="굴림" pitchFamily="50" charset="-128"/>
                  <a:cs typeface="Arial" panose="020B0604020202020204" pitchFamily="34" charset="0"/>
                </a:rPr>
                <a:t>Phase 2</a:t>
              </a:r>
            </a:p>
            <a:p>
              <a:pPr eaLnBrk="1" hangingPunct="1">
                <a:spcBef>
                  <a:spcPct val="50000"/>
                </a:spcBef>
              </a:pPr>
              <a:endParaRPr lang="en-US" altLang="en-US" sz="3200" dirty="0">
                <a:latin typeface="Arial" panose="020B0604020202020204" pitchFamily="34" charset="0"/>
                <a:ea typeface="굴림" pitchFamily="50" charset="-128"/>
                <a:cs typeface="Arial" panose="020B0604020202020204" pitchFamily="34" charset="0"/>
              </a:endParaRPr>
            </a:p>
          </p:txBody>
        </p:sp>
        <p:sp>
          <p:nvSpPr>
            <p:cNvPr id="37" name="Text Box 6"/>
            <p:cNvSpPr txBox="1">
              <a:spLocks noChangeArrowheads="1"/>
            </p:cNvSpPr>
            <p:nvPr/>
          </p:nvSpPr>
          <p:spPr bwMode="auto">
            <a:xfrm>
              <a:off x="797180" y="4327320"/>
              <a:ext cx="1647607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eaLnBrk="1" hangingPunct="1"/>
              <a:r>
                <a:rPr lang="en-US" altLang="ko-KR" dirty="0">
                  <a:latin typeface="Arial" panose="020B0604020202020204" pitchFamily="34" charset="0"/>
                  <a:ea typeface="굴림" pitchFamily="50" charset="-128"/>
                  <a:cs typeface="Arial" panose="020B0604020202020204" pitchFamily="34" charset="0"/>
                </a:rPr>
                <a:t>Temporal Key</a:t>
              </a:r>
              <a:endParaRPr lang="en-US" altLang="en-US" dirty="0">
                <a:latin typeface="Arial" panose="020B0604020202020204" pitchFamily="34" charset="0"/>
                <a:ea typeface="굴림" pitchFamily="50" charset="-128"/>
                <a:cs typeface="Arial" panose="020B0604020202020204" pitchFamily="34" charset="0"/>
              </a:endParaRPr>
            </a:p>
          </p:txBody>
        </p:sp>
        <p:sp>
          <p:nvSpPr>
            <p:cNvPr id="38" name="Text Box 7"/>
            <p:cNvSpPr txBox="1">
              <a:spLocks noChangeArrowheads="1"/>
            </p:cNvSpPr>
            <p:nvPr/>
          </p:nvSpPr>
          <p:spPr bwMode="auto">
            <a:xfrm>
              <a:off x="1582181" y="4943755"/>
              <a:ext cx="1262971" cy="2968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ko-KR" dirty="0">
                  <a:latin typeface="Arial" panose="020B0604020202020204" pitchFamily="34" charset="0"/>
                  <a:ea typeface="굴림" pitchFamily="50" charset="-128"/>
                  <a:cs typeface="Arial" panose="020B0604020202020204" pitchFamily="34" charset="0"/>
                </a:rPr>
                <a:t>MAC </a:t>
              </a:r>
              <a:r>
                <a:rPr lang="en-US" altLang="ko-KR" dirty="0" err="1">
                  <a:latin typeface="Arial" panose="020B0604020202020204" pitchFamily="34" charset="0"/>
                  <a:ea typeface="굴림" pitchFamily="50" charset="-128"/>
                  <a:cs typeface="Arial" panose="020B0604020202020204" pitchFamily="34" charset="0"/>
                </a:rPr>
                <a:t>Addr</a:t>
              </a:r>
              <a:endParaRPr lang="en-US" altLang="en-US" dirty="0">
                <a:latin typeface="Arial" panose="020B0604020202020204" pitchFamily="34" charset="0"/>
                <a:ea typeface="굴림" pitchFamily="50" charset="-128"/>
                <a:cs typeface="Arial" panose="020B0604020202020204" pitchFamily="34" charset="0"/>
              </a:endParaRPr>
            </a:p>
          </p:txBody>
        </p:sp>
        <p:sp>
          <p:nvSpPr>
            <p:cNvPr id="39" name="Line 8"/>
            <p:cNvSpPr>
              <a:spLocks noChangeShapeType="1"/>
            </p:cNvSpPr>
            <p:nvPr/>
          </p:nvSpPr>
          <p:spPr bwMode="auto">
            <a:xfrm>
              <a:off x="2493951" y="4511986"/>
              <a:ext cx="82093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Line 9"/>
            <p:cNvSpPr>
              <a:spLocks noChangeShapeType="1"/>
            </p:cNvSpPr>
            <p:nvPr/>
          </p:nvSpPr>
          <p:spPr bwMode="auto">
            <a:xfrm>
              <a:off x="2809693" y="5128799"/>
              <a:ext cx="5051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Text Box 10"/>
            <p:cNvSpPr txBox="1">
              <a:spLocks noChangeArrowheads="1"/>
            </p:cNvSpPr>
            <p:nvPr/>
          </p:nvSpPr>
          <p:spPr bwMode="auto">
            <a:xfrm>
              <a:off x="5398782" y="4418629"/>
              <a:ext cx="1961022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ko-KR" dirty="0">
                  <a:latin typeface="Arial" panose="020B0604020202020204" pitchFamily="34" charset="0"/>
                  <a:ea typeface="굴림" pitchFamily="50" charset="-128"/>
                  <a:cs typeface="Arial" panose="020B0604020202020204" pitchFamily="34" charset="0"/>
                </a:rPr>
                <a:t>Intermediate Key</a:t>
              </a:r>
              <a:endParaRPr lang="en-US" altLang="en-US" dirty="0">
                <a:latin typeface="Arial" panose="020B0604020202020204" pitchFamily="34" charset="0"/>
                <a:ea typeface="굴림" pitchFamily="50" charset="-128"/>
                <a:cs typeface="Arial" panose="020B0604020202020204" pitchFamily="34" charset="0"/>
              </a:endParaRPr>
            </a:p>
          </p:txBody>
        </p:sp>
        <p:sp>
          <p:nvSpPr>
            <p:cNvPr id="42" name="Line 11"/>
            <p:cNvSpPr>
              <a:spLocks noChangeShapeType="1"/>
            </p:cNvSpPr>
            <p:nvPr/>
          </p:nvSpPr>
          <p:spPr bwMode="auto">
            <a:xfrm>
              <a:off x="5018047" y="4573668"/>
              <a:ext cx="38073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Line 12"/>
            <p:cNvSpPr>
              <a:spLocks noChangeShapeType="1"/>
            </p:cNvSpPr>
            <p:nvPr/>
          </p:nvSpPr>
          <p:spPr bwMode="auto">
            <a:xfrm>
              <a:off x="6118490" y="4817950"/>
              <a:ext cx="0" cy="78129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Line 13"/>
            <p:cNvSpPr>
              <a:spLocks noChangeShapeType="1"/>
            </p:cNvSpPr>
            <p:nvPr/>
          </p:nvSpPr>
          <p:spPr bwMode="auto">
            <a:xfrm>
              <a:off x="6118490" y="5599246"/>
              <a:ext cx="56833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Text Box 14"/>
            <p:cNvSpPr txBox="1">
              <a:spLocks noChangeArrowheads="1"/>
            </p:cNvSpPr>
            <p:nvPr/>
          </p:nvSpPr>
          <p:spPr bwMode="auto">
            <a:xfrm>
              <a:off x="3546088" y="5758172"/>
              <a:ext cx="2130363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ko-KR" dirty="0">
                  <a:latin typeface="Arial" panose="020B0604020202020204" pitchFamily="34" charset="0"/>
                  <a:ea typeface="굴림" pitchFamily="50" charset="-128"/>
                  <a:cs typeface="Arial" panose="020B0604020202020204" pitchFamily="34" charset="0"/>
                </a:rPr>
                <a:t>Sequence Number</a:t>
              </a:r>
              <a:endParaRPr lang="en-US" altLang="en-US" dirty="0">
                <a:latin typeface="Arial" panose="020B0604020202020204" pitchFamily="34" charset="0"/>
                <a:ea typeface="굴림" pitchFamily="50" charset="-128"/>
                <a:cs typeface="Arial" panose="020B0604020202020204" pitchFamily="34" charset="0"/>
              </a:endParaRPr>
            </a:p>
          </p:txBody>
        </p:sp>
        <p:sp>
          <p:nvSpPr>
            <p:cNvPr id="46" name="Line 15"/>
            <p:cNvSpPr>
              <a:spLocks noChangeShapeType="1"/>
            </p:cNvSpPr>
            <p:nvPr/>
          </p:nvSpPr>
          <p:spPr bwMode="auto">
            <a:xfrm>
              <a:off x="5676450" y="5907653"/>
              <a:ext cx="101037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Text Box 16"/>
            <p:cNvSpPr txBox="1">
              <a:spLocks noChangeArrowheads="1"/>
            </p:cNvSpPr>
            <p:nvPr/>
          </p:nvSpPr>
          <p:spPr bwMode="auto">
            <a:xfrm>
              <a:off x="9023818" y="5599246"/>
              <a:ext cx="1815170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ko-KR" b="1" dirty="0">
                  <a:solidFill>
                    <a:srgbClr val="FF0000"/>
                  </a:solidFill>
                  <a:latin typeface="Arial" panose="020B0604020202020204" pitchFamily="34" charset="0"/>
                  <a:ea typeface="굴림" pitchFamily="50" charset="-128"/>
                  <a:cs typeface="Arial" panose="020B0604020202020204" pitchFamily="34" charset="0"/>
                </a:rPr>
                <a:t>Per-packet key</a:t>
              </a:r>
              <a:endParaRPr lang="en-US" altLang="en-US" b="1" dirty="0">
                <a:solidFill>
                  <a:srgbClr val="FF0000"/>
                </a:solidFill>
                <a:latin typeface="Arial" panose="020B0604020202020204" pitchFamily="34" charset="0"/>
                <a:ea typeface="굴림" pitchFamily="50" charset="-128"/>
                <a:cs typeface="Arial" panose="020B0604020202020204" pitchFamily="34" charset="0"/>
              </a:endParaRPr>
            </a:p>
          </p:txBody>
        </p:sp>
        <p:sp>
          <p:nvSpPr>
            <p:cNvPr id="48" name="Line 17"/>
            <p:cNvSpPr>
              <a:spLocks noChangeShapeType="1"/>
            </p:cNvSpPr>
            <p:nvPr/>
          </p:nvSpPr>
          <p:spPr bwMode="auto">
            <a:xfrm>
              <a:off x="8440077" y="5784290"/>
              <a:ext cx="58374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4376676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TKIP Encryption Process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15A294D5-4423-4032-87C8-F8151EC670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471" y="1888595"/>
            <a:ext cx="8970444" cy="4817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44275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TKIP Decryption Process</a:t>
            </a:r>
            <a:endParaRPr lang="en-US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7A9D84F9-E4B4-48AB-A044-5709C36C63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8191" y="1925170"/>
            <a:ext cx="9035663" cy="4723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56229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TKIP appears to provide weak but genuine security</a:t>
            </a:r>
          </a:p>
          <a:p>
            <a:pPr lvl="1"/>
            <a:r>
              <a:rPr lang="en-US" dirty="0"/>
              <a:t>External review by Ron </a:t>
            </a:r>
            <a:r>
              <a:rPr lang="en-US" dirty="0" err="1"/>
              <a:t>Rivest</a:t>
            </a:r>
            <a:r>
              <a:rPr lang="en-US" dirty="0"/>
              <a:t>, David Wagner, John Kelsey, Susan Langford, and others</a:t>
            </a:r>
          </a:p>
          <a:p>
            <a:r>
              <a:rPr lang="en-US" dirty="0"/>
              <a:t>TKIP meets goal of software deployment on almost all existing equipment</a:t>
            </a:r>
          </a:p>
          <a:p>
            <a:pPr lvl="1"/>
            <a:r>
              <a:rPr lang="en-US" dirty="0"/>
              <a:t>Does not appear to  significantly degrade performance over WEP</a:t>
            </a:r>
          </a:p>
          <a:p>
            <a:pPr lvl="1"/>
            <a:r>
              <a:rPr lang="en-US" dirty="0"/>
              <a:t>Meets market’s requirement for a migration path based on pre-existing installed base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TKIP Summary</a:t>
            </a:r>
          </a:p>
        </p:txBody>
      </p:sp>
    </p:spTree>
    <p:extLst>
      <p:ext uri="{BB962C8B-B14F-4D97-AF65-F5344CB8AC3E}">
        <p14:creationId xmlns:p14="http://schemas.microsoft.com/office/powerpoint/2010/main" val="32420115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b="1" dirty="0"/>
              <a:t>Pre-Shared Key Mode</a:t>
            </a:r>
          </a:p>
          <a:p>
            <a:pPr lvl="1"/>
            <a:r>
              <a:rPr lang="en-US" dirty="0"/>
              <a:t>No RADIUS server required</a:t>
            </a:r>
          </a:p>
          <a:p>
            <a:pPr lvl="1"/>
            <a:r>
              <a:rPr lang="en-US" dirty="0"/>
              <a:t>“Shared Secret” is used for authentication to access point</a:t>
            </a:r>
          </a:p>
          <a:p>
            <a:pPr lvl="1"/>
            <a:r>
              <a:rPr lang="en-US" dirty="0"/>
              <a:t>Management is handled on the AP</a:t>
            </a:r>
          </a:p>
          <a:p>
            <a:pPr lvl="1"/>
            <a:r>
              <a:rPr lang="en-US" dirty="0"/>
              <a:t>Vulnerable to dictionary attacks</a:t>
            </a:r>
          </a:p>
          <a:p>
            <a:endParaRPr lang="en-US" dirty="0"/>
          </a:p>
          <a:p>
            <a:r>
              <a:rPr lang="en-US" b="1" dirty="0"/>
              <a:t>Enterprise Mode</a:t>
            </a:r>
          </a:p>
          <a:p>
            <a:pPr lvl="1"/>
            <a:r>
              <a:rPr lang="en-US" dirty="0"/>
              <a:t>Requires an authentication server</a:t>
            </a:r>
          </a:p>
          <a:p>
            <a:pPr lvl="1"/>
            <a:r>
              <a:rPr lang="en-US" dirty="0"/>
              <a:t>Uses RADIUS protocols for authentication and key distribution</a:t>
            </a:r>
          </a:p>
          <a:p>
            <a:pPr lvl="1"/>
            <a:r>
              <a:rPr lang="en-US" dirty="0"/>
              <a:t>Centralizes management of user credentials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Negotiate a Passphrase and PTK?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15931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For home / SOHO use</a:t>
            </a:r>
          </a:p>
          <a:p>
            <a:pPr lvl="1"/>
            <a:r>
              <a:rPr lang="en-US" dirty="0"/>
              <a:t>Significantly increases the effort required to allow passive monitoring and decrypting of traffic</a:t>
            </a:r>
          </a:p>
          <a:p>
            <a:r>
              <a:rPr lang="en-US" dirty="0"/>
              <a:t>Adopts </a:t>
            </a:r>
            <a:r>
              <a:rPr lang="en-US" b="1" dirty="0"/>
              <a:t>4-Way Handshake Authentication</a:t>
            </a:r>
          </a:p>
          <a:p>
            <a:pPr lvl="1"/>
            <a:r>
              <a:rPr lang="en-US" dirty="0"/>
              <a:t>Also generates the secret session keys (PTK)</a:t>
            </a:r>
          </a:p>
          <a:p>
            <a:r>
              <a:rPr lang="en-US" dirty="0"/>
              <a:t>Pre-shared Key + TKIP</a:t>
            </a:r>
          </a:p>
          <a:p>
            <a:pPr lvl="1"/>
            <a:r>
              <a:rPr lang="en-US" dirty="0"/>
              <a:t>No standardized way of changing shared secret</a:t>
            </a:r>
          </a:p>
          <a:p>
            <a:pPr lvl="1"/>
            <a:r>
              <a:rPr lang="en-US" dirty="0"/>
              <a:t>If shared secret becomes known, network security may be compromised</a:t>
            </a:r>
          </a:p>
          <a:p>
            <a:r>
              <a:rPr lang="en-US" dirty="0"/>
              <a:t>Weak against passive dictionary attack</a:t>
            </a:r>
          </a:p>
          <a:p>
            <a:pPr lvl="1"/>
            <a:r>
              <a:rPr lang="en-US" dirty="0"/>
              <a:t>The more complex the shared secret, the less likely it will fall to dictionary attacks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>
                <a:ea typeface="ＭＳ Ｐゴシック" charset="-128"/>
              </a:rPr>
              <a:t>WPA-PSK Overview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32851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Role of 4-Way Handshake:  Authentication and Key Exchange</a:t>
            </a:r>
          </a:p>
        </p:txBody>
      </p:sp>
      <p:pic>
        <p:nvPicPr>
          <p:cNvPr id="4" name="Picture 2" descr="https://mrncciew.files.wordpress.com/2014/08/cwsp-4-way-07.png?w=529&amp;h=34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4956" y="2185166"/>
            <a:ext cx="6367001" cy="41764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080411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PSK: 4-Way </a:t>
            </a:r>
            <a:r>
              <a:rPr lang="fr-BE" dirty="0" err="1"/>
              <a:t>Handshake</a:t>
            </a:r>
            <a:r>
              <a:rPr lang="fr-BE" dirty="0"/>
              <a:t> </a:t>
            </a:r>
            <a:r>
              <a:rPr lang="en-US" dirty="0"/>
              <a:t>Authentication</a:t>
            </a:r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85334" y="1975160"/>
            <a:ext cx="5878788" cy="47601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0791277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4-way handshake protected with PTK</a:t>
            </a:r>
          </a:p>
          <a:p>
            <a:endParaRPr lang="en-US" dirty="0"/>
          </a:p>
          <a:p>
            <a:pPr>
              <a:defRPr/>
            </a:pPr>
            <a:r>
              <a:rPr lang="hr-HR" dirty="0"/>
              <a:t>The strenght of PTK relies on the strength of the password</a:t>
            </a:r>
            <a:endParaRPr lang="en-US" dirty="0"/>
          </a:p>
          <a:p>
            <a:pPr lvl="1">
              <a:defRPr/>
            </a:pPr>
            <a:r>
              <a:rPr lang="en-US" dirty="0"/>
              <a:t>PSK = PBKDF2 (Password, SSID, </a:t>
            </a:r>
            <a:r>
              <a:rPr lang="en-US" dirty="0" err="1"/>
              <a:t>SSIDlength</a:t>
            </a:r>
            <a:r>
              <a:rPr lang="en-US" dirty="0"/>
              <a:t>, 4096, 256)</a:t>
            </a:r>
          </a:p>
          <a:p>
            <a:pPr lvl="1">
              <a:defRPr/>
            </a:pPr>
            <a:endParaRPr lang="en-US" dirty="0"/>
          </a:p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Offline brute-force </a:t>
            </a:r>
            <a:r>
              <a:rPr lang="en-US" dirty="0">
                <a:solidFill>
                  <a:srgbClr val="FF0000"/>
                </a:solidFill>
              </a:rPr>
              <a:t>and </a:t>
            </a:r>
            <a:r>
              <a:rPr lang="en-US" b="1" dirty="0">
                <a:solidFill>
                  <a:srgbClr val="FF0000"/>
                </a:solidFill>
              </a:rPr>
              <a:t>dictionary attacks </a:t>
            </a:r>
            <a:r>
              <a:rPr lang="en-US" dirty="0"/>
              <a:t>possible</a:t>
            </a:r>
          </a:p>
          <a:p>
            <a:pPr lvl="1">
              <a:defRPr/>
            </a:pPr>
            <a:r>
              <a:rPr lang="en-US" dirty="0"/>
              <a:t>Attacker captures (records) 4-way handshake messages</a:t>
            </a:r>
          </a:p>
          <a:p>
            <a:pPr lvl="1">
              <a:defRPr/>
            </a:pPr>
            <a:r>
              <a:rPr lang="en-US" dirty="0"/>
              <a:t>Attacker performs brute-force or dictionary attacks (at home)</a:t>
            </a:r>
          </a:p>
          <a:p>
            <a:pPr>
              <a:defRPr/>
            </a:pPr>
            <a:endParaRPr lang="hr-HR" dirty="0"/>
          </a:p>
          <a:p>
            <a:pPr lvl="1">
              <a:defRPr/>
            </a:pPr>
            <a:endParaRPr lang="hr-HR" sz="2200" dirty="0"/>
          </a:p>
          <a:p>
            <a:endParaRPr lang="en-US" dirty="0"/>
          </a:p>
          <a:p>
            <a:pPr lvl="1"/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Vulnerabilities of 4-way handshake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43656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How much time it will take to crack a simple passphrase with only alphanumerical values (upper and lower case)</a:t>
            </a:r>
          </a:p>
          <a:p>
            <a:pPr lvl="1"/>
            <a:r>
              <a:rPr lang="en-US" dirty="0"/>
              <a:t>Smallest WPA passphrase: 8 characters (max 63)</a:t>
            </a:r>
          </a:p>
          <a:p>
            <a:pPr lvl="1"/>
            <a:r>
              <a:rPr lang="en-US" dirty="0"/>
              <a:t>62 possibilities per character: [A-Z][a-z][0-9]</a:t>
            </a:r>
          </a:p>
          <a:p>
            <a:pPr lvl="1"/>
            <a:r>
              <a:rPr lang="en-US" dirty="0"/>
              <a:t>62^8 = 218 340 105 584 896 possible keys</a:t>
            </a:r>
          </a:p>
          <a:p>
            <a:r>
              <a:rPr lang="en-US" dirty="0"/>
              <a:t>Using a 280GTX processor (11000 keys/sec)</a:t>
            </a:r>
          </a:p>
          <a:p>
            <a:pPr lvl="1"/>
            <a:r>
              <a:rPr lang="en-US" dirty="0"/>
              <a:t>218340105584896/11000k/s= 19 849 100 508 sec</a:t>
            </a:r>
          </a:p>
          <a:p>
            <a:pPr lvl="1"/>
            <a:r>
              <a:rPr lang="en-US" dirty="0"/>
              <a:t>19849100508 sec = 5 513 639 hours</a:t>
            </a:r>
          </a:p>
          <a:p>
            <a:pPr lvl="1"/>
            <a:r>
              <a:rPr lang="en-US" dirty="0"/>
              <a:t>5513639 hours = 229 735 days</a:t>
            </a:r>
          </a:p>
          <a:p>
            <a:pPr lvl="1"/>
            <a:r>
              <a:rPr lang="en-US" dirty="0"/>
              <a:t>229735 days = 630 years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WPA-PSK: the Brute Force Attack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54630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A bit too long for a simple passphrase </a:t>
            </a:r>
          </a:p>
          <a:p>
            <a:pPr lvl="1"/>
            <a:endParaRPr lang="en-US" dirty="0"/>
          </a:p>
          <a:p>
            <a:r>
              <a:rPr lang="en-US" dirty="0"/>
              <a:t>For a 12 character long passphrase, brute force will take 9 309 091 680 years.</a:t>
            </a:r>
          </a:p>
          <a:p>
            <a:pPr lvl="1"/>
            <a:endParaRPr lang="en-US" dirty="0"/>
          </a:p>
          <a:p>
            <a:r>
              <a:rPr lang="en-US" b="1" dirty="0"/>
              <a:t>Dictionary attack</a:t>
            </a:r>
            <a:r>
              <a:rPr lang="en-US" dirty="0"/>
              <a:t> </a:t>
            </a:r>
            <a:r>
              <a:rPr lang="en-US" altLang="zh-CN" dirty="0"/>
              <a:t>is</a:t>
            </a:r>
            <a:r>
              <a:rPr lang="en-US" dirty="0"/>
              <a:t> still the better solution.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630 Years for an 8 Character Key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7605131" y="3739643"/>
            <a:ext cx="3048000" cy="2198382"/>
            <a:chOff x="7750097" y="3159779"/>
            <a:chExt cx="3048000" cy="2198382"/>
          </a:xfrm>
        </p:grpSpPr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750097" y="3529361"/>
              <a:ext cx="3048000" cy="1828800"/>
            </a:xfrm>
            <a:prstGeom prst="rect">
              <a:avLst/>
            </a:prstGeom>
          </p:spPr>
        </p:pic>
        <p:sp>
          <p:nvSpPr>
            <p:cNvPr id="6" name="TextBox 5"/>
            <p:cNvSpPr txBox="1"/>
            <p:nvPr/>
          </p:nvSpPr>
          <p:spPr>
            <a:xfrm>
              <a:off x="8040029" y="3159779"/>
              <a:ext cx="229900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/>
                <a:t>The better solution</a:t>
              </a:r>
              <a:endParaRPr lang="en-US" sz="2000" dirty="0"/>
            </a:p>
          </p:txBody>
        </p:sp>
      </p:grpSp>
    </p:spTree>
    <p:extLst>
      <p:ext uri="{BB962C8B-B14F-4D97-AF65-F5344CB8AC3E}">
        <p14:creationId xmlns:p14="http://schemas.microsoft.com/office/powerpoint/2010/main" val="18376664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>
          <a:xfrm>
            <a:off x="566928" y="2185416"/>
            <a:ext cx="4920864" cy="3848100"/>
          </a:xfrm>
        </p:spPr>
        <p:txBody>
          <a:bodyPr/>
          <a:lstStyle/>
          <a:p>
            <a:r>
              <a:rPr lang="en-US" dirty="0"/>
              <a:t>Rainbow tables are indexed hash lists</a:t>
            </a:r>
          </a:p>
          <a:p>
            <a:pPr lvl="1"/>
            <a:r>
              <a:rPr lang="en-US" dirty="0"/>
              <a:t>Pre-hash millions of words against top SSID's </a:t>
            </a:r>
          </a:p>
          <a:p>
            <a:pPr lvl="1"/>
            <a:r>
              <a:rPr lang="en-US" dirty="0"/>
              <a:t>Required 2-3 TB of space</a:t>
            </a:r>
          </a:p>
          <a:p>
            <a:pPr lvl="1"/>
            <a:r>
              <a:rPr lang="en-US" dirty="0"/>
              <a:t>Known tables exist for up to 14 characters</a:t>
            </a:r>
          </a:p>
          <a:p>
            <a:r>
              <a:rPr lang="en-US" dirty="0"/>
              <a:t>Cracks WPA v1 and v2 with pre-shared key</a:t>
            </a:r>
          </a:p>
          <a:p>
            <a:r>
              <a:rPr lang="en-US" dirty="0"/>
              <a:t>Drastically faster checking onsite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WPA-PSK: Rainbow Table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/>
          <a:srcRect r="35909"/>
          <a:stretch/>
        </p:blipFill>
        <p:spPr>
          <a:xfrm>
            <a:off x="5679148" y="2185416"/>
            <a:ext cx="5594736" cy="3913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73601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WPA-PSK should be used with care</a:t>
            </a:r>
          </a:p>
          <a:p>
            <a:pPr lvl="1"/>
            <a:r>
              <a:rPr lang="en-US" dirty="0"/>
              <a:t>Vulnerable to external dictionary attacks, if short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Choose WPA + 802.1X</a:t>
            </a:r>
          </a:p>
          <a:p>
            <a:pPr lvl="1"/>
            <a:r>
              <a:rPr lang="en-US" dirty="0"/>
              <a:t>No effective attacks found so far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Suggestions for WPA-PSK</a:t>
            </a:r>
          </a:p>
        </p:txBody>
      </p:sp>
    </p:spTree>
    <p:extLst>
      <p:ext uri="{BB962C8B-B14F-4D97-AF65-F5344CB8AC3E}">
        <p14:creationId xmlns:p14="http://schemas.microsoft.com/office/powerpoint/2010/main" val="302290203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Authentication server distributes different keys to each user using 802.1X.</a:t>
            </a:r>
          </a:p>
          <a:p>
            <a:endParaRPr lang="en-US" dirty="0"/>
          </a:p>
          <a:p>
            <a:r>
              <a:rPr lang="en-US" dirty="0"/>
              <a:t>Provide enhanced security and authentication</a:t>
            </a:r>
          </a:p>
          <a:p>
            <a:endParaRPr lang="en-US" dirty="0"/>
          </a:p>
          <a:p>
            <a:r>
              <a:rPr lang="en-US" dirty="0"/>
              <a:t>Preferred for enterprise mode - business, government, education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WPA Enterprise Mode</a:t>
            </a:r>
          </a:p>
        </p:txBody>
      </p:sp>
    </p:spTree>
    <p:extLst>
      <p:ext uri="{BB962C8B-B14F-4D97-AF65-F5344CB8AC3E}">
        <p14:creationId xmlns:p14="http://schemas.microsoft.com/office/powerpoint/2010/main" val="278049555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802.1X is an IEEE standard for port-based network access control for LANs</a:t>
            </a:r>
          </a:p>
          <a:p>
            <a:endParaRPr lang="en-US" dirty="0"/>
          </a:p>
          <a:p>
            <a:pPr lvl="1"/>
            <a:r>
              <a:rPr lang="en-US" dirty="0"/>
              <a:t>It fulfills the security loopholes of access control, authentication and key management in the 802.11 architecture </a:t>
            </a:r>
          </a:p>
          <a:p>
            <a:endParaRPr lang="en-US" dirty="0"/>
          </a:p>
          <a:p>
            <a:pPr lvl="1"/>
            <a:r>
              <a:rPr lang="en-US" dirty="0"/>
              <a:t>The authentication is usually done by a third-party entity, such as a RADIUS (Remote Authentication Dial In User Service) server 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IEEE 802.1X</a:t>
            </a:r>
          </a:p>
        </p:txBody>
      </p:sp>
    </p:spTree>
    <p:extLst>
      <p:ext uri="{BB962C8B-B14F-4D97-AF65-F5344CB8AC3E}">
        <p14:creationId xmlns:p14="http://schemas.microsoft.com/office/powerpoint/2010/main" val="242173412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Main 802.1X components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7878" y="2538760"/>
            <a:ext cx="5463633" cy="3494756"/>
          </a:xfrm>
          <a:prstGeom prst="rect">
            <a:avLst/>
          </a:prstGeom>
        </p:spPr>
      </p:pic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Supplicant (e.g., a wireless client)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Authenticator (e.g., an Access Point)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Authentication Server (e.g., a RADIUS server)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258046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hr-HR" altLang="en-US" dirty="0"/>
              <a:t>B</a:t>
            </a:r>
            <a:r>
              <a:rPr lang="en-US" altLang="en-US" dirty="0" err="1"/>
              <a:t>ased</a:t>
            </a:r>
            <a:r>
              <a:rPr lang="en-US" altLang="en-US" dirty="0"/>
              <a:t> on </a:t>
            </a:r>
            <a:r>
              <a:rPr lang="en-US" altLang="en-US" b="1" dirty="0">
                <a:solidFill>
                  <a:srgbClr val="0070C0"/>
                </a:solidFill>
              </a:rPr>
              <a:t>EAP</a:t>
            </a:r>
            <a:r>
              <a:rPr lang="hr-HR" altLang="en-US" b="1" dirty="0">
                <a:solidFill>
                  <a:srgbClr val="0070C0"/>
                </a:solidFill>
              </a:rPr>
              <a:t> (Extensible Authentication Protocol)</a:t>
            </a:r>
            <a:r>
              <a:rPr lang="en-US" altLang="en-US" dirty="0"/>
              <a:t> and the specific authentication method agreed in the association phase.</a:t>
            </a:r>
            <a:endParaRPr lang="en-US" altLang="en-US" b="1" dirty="0">
              <a:solidFill>
                <a:srgbClr val="0070C0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>
                <a:ea typeface="ＭＳ Ｐゴシック" charset="-128"/>
              </a:rPr>
              <a:t>802.1X</a:t>
            </a:r>
            <a:r>
              <a:rPr lang="en-US" dirty="0"/>
              <a:t> Authentication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6896" y="2972196"/>
            <a:ext cx="5935663" cy="3797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1055056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>
          <a:xfrm>
            <a:off x="566928" y="2185416"/>
            <a:ext cx="6168409" cy="3848100"/>
          </a:xfrm>
        </p:spPr>
        <p:txBody>
          <a:bodyPr/>
          <a:lstStyle/>
          <a:p>
            <a:r>
              <a:rPr lang="en-US" dirty="0"/>
              <a:t>A carrier protocol designed to transport the messages of “real” authentication protocols (e.g., TLS)</a:t>
            </a:r>
          </a:p>
          <a:p>
            <a:r>
              <a:rPr lang="en-US" dirty="0"/>
              <a:t>It is a generic (flexible) authentication protocol  that can run over any link layer protocol</a:t>
            </a:r>
          </a:p>
          <a:p>
            <a:r>
              <a:rPr lang="en-US" dirty="0"/>
              <a:t>It Provides some common functions and a negotiation of the desired authentication mechanism called methods.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>
                <a:ea typeface="ＭＳ Ｐゴシック" charset="-128"/>
              </a:rPr>
              <a:t>Extensible Authentication Protocol (EAP)</a:t>
            </a:r>
            <a:endParaRPr lang="en-US" dirty="0"/>
          </a:p>
        </p:txBody>
      </p:sp>
      <p:pic>
        <p:nvPicPr>
          <p:cNvPr id="4" name="Picture 2" descr="C:\Users\hp\Desktop\Untitled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936058" y="2185416"/>
            <a:ext cx="4751644" cy="33940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76371029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EAP is very simple, only four types of messages:</a:t>
            </a:r>
          </a:p>
          <a:p>
            <a:pPr lvl="1"/>
            <a:r>
              <a:rPr lang="en-US" dirty="0"/>
              <a:t>EAP request – carries messages from AS to M</a:t>
            </a:r>
          </a:p>
          <a:p>
            <a:pPr lvl="1"/>
            <a:r>
              <a:rPr lang="en-US" dirty="0"/>
              <a:t>EAP response – carries messages from M to the AS</a:t>
            </a:r>
          </a:p>
          <a:p>
            <a:pPr lvl="1"/>
            <a:r>
              <a:rPr lang="en-US" dirty="0"/>
              <a:t>EAP success – signals successful authentication</a:t>
            </a:r>
          </a:p>
          <a:p>
            <a:pPr lvl="1"/>
            <a:r>
              <a:rPr lang="en-US" dirty="0"/>
              <a:t>EAP failure – signals authentication failure</a:t>
            </a:r>
          </a:p>
          <a:p>
            <a:r>
              <a:rPr lang="en-US" altLang="zh-CN" dirty="0"/>
              <a:t>A</a:t>
            </a:r>
            <a:r>
              <a:rPr lang="en-US" dirty="0"/>
              <a:t>uthenticator (AP) doesn’t understand what is inside the EAP messages, it recognizes only EAP success and failure</a:t>
            </a:r>
          </a:p>
          <a:p>
            <a:r>
              <a:rPr lang="en-US" dirty="0"/>
              <a:t>EAP is not an authentication method itself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>
                <a:ea typeface="ＭＳ Ｐゴシック" charset="-128"/>
              </a:rPr>
              <a:t>Extensible Authentication Protocol (EAP)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033754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>
          <a:xfrm>
            <a:off x="566928" y="2185416"/>
            <a:ext cx="10515600" cy="1360672"/>
          </a:xfrm>
        </p:spPr>
        <p:txBody>
          <a:bodyPr/>
          <a:lstStyle/>
          <a:p>
            <a:r>
              <a:rPr lang="en-US" dirty="0"/>
              <a:t>End-to-end transport between client and authentication server</a:t>
            </a:r>
          </a:p>
          <a:p>
            <a:r>
              <a:rPr lang="en-US" dirty="0"/>
              <a:t>AP proxies EAP between 802.1X and backend protocol between AP and AS (e.g. RADIUS)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>
                <a:ea typeface="ＭＳ Ｐゴシック" charset="-128"/>
              </a:rPr>
              <a:t>Extensible Authentication Protocol (EAP)</a:t>
            </a:r>
            <a:endParaRPr lang="en-US" dirty="0"/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4618038" y="4138916"/>
            <a:ext cx="1836738" cy="2473325"/>
          </a:xfrm>
          <a:prstGeom prst="rect">
            <a:avLst/>
          </a:prstGeom>
          <a:solidFill>
            <a:srgbClr val="DDDDDD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kern="0">
              <a:solidFill>
                <a:sysClr val="windowText" lastClr="000000"/>
              </a:solidFill>
              <a:latin typeface="Arial" charset="0"/>
              <a:cs typeface="Arial" charset="0"/>
            </a:endParaRPr>
          </a:p>
        </p:txBody>
      </p: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6983413" y="3700766"/>
            <a:ext cx="1863725" cy="2928937"/>
          </a:xfrm>
          <a:prstGeom prst="rect">
            <a:avLst/>
          </a:prstGeom>
          <a:solidFill>
            <a:srgbClr val="DDDDDD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kern="0">
              <a:solidFill>
                <a:sysClr val="windowText" lastClr="000000"/>
              </a:solidFill>
              <a:latin typeface="Arial" charset="0"/>
              <a:cs typeface="Arial" charset="0"/>
            </a:endParaRPr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2227263" y="3700766"/>
            <a:ext cx="1847850" cy="2928937"/>
          </a:xfrm>
          <a:prstGeom prst="rect">
            <a:avLst/>
          </a:prstGeom>
          <a:solidFill>
            <a:srgbClr val="DDDDDD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kern="0">
              <a:solidFill>
                <a:sysClr val="windowText" lastClr="000000"/>
              </a:solidFill>
              <a:latin typeface="Arial" charset="0"/>
              <a:cs typeface="Arial" charset="0"/>
            </a:endParaRPr>
          </a:p>
        </p:txBody>
      </p:sp>
      <p:sp>
        <p:nvSpPr>
          <p:cNvPr id="7" name="Rectangle 8"/>
          <p:cNvSpPr>
            <a:spLocks noChangeArrowheads="1"/>
          </p:cNvSpPr>
          <p:nvPr/>
        </p:nvSpPr>
        <p:spPr bwMode="auto">
          <a:xfrm>
            <a:off x="2349501" y="3775378"/>
            <a:ext cx="6332537" cy="265113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>
                <a:alpha val="50000"/>
              </a:srgbClr>
            </a:outerShdw>
          </a:effectLst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hu-HU" sz="1400" kern="0">
                <a:solidFill>
                  <a:sysClr val="windowText" lastClr="000000"/>
                </a:solidFill>
                <a:latin typeface="Comic Sans MS" pitchFamily="66" charset="0"/>
                <a:cs typeface="Arial" charset="0"/>
              </a:rPr>
              <a:t>EAP-TLS</a:t>
            </a:r>
            <a:endParaRPr lang="en-US" sz="1400" kern="0">
              <a:solidFill>
                <a:sysClr val="windowText" lastClr="000000"/>
              </a:solidFill>
              <a:latin typeface="Comic Sans MS" pitchFamily="66" charset="0"/>
              <a:cs typeface="Arial" charset="0"/>
            </a:endParaRPr>
          </a:p>
        </p:txBody>
      </p:sp>
      <p:sp>
        <p:nvSpPr>
          <p:cNvPr id="8" name="Rectangle 9"/>
          <p:cNvSpPr>
            <a:spLocks noChangeArrowheads="1"/>
          </p:cNvSpPr>
          <p:nvPr/>
        </p:nvSpPr>
        <p:spPr bwMode="auto">
          <a:xfrm>
            <a:off x="2349501" y="4172253"/>
            <a:ext cx="6332537" cy="265113"/>
          </a:xfrm>
          <a:prstGeom prst="rect">
            <a:avLst/>
          </a:prstGeom>
          <a:solidFill>
            <a:srgbClr val="FFC000"/>
          </a:solidFill>
          <a:ln w="19050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>
                <a:alpha val="50000"/>
              </a:srgbClr>
            </a:outerShdw>
          </a:effectLst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hu-HU" sz="1400" kern="0">
                <a:solidFill>
                  <a:sysClr val="windowText" lastClr="000000"/>
                </a:solidFill>
                <a:latin typeface="Comic Sans MS" pitchFamily="66" charset="0"/>
                <a:cs typeface="Arial" charset="0"/>
              </a:rPr>
              <a:t>EAP</a:t>
            </a:r>
            <a:endParaRPr lang="en-US" sz="1400" kern="0">
              <a:solidFill>
                <a:sysClr val="windowText" lastClr="000000"/>
              </a:solidFill>
              <a:latin typeface="Comic Sans MS" pitchFamily="66" charset="0"/>
              <a:cs typeface="Arial" charset="0"/>
            </a:endParaRPr>
          </a:p>
        </p:txBody>
      </p:sp>
      <p:sp>
        <p:nvSpPr>
          <p:cNvPr id="9" name="Rectangle 10"/>
          <p:cNvSpPr>
            <a:spLocks noChangeArrowheads="1"/>
          </p:cNvSpPr>
          <p:nvPr/>
        </p:nvSpPr>
        <p:spPr bwMode="auto">
          <a:xfrm>
            <a:off x="2349501" y="4569128"/>
            <a:ext cx="3065462" cy="265113"/>
          </a:xfrm>
          <a:prstGeom prst="rect">
            <a:avLst/>
          </a:prstGeom>
          <a:solidFill>
            <a:srgbClr val="FFC000"/>
          </a:solidFill>
          <a:ln w="19050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>
                <a:alpha val="50000"/>
              </a:srgbClr>
            </a:outerShdw>
          </a:effectLst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hu-HU" sz="1400" kern="0" dirty="0">
                <a:solidFill>
                  <a:sysClr val="windowText" lastClr="000000"/>
                </a:solidFill>
                <a:latin typeface="Comic Sans MS" pitchFamily="66" charset="0"/>
                <a:cs typeface="Arial" charset="0"/>
              </a:rPr>
              <a:t>EAP</a:t>
            </a:r>
            <a:r>
              <a:rPr lang="fr-CH" sz="1400" kern="0" dirty="0">
                <a:solidFill>
                  <a:sysClr val="windowText" lastClr="000000"/>
                </a:solidFill>
                <a:latin typeface="Comic Sans MS" pitchFamily="66" charset="0"/>
                <a:cs typeface="Arial" charset="0"/>
              </a:rPr>
              <a:t>o</a:t>
            </a:r>
            <a:r>
              <a:rPr lang="hu-HU" sz="1400" kern="0" dirty="0">
                <a:solidFill>
                  <a:sysClr val="windowText" lastClr="000000"/>
                </a:solidFill>
                <a:latin typeface="Comic Sans MS" pitchFamily="66" charset="0"/>
                <a:cs typeface="Arial" charset="0"/>
              </a:rPr>
              <a:t>L (802.1X)</a:t>
            </a:r>
            <a:endParaRPr lang="en-US" sz="1400" kern="0" dirty="0">
              <a:solidFill>
                <a:sysClr val="windowText" lastClr="000000"/>
              </a:solidFill>
              <a:latin typeface="Comic Sans MS" pitchFamily="66" charset="0"/>
              <a:cs typeface="Arial" charset="0"/>
            </a:endParaRPr>
          </a:p>
        </p:txBody>
      </p:sp>
      <p:sp>
        <p:nvSpPr>
          <p:cNvPr id="10" name="Rectangle 11"/>
          <p:cNvSpPr>
            <a:spLocks noChangeArrowheads="1"/>
          </p:cNvSpPr>
          <p:nvPr/>
        </p:nvSpPr>
        <p:spPr bwMode="auto">
          <a:xfrm>
            <a:off x="2349501" y="4966003"/>
            <a:ext cx="3057525" cy="261938"/>
          </a:xfrm>
          <a:prstGeom prst="rect">
            <a:avLst/>
          </a:prstGeom>
          <a:solidFill>
            <a:srgbClr val="FFC000"/>
          </a:solidFill>
          <a:ln w="19050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>
                <a:alpha val="50000"/>
              </a:srgbClr>
            </a:outerShdw>
          </a:effectLst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hu-HU" sz="1400" kern="0" dirty="0">
                <a:solidFill>
                  <a:sysClr val="windowText" lastClr="000000"/>
                </a:solidFill>
                <a:latin typeface="Comic Sans MS" pitchFamily="66" charset="0"/>
                <a:cs typeface="Arial" charset="0"/>
              </a:rPr>
              <a:t>802.11</a:t>
            </a:r>
            <a:endParaRPr lang="en-US" sz="1400" kern="0" dirty="0">
              <a:solidFill>
                <a:sysClr val="windowText" lastClr="000000"/>
              </a:solidFill>
              <a:latin typeface="Comic Sans MS" pitchFamily="66" charset="0"/>
              <a:cs typeface="Arial" charset="0"/>
            </a:endParaRPr>
          </a:p>
        </p:txBody>
      </p:sp>
      <p:sp>
        <p:nvSpPr>
          <p:cNvPr id="11" name="Rectangle 12"/>
          <p:cNvSpPr>
            <a:spLocks noChangeArrowheads="1"/>
          </p:cNvSpPr>
          <p:nvPr/>
        </p:nvSpPr>
        <p:spPr bwMode="auto">
          <a:xfrm>
            <a:off x="5616576" y="4569128"/>
            <a:ext cx="3065462" cy="265113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>
                <a:alpha val="50000"/>
              </a:srgbClr>
            </a:outerShdw>
          </a:effectLst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hu-HU" sz="1400" kern="0">
                <a:solidFill>
                  <a:sysClr val="windowText" lastClr="000000"/>
                </a:solidFill>
                <a:latin typeface="Comic Sans MS" pitchFamily="66" charset="0"/>
                <a:cs typeface="Arial" charset="0"/>
              </a:rPr>
              <a:t>EAP over RADIUS</a:t>
            </a:r>
            <a:endParaRPr lang="en-US" sz="1400" kern="0">
              <a:solidFill>
                <a:sysClr val="windowText" lastClr="000000"/>
              </a:solidFill>
              <a:latin typeface="Comic Sans MS" pitchFamily="66" charset="0"/>
              <a:cs typeface="Arial" charset="0"/>
            </a:endParaRPr>
          </a:p>
        </p:txBody>
      </p:sp>
      <p:sp>
        <p:nvSpPr>
          <p:cNvPr id="12" name="Rectangle 13"/>
          <p:cNvSpPr>
            <a:spLocks noChangeArrowheads="1"/>
          </p:cNvSpPr>
          <p:nvPr/>
        </p:nvSpPr>
        <p:spPr bwMode="auto">
          <a:xfrm>
            <a:off x="5624513" y="4966003"/>
            <a:ext cx="3057525" cy="265113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>
                <a:alpha val="50000"/>
              </a:srgbClr>
            </a:outerShdw>
          </a:effectLst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hu-HU" sz="1400" kern="0">
                <a:solidFill>
                  <a:sysClr val="windowText" lastClr="000000"/>
                </a:solidFill>
                <a:latin typeface="Comic Sans MS" pitchFamily="66" charset="0"/>
                <a:cs typeface="Arial" charset="0"/>
              </a:rPr>
              <a:t>RADIUS</a:t>
            </a:r>
            <a:endParaRPr lang="en-US" sz="1400" kern="0">
              <a:solidFill>
                <a:sysClr val="windowText" lastClr="000000"/>
              </a:solidFill>
              <a:latin typeface="Comic Sans MS" pitchFamily="66" charset="0"/>
              <a:cs typeface="Arial" charset="0"/>
            </a:endParaRPr>
          </a:p>
        </p:txBody>
      </p:sp>
      <p:sp>
        <p:nvSpPr>
          <p:cNvPr id="13" name="Rectangle 14"/>
          <p:cNvSpPr>
            <a:spLocks noChangeArrowheads="1"/>
          </p:cNvSpPr>
          <p:nvPr/>
        </p:nvSpPr>
        <p:spPr bwMode="auto">
          <a:xfrm>
            <a:off x="5624513" y="5362878"/>
            <a:ext cx="3057525" cy="265113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>
                <a:alpha val="50000"/>
              </a:srgbClr>
            </a:outerShdw>
          </a:effectLst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hu-HU" sz="1400" kern="0">
                <a:solidFill>
                  <a:sysClr val="windowText" lastClr="000000"/>
                </a:solidFill>
                <a:latin typeface="Comic Sans MS" pitchFamily="66" charset="0"/>
                <a:cs typeface="Arial" charset="0"/>
              </a:rPr>
              <a:t>TCP/IP</a:t>
            </a:r>
            <a:endParaRPr lang="en-US" sz="1400" kern="0">
              <a:solidFill>
                <a:sysClr val="windowText" lastClr="000000"/>
              </a:solidFill>
              <a:latin typeface="Comic Sans MS" pitchFamily="66" charset="0"/>
              <a:cs typeface="Arial" charset="0"/>
            </a:endParaRPr>
          </a:p>
        </p:txBody>
      </p:sp>
      <p:sp>
        <p:nvSpPr>
          <p:cNvPr id="14" name="Rectangle 15"/>
          <p:cNvSpPr>
            <a:spLocks noChangeArrowheads="1"/>
          </p:cNvSpPr>
          <p:nvPr/>
        </p:nvSpPr>
        <p:spPr bwMode="auto">
          <a:xfrm>
            <a:off x="5624513" y="5759753"/>
            <a:ext cx="3057525" cy="265113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>
                <a:alpha val="50000"/>
              </a:srgbClr>
            </a:outerShdw>
          </a:effectLst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hu-HU" sz="1400" kern="0">
                <a:solidFill>
                  <a:sysClr val="windowText" lastClr="000000"/>
                </a:solidFill>
                <a:latin typeface="Comic Sans MS" pitchFamily="66" charset="0"/>
                <a:cs typeface="Arial" charset="0"/>
              </a:rPr>
              <a:t>802.3</a:t>
            </a:r>
            <a:r>
              <a:rPr lang="fr-CH" sz="1400" kern="0">
                <a:solidFill>
                  <a:sysClr val="windowText" lastClr="000000"/>
                </a:solidFill>
                <a:latin typeface="Comic Sans MS" pitchFamily="66" charset="0"/>
                <a:cs typeface="Arial" charset="0"/>
              </a:rPr>
              <a:t> ili drugi</a:t>
            </a:r>
            <a:endParaRPr lang="en-US" sz="1400" kern="0">
              <a:solidFill>
                <a:sysClr val="windowText" lastClr="000000"/>
              </a:solidFill>
              <a:latin typeface="Comic Sans MS" pitchFamily="66" charset="0"/>
              <a:cs typeface="Arial" charset="0"/>
            </a:endParaRPr>
          </a:p>
        </p:txBody>
      </p:sp>
      <p:sp>
        <p:nvSpPr>
          <p:cNvPr id="15" name="Text Box 16"/>
          <p:cNvSpPr txBox="1">
            <a:spLocks noChangeArrowheads="1"/>
          </p:cNvSpPr>
          <p:nvPr/>
        </p:nvSpPr>
        <p:spPr bwMode="auto">
          <a:xfrm>
            <a:off x="2560638" y="6194728"/>
            <a:ext cx="1263487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fr-CH" altLang="en-US" sz="1400" dirty="0">
                <a:latin typeface="Comic Sans MS" panose="030F0702030302020204" pitchFamily="66" charset="0"/>
              </a:rPr>
              <a:t>Mobile client</a:t>
            </a:r>
            <a:endParaRPr lang="en-US" altLang="en-US" sz="1400" dirty="0">
              <a:latin typeface="Comic Sans MS" panose="030F0702030302020204" pitchFamily="66" charset="0"/>
            </a:endParaRPr>
          </a:p>
        </p:txBody>
      </p:sp>
      <p:sp>
        <p:nvSpPr>
          <p:cNvPr id="16" name="Text Box 17"/>
          <p:cNvSpPr txBox="1">
            <a:spLocks noChangeArrowheads="1"/>
          </p:cNvSpPr>
          <p:nvPr/>
        </p:nvSpPr>
        <p:spPr bwMode="auto">
          <a:xfrm>
            <a:off x="4867276" y="6194728"/>
            <a:ext cx="12490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 dirty="0">
                <a:latin typeface="Comic Sans MS" panose="030F0702030302020204" pitchFamily="66" charset="0"/>
              </a:rPr>
              <a:t>Access point</a:t>
            </a:r>
          </a:p>
        </p:txBody>
      </p:sp>
      <p:sp>
        <p:nvSpPr>
          <p:cNvPr id="17" name="Text Box 18"/>
          <p:cNvSpPr txBox="1">
            <a:spLocks noChangeArrowheads="1"/>
          </p:cNvSpPr>
          <p:nvPr/>
        </p:nvSpPr>
        <p:spPr bwMode="auto">
          <a:xfrm>
            <a:off x="6881367" y="6178853"/>
            <a:ext cx="202972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>
                <a:latin typeface="Comic Sans MS" panose="030F0702030302020204" pitchFamily="66" charset="0"/>
              </a:rPr>
              <a:t>Authentication server</a:t>
            </a:r>
          </a:p>
        </p:txBody>
      </p:sp>
      <p:grpSp>
        <p:nvGrpSpPr>
          <p:cNvPr id="18" name="Group 55"/>
          <p:cNvGrpSpPr>
            <a:grpSpLocks/>
          </p:cNvGrpSpPr>
          <p:nvPr/>
        </p:nvGrpSpPr>
        <p:grpSpPr bwMode="auto">
          <a:xfrm>
            <a:off x="5102226" y="3173716"/>
            <a:ext cx="4464050" cy="1944687"/>
            <a:chOff x="3995936" y="2852936"/>
            <a:chExt cx="4464496" cy="1944216"/>
          </a:xfrm>
        </p:grpSpPr>
        <p:sp>
          <p:nvSpPr>
            <p:cNvPr id="19" name="Text Box 25"/>
            <p:cNvSpPr txBox="1">
              <a:spLocks noChangeArrowheads="1"/>
            </p:cNvSpPr>
            <p:nvPr/>
          </p:nvSpPr>
          <p:spPr bwMode="auto">
            <a:xfrm>
              <a:off x="5508104" y="2852936"/>
              <a:ext cx="2952328" cy="307777"/>
            </a:xfrm>
            <a:prstGeom prst="rect">
              <a:avLst/>
            </a:prstGeom>
            <a:solidFill>
              <a:srgbClr val="FFC000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hr-HR" altLang="en-US" sz="1400">
                  <a:latin typeface="Comic Sans MS" panose="030F0702030302020204" pitchFamily="66" charset="0"/>
                </a:rPr>
                <a:t>within the scope of IEEE 802.11i</a:t>
              </a:r>
              <a:endParaRPr lang="fr-CH" altLang="en-US" sz="1400">
                <a:latin typeface="Comic Sans MS" panose="030F0702030302020204" pitchFamily="66" charset="0"/>
              </a:endParaRPr>
            </a:p>
          </p:txBody>
        </p:sp>
        <p:cxnSp>
          <p:nvCxnSpPr>
            <p:cNvPr id="20" name="Straight Arrow Connector 19"/>
            <p:cNvCxnSpPr>
              <a:stCxn id="19" idx="2"/>
            </p:cNvCxnSpPr>
            <p:nvPr/>
          </p:nvCxnSpPr>
          <p:spPr>
            <a:xfrm flipH="1">
              <a:off x="3995936" y="3160836"/>
              <a:ext cx="2987973" cy="120462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/>
            <p:cNvCxnSpPr>
              <a:stCxn id="19" idx="2"/>
            </p:cNvCxnSpPr>
            <p:nvPr/>
          </p:nvCxnSpPr>
          <p:spPr>
            <a:xfrm flipH="1">
              <a:off x="6083707" y="3160836"/>
              <a:ext cx="900203" cy="844345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/>
            <p:cNvCxnSpPr>
              <a:stCxn id="19" idx="2"/>
            </p:cNvCxnSpPr>
            <p:nvPr/>
          </p:nvCxnSpPr>
          <p:spPr>
            <a:xfrm flipH="1">
              <a:off x="3995936" y="3160836"/>
              <a:ext cx="2987973" cy="1636316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5176508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sz="2000" dirty="0" err="1"/>
              <a:t>EAPoL</a:t>
            </a:r>
            <a:r>
              <a:rPr lang="en-US" sz="2000" dirty="0"/>
              <a:t> (EAP over LAN) [802.1X]</a:t>
            </a:r>
          </a:p>
          <a:p>
            <a:pPr lvl="1"/>
            <a:r>
              <a:rPr lang="en-US" sz="1800" dirty="0"/>
              <a:t>Encapsulate EAP messages into LAN protocols (e.g., Ethernet)</a:t>
            </a:r>
          </a:p>
          <a:p>
            <a:pPr lvl="1"/>
            <a:r>
              <a:rPr lang="en-US" sz="1800" dirty="0"/>
              <a:t>Used to carry EAP messages between the client and the AP</a:t>
            </a:r>
          </a:p>
          <a:p>
            <a:r>
              <a:rPr lang="en-US" sz="2000" dirty="0"/>
              <a:t>RADIUS (Remote Access Dial-In User Service)</a:t>
            </a:r>
          </a:p>
          <a:p>
            <a:pPr lvl="1"/>
            <a:r>
              <a:rPr lang="en-US" sz="1800" dirty="0"/>
              <a:t>Used to carry EAP messages between the AP and the authentication server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>
                <a:ea typeface="ＭＳ Ｐゴシック" charset="-128"/>
              </a:rPr>
              <a:t>Extensible Authentication Protocol (EAP)</a:t>
            </a:r>
            <a:endParaRPr lang="en-US" dirty="0"/>
          </a:p>
        </p:txBody>
      </p:sp>
      <p:grpSp>
        <p:nvGrpSpPr>
          <p:cNvPr id="4" name="Group 36"/>
          <p:cNvGrpSpPr>
            <a:grpSpLocks/>
          </p:cNvGrpSpPr>
          <p:nvPr/>
        </p:nvGrpSpPr>
        <p:grpSpPr bwMode="auto">
          <a:xfrm>
            <a:off x="2902141" y="4089285"/>
            <a:ext cx="6097709" cy="2687637"/>
            <a:chOff x="1120527" y="3595108"/>
            <a:chExt cx="6649388" cy="2930504"/>
          </a:xfrm>
        </p:grpSpPr>
        <p:sp>
          <p:nvSpPr>
            <p:cNvPr id="5" name="Rectangle 4"/>
            <p:cNvSpPr>
              <a:spLocks noChangeArrowheads="1"/>
            </p:cNvSpPr>
            <p:nvPr/>
          </p:nvSpPr>
          <p:spPr bwMode="auto">
            <a:xfrm>
              <a:off x="3511213" y="4034770"/>
              <a:ext cx="1836724" cy="2471802"/>
            </a:xfrm>
            <a:prstGeom prst="rect">
              <a:avLst/>
            </a:prstGeom>
            <a:solidFill>
              <a:srgbClr val="DDDDDD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600" b="1" kern="0">
                <a:solidFill>
                  <a:sysClr val="windowText" lastClr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6" name="Rectangle 5"/>
            <p:cNvSpPr>
              <a:spLocks noChangeArrowheads="1"/>
            </p:cNvSpPr>
            <p:nvPr/>
          </p:nvSpPr>
          <p:spPr bwMode="auto">
            <a:xfrm>
              <a:off x="5877661" y="3595108"/>
              <a:ext cx="1862692" cy="2930504"/>
            </a:xfrm>
            <a:prstGeom prst="rect">
              <a:avLst/>
            </a:prstGeom>
            <a:solidFill>
              <a:srgbClr val="DDDDDD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600" b="1" kern="0">
                <a:solidFill>
                  <a:sysClr val="windowText" lastClr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7" name="Rectangle 6"/>
            <p:cNvSpPr>
              <a:spLocks noChangeArrowheads="1"/>
            </p:cNvSpPr>
            <p:nvPr/>
          </p:nvSpPr>
          <p:spPr bwMode="auto">
            <a:xfrm>
              <a:off x="1120527" y="3595108"/>
              <a:ext cx="1847112" cy="2930504"/>
            </a:xfrm>
            <a:prstGeom prst="rect">
              <a:avLst/>
            </a:prstGeom>
            <a:solidFill>
              <a:srgbClr val="DDDDDD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600" b="1" kern="0">
                <a:solidFill>
                  <a:sysClr val="windowText" lastClr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8" name="Rectangle 8"/>
            <p:cNvSpPr>
              <a:spLocks noChangeArrowheads="1"/>
            </p:cNvSpPr>
            <p:nvPr/>
          </p:nvSpPr>
          <p:spPr bwMode="auto">
            <a:xfrm>
              <a:off x="1243437" y="3671270"/>
              <a:ext cx="6330727" cy="264835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808080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hu-HU" sz="1200" b="1" kern="0">
                  <a:solidFill>
                    <a:sysClr val="windowText" lastClr="000000"/>
                  </a:solidFill>
                  <a:latin typeface="Comic Sans MS" pitchFamily="66" charset="0"/>
                  <a:cs typeface="Arial" charset="0"/>
                </a:rPr>
                <a:t>EAP-TLS</a:t>
              </a:r>
              <a:endParaRPr lang="en-US" sz="1200" b="1" kern="0">
                <a:solidFill>
                  <a:sysClr val="windowText" lastClr="000000"/>
                </a:solidFill>
                <a:latin typeface="Comic Sans MS" pitchFamily="66" charset="0"/>
                <a:cs typeface="Arial" charset="0"/>
              </a:endParaRPr>
            </a:p>
          </p:txBody>
        </p:sp>
        <p:sp>
          <p:nvSpPr>
            <p:cNvPr id="9" name="Rectangle 9"/>
            <p:cNvSpPr>
              <a:spLocks noChangeArrowheads="1"/>
            </p:cNvSpPr>
            <p:nvPr/>
          </p:nvSpPr>
          <p:spPr bwMode="auto">
            <a:xfrm>
              <a:off x="1243437" y="4067658"/>
              <a:ext cx="6330727" cy="264836"/>
            </a:xfrm>
            <a:prstGeom prst="rect">
              <a:avLst/>
            </a:prstGeom>
            <a:solidFill>
              <a:srgbClr val="FFC000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808080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hu-HU" sz="1200" b="1" kern="0">
                  <a:solidFill>
                    <a:sysClr val="windowText" lastClr="000000"/>
                  </a:solidFill>
                  <a:latin typeface="Comic Sans MS" pitchFamily="66" charset="0"/>
                  <a:cs typeface="Arial" charset="0"/>
                </a:rPr>
                <a:t>EAP</a:t>
              </a:r>
              <a:endParaRPr lang="en-US" sz="1200" b="1" kern="0">
                <a:solidFill>
                  <a:sysClr val="windowText" lastClr="000000"/>
                </a:solidFill>
                <a:latin typeface="Comic Sans MS" pitchFamily="66" charset="0"/>
                <a:cs typeface="Arial" charset="0"/>
              </a:endParaRPr>
            </a:p>
          </p:txBody>
        </p:sp>
        <p:sp>
          <p:nvSpPr>
            <p:cNvPr id="10" name="Rectangle 10"/>
            <p:cNvSpPr>
              <a:spLocks noChangeArrowheads="1"/>
            </p:cNvSpPr>
            <p:nvPr/>
          </p:nvSpPr>
          <p:spPr bwMode="auto">
            <a:xfrm>
              <a:off x="1243437" y="4464047"/>
              <a:ext cx="3065824" cy="264835"/>
            </a:xfrm>
            <a:prstGeom prst="rect">
              <a:avLst/>
            </a:prstGeom>
            <a:solidFill>
              <a:srgbClr val="FFC000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808080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hu-HU" sz="1200" b="1" kern="0">
                  <a:solidFill>
                    <a:sysClr val="windowText" lastClr="000000"/>
                  </a:solidFill>
                  <a:latin typeface="Comic Sans MS" pitchFamily="66" charset="0"/>
                  <a:cs typeface="Arial" charset="0"/>
                </a:rPr>
                <a:t>EAP</a:t>
              </a:r>
              <a:r>
                <a:rPr lang="fr-CH" sz="1200" b="1" kern="0">
                  <a:solidFill>
                    <a:sysClr val="windowText" lastClr="000000"/>
                  </a:solidFill>
                  <a:latin typeface="Comic Sans MS" pitchFamily="66" charset="0"/>
                  <a:cs typeface="Arial" charset="0"/>
                </a:rPr>
                <a:t>o</a:t>
              </a:r>
              <a:r>
                <a:rPr lang="hu-HU" sz="1200" b="1" kern="0">
                  <a:solidFill>
                    <a:sysClr val="windowText" lastClr="000000"/>
                  </a:solidFill>
                  <a:latin typeface="Comic Sans MS" pitchFamily="66" charset="0"/>
                  <a:cs typeface="Arial" charset="0"/>
                </a:rPr>
                <a:t>L (802.1X)</a:t>
              </a:r>
              <a:endParaRPr lang="en-US" sz="1200" b="1" kern="0">
                <a:solidFill>
                  <a:sysClr val="windowText" lastClr="000000"/>
                </a:solidFill>
                <a:latin typeface="Comic Sans MS" pitchFamily="66" charset="0"/>
                <a:cs typeface="Arial" charset="0"/>
              </a:endParaRPr>
            </a:p>
          </p:txBody>
        </p:sp>
        <p:sp>
          <p:nvSpPr>
            <p:cNvPr id="11" name="Rectangle 11"/>
            <p:cNvSpPr>
              <a:spLocks noChangeArrowheads="1"/>
            </p:cNvSpPr>
            <p:nvPr/>
          </p:nvSpPr>
          <p:spPr bwMode="auto">
            <a:xfrm>
              <a:off x="1243437" y="4860435"/>
              <a:ext cx="3057169" cy="263105"/>
            </a:xfrm>
            <a:prstGeom prst="rect">
              <a:avLst/>
            </a:prstGeom>
            <a:solidFill>
              <a:srgbClr val="FFC000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808080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hu-HU" sz="1200" b="1" kern="0">
                  <a:solidFill>
                    <a:sysClr val="windowText" lastClr="000000"/>
                  </a:solidFill>
                  <a:latin typeface="Comic Sans MS" pitchFamily="66" charset="0"/>
                  <a:cs typeface="Arial" charset="0"/>
                </a:rPr>
                <a:t>802.11</a:t>
              </a:r>
              <a:endParaRPr lang="en-US" sz="1200" b="1" kern="0">
                <a:solidFill>
                  <a:sysClr val="windowText" lastClr="000000"/>
                </a:solidFill>
                <a:latin typeface="Comic Sans MS" pitchFamily="66" charset="0"/>
                <a:cs typeface="Arial" charset="0"/>
              </a:endParaRPr>
            </a:p>
          </p:txBody>
        </p:sp>
        <p:sp>
          <p:nvSpPr>
            <p:cNvPr id="12" name="Rectangle 12"/>
            <p:cNvSpPr>
              <a:spLocks noChangeArrowheads="1"/>
            </p:cNvSpPr>
            <p:nvPr/>
          </p:nvSpPr>
          <p:spPr bwMode="auto">
            <a:xfrm>
              <a:off x="4510072" y="4464047"/>
              <a:ext cx="3064093" cy="264835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808080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hu-HU" sz="1200" b="1" kern="0" dirty="0">
                  <a:solidFill>
                    <a:sysClr val="windowText" lastClr="000000"/>
                  </a:solidFill>
                  <a:latin typeface="Comic Sans MS" pitchFamily="66" charset="0"/>
                  <a:cs typeface="Arial" charset="0"/>
                </a:rPr>
                <a:t>EAP over RADIUS</a:t>
              </a:r>
              <a:endParaRPr lang="en-US" sz="1200" b="1" kern="0" dirty="0">
                <a:solidFill>
                  <a:sysClr val="windowText" lastClr="000000"/>
                </a:solidFill>
                <a:latin typeface="Comic Sans MS" pitchFamily="66" charset="0"/>
                <a:cs typeface="Arial" charset="0"/>
              </a:endParaRPr>
            </a:p>
          </p:txBody>
        </p:sp>
        <p:sp>
          <p:nvSpPr>
            <p:cNvPr id="13" name="Rectangle 13"/>
            <p:cNvSpPr>
              <a:spLocks noChangeArrowheads="1"/>
            </p:cNvSpPr>
            <p:nvPr/>
          </p:nvSpPr>
          <p:spPr bwMode="auto">
            <a:xfrm>
              <a:off x="4518728" y="4860435"/>
              <a:ext cx="3055437" cy="264836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808080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hu-HU" sz="1200" b="1" kern="0">
                  <a:solidFill>
                    <a:sysClr val="windowText" lastClr="000000"/>
                  </a:solidFill>
                  <a:latin typeface="Comic Sans MS" pitchFamily="66" charset="0"/>
                  <a:cs typeface="Arial" charset="0"/>
                </a:rPr>
                <a:t>RADIUS</a:t>
              </a:r>
              <a:endParaRPr lang="en-US" sz="1200" b="1" kern="0">
                <a:solidFill>
                  <a:sysClr val="windowText" lastClr="000000"/>
                </a:solidFill>
                <a:latin typeface="Comic Sans MS" pitchFamily="66" charset="0"/>
                <a:cs typeface="Arial" charset="0"/>
              </a:endParaRPr>
            </a:p>
          </p:txBody>
        </p:sp>
        <p:sp>
          <p:nvSpPr>
            <p:cNvPr id="14" name="Rectangle 14"/>
            <p:cNvSpPr>
              <a:spLocks noChangeArrowheads="1"/>
            </p:cNvSpPr>
            <p:nvPr/>
          </p:nvSpPr>
          <p:spPr bwMode="auto">
            <a:xfrm>
              <a:off x="4518728" y="5258554"/>
              <a:ext cx="3055437" cy="263105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808080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hu-HU" sz="1200" b="1" kern="0">
                  <a:solidFill>
                    <a:sysClr val="windowText" lastClr="000000"/>
                  </a:solidFill>
                  <a:latin typeface="Comic Sans MS" pitchFamily="66" charset="0"/>
                  <a:cs typeface="Arial" charset="0"/>
                </a:rPr>
                <a:t>TCP/IP</a:t>
              </a:r>
              <a:endParaRPr lang="en-US" sz="1200" b="1" kern="0">
                <a:solidFill>
                  <a:sysClr val="windowText" lastClr="000000"/>
                </a:solidFill>
                <a:latin typeface="Comic Sans MS" pitchFamily="66" charset="0"/>
                <a:cs typeface="Arial" charset="0"/>
              </a:endParaRPr>
            </a:p>
          </p:txBody>
        </p:sp>
        <p:sp>
          <p:nvSpPr>
            <p:cNvPr id="15" name="Rectangle 15"/>
            <p:cNvSpPr>
              <a:spLocks noChangeArrowheads="1"/>
            </p:cNvSpPr>
            <p:nvPr/>
          </p:nvSpPr>
          <p:spPr bwMode="auto">
            <a:xfrm>
              <a:off x="4518728" y="5654943"/>
              <a:ext cx="3055437" cy="264835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808080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hu-HU" sz="1200" b="1" kern="0">
                  <a:solidFill>
                    <a:sysClr val="windowText" lastClr="000000"/>
                  </a:solidFill>
                  <a:latin typeface="Comic Sans MS" pitchFamily="66" charset="0"/>
                  <a:cs typeface="Arial" charset="0"/>
                </a:rPr>
                <a:t>802.3</a:t>
              </a:r>
              <a:r>
                <a:rPr lang="fr-CH" sz="1200" b="1" kern="0">
                  <a:solidFill>
                    <a:sysClr val="windowText" lastClr="000000"/>
                  </a:solidFill>
                  <a:latin typeface="Comic Sans MS" pitchFamily="66" charset="0"/>
                  <a:cs typeface="Arial" charset="0"/>
                </a:rPr>
                <a:t> ili drugi</a:t>
              </a:r>
              <a:endParaRPr lang="en-US" sz="1200" b="1" kern="0">
                <a:solidFill>
                  <a:sysClr val="windowText" lastClr="000000"/>
                </a:solidFill>
                <a:latin typeface="Comic Sans MS" pitchFamily="66" charset="0"/>
                <a:cs typeface="Arial" charset="0"/>
              </a:endParaRPr>
            </a:p>
          </p:txBody>
        </p:sp>
        <p:sp>
          <p:nvSpPr>
            <p:cNvPr id="16" name="Text Box 16"/>
            <p:cNvSpPr txBox="1">
              <a:spLocks noChangeArrowheads="1"/>
            </p:cNvSpPr>
            <p:nvPr/>
          </p:nvSpPr>
          <p:spPr bwMode="auto">
            <a:xfrm>
              <a:off x="1453929" y="6090114"/>
              <a:ext cx="1236208" cy="3020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fr-CH" altLang="en-US" sz="1200" b="1" dirty="0">
                  <a:latin typeface="Comic Sans MS" panose="030F0702030302020204" pitchFamily="66" charset="0"/>
                </a:rPr>
                <a:t>Mobile client</a:t>
              </a:r>
              <a:endParaRPr lang="en-US" altLang="en-US" sz="1200" b="1" dirty="0">
                <a:latin typeface="Comic Sans MS" panose="030F0702030302020204" pitchFamily="66" charset="0"/>
              </a:endParaRPr>
            </a:p>
          </p:txBody>
        </p:sp>
        <p:sp>
          <p:nvSpPr>
            <p:cNvPr id="17" name="Text Box 17"/>
            <p:cNvSpPr txBox="1">
              <a:spLocks noChangeArrowheads="1"/>
            </p:cNvSpPr>
            <p:nvPr/>
          </p:nvSpPr>
          <p:spPr bwMode="auto">
            <a:xfrm>
              <a:off x="3761569" y="6090114"/>
              <a:ext cx="1216980" cy="3020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fr-CH" altLang="en-US" sz="1200" b="1" dirty="0">
                  <a:latin typeface="Comic Sans MS" panose="030F0702030302020204" pitchFamily="66" charset="0"/>
                </a:rPr>
                <a:t>Access point</a:t>
              </a:r>
              <a:endParaRPr lang="en-US" altLang="en-US" sz="1200" b="1" dirty="0">
                <a:latin typeface="Comic Sans MS" panose="030F0702030302020204" pitchFamily="66" charset="0"/>
              </a:endParaRPr>
            </a:p>
          </p:txBody>
        </p:sp>
        <p:sp>
          <p:nvSpPr>
            <p:cNvPr id="18" name="Text Box 18"/>
            <p:cNvSpPr txBox="1">
              <a:spLocks noChangeArrowheads="1"/>
            </p:cNvSpPr>
            <p:nvPr/>
          </p:nvSpPr>
          <p:spPr bwMode="auto">
            <a:xfrm>
              <a:off x="5810022" y="6074132"/>
              <a:ext cx="1959893" cy="3020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200" b="1" dirty="0">
                  <a:latin typeface="Comic Sans MS" panose="030F0702030302020204" pitchFamily="66" charset="0"/>
                </a:rPr>
                <a:t>Authentication server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89697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EAP in Action</a:t>
            </a:r>
          </a:p>
        </p:txBody>
      </p:sp>
      <p:grpSp>
        <p:nvGrpSpPr>
          <p:cNvPr id="4" name="Group 84"/>
          <p:cNvGrpSpPr>
            <a:grpSpLocks/>
          </p:cNvGrpSpPr>
          <p:nvPr/>
        </p:nvGrpSpPr>
        <p:grpSpPr bwMode="auto">
          <a:xfrm>
            <a:off x="1168358" y="2030387"/>
            <a:ext cx="8897947" cy="4730750"/>
            <a:chOff x="798513" y="1273447"/>
            <a:chExt cx="7486462" cy="5395913"/>
          </a:xfrm>
        </p:grpSpPr>
        <p:sp>
          <p:nvSpPr>
            <p:cNvPr id="5" name="Rectangle 2"/>
            <p:cNvSpPr>
              <a:spLocks noChangeArrowheads="1"/>
            </p:cNvSpPr>
            <p:nvPr/>
          </p:nvSpPr>
          <p:spPr bwMode="auto">
            <a:xfrm>
              <a:off x="798513" y="3221310"/>
              <a:ext cx="7364412" cy="2724150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600"/>
            </a:p>
          </p:txBody>
        </p:sp>
        <p:sp>
          <p:nvSpPr>
            <p:cNvPr id="6" name="Line 4"/>
            <p:cNvSpPr>
              <a:spLocks noChangeShapeType="1"/>
            </p:cNvSpPr>
            <p:nvPr/>
          </p:nvSpPr>
          <p:spPr bwMode="auto">
            <a:xfrm>
              <a:off x="1481138" y="1729060"/>
              <a:ext cx="1587" cy="4908550"/>
            </a:xfrm>
            <a:prstGeom prst="line">
              <a:avLst/>
            </a:prstGeom>
            <a:noFill/>
            <a:ln w="3816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Line 5"/>
            <p:cNvSpPr>
              <a:spLocks noChangeShapeType="1"/>
            </p:cNvSpPr>
            <p:nvPr/>
          </p:nvSpPr>
          <p:spPr bwMode="auto">
            <a:xfrm>
              <a:off x="4865688" y="1738585"/>
              <a:ext cx="1587" cy="4899025"/>
            </a:xfrm>
            <a:prstGeom prst="line">
              <a:avLst/>
            </a:prstGeom>
            <a:noFill/>
            <a:ln w="3816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 Box 6"/>
            <p:cNvSpPr txBox="1">
              <a:spLocks noChangeArrowheads="1"/>
            </p:cNvSpPr>
            <p:nvPr/>
          </p:nvSpPr>
          <p:spPr bwMode="auto">
            <a:xfrm>
              <a:off x="4611688" y="1273447"/>
              <a:ext cx="501670" cy="3886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defTabSz="4572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defTabSz="4572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defTabSz="4572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defTabSz="4572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defTabSz="4572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r>
                <a:rPr lang="en-US" altLang="en-US" sz="1600">
                  <a:solidFill>
                    <a:srgbClr val="000000"/>
                  </a:solidFill>
                  <a:latin typeface="Comic Sans MS" panose="030F0702030302020204" pitchFamily="66" charset="0"/>
                </a:rPr>
                <a:t>AP</a:t>
              </a:r>
            </a:p>
          </p:txBody>
        </p:sp>
        <p:sp>
          <p:nvSpPr>
            <p:cNvPr id="9" name="Text Box 7"/>
            <p:cNvSpPr txBox="1">
              <a:spLocks noChangeArrowheads="1"/>
            </p:cNvSpPr>
            <p:nvPr/>
          </p:nvSpPr>
          <p:spPr bwMode="auto">
            <a:xfrm>
              <a:off x="1146175" y="1273447"/>
              <a:ext cx="618233" cy="3886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defTabSz="4572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defTabSz="4572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defTabSz="4572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defTabSz="4572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defTabSz="4572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r>
                <a:rPr lang="en-US" altLang="zh-CN" sz="1600" dirty="0">
                  <a:solidFill>
                    <a:srgbClr val="000000"/>
                  </a:solidFill>
                  <a:latin typeface="Comic Sans MS" panose="030F0702030302020204" pitchFamily="66" charset="0"/>
                </a:rPr>
                <a:t>Client</a:t>
              </a:r>
              <a:endParaRPr lang="en-US" altLang="en-US" sz="1600" dirty="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10" name="Text Box 8"/>
            <p:cNvSpPr txBox="1">
              <a:spLocks noChangeArrowheads="1"/>
            </p:cNvSpPr>
            <p:nvPr/>
          </p:nvSpPr>
          <p:spPr bwMode="auto">
            <a:xfrm>
              <a:off x="7159624" y="1282972"/>
              <a:ext cx="1125351" cy="3886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defTabSz="4572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defTabSz="4572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defTabSz="4572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defTabSz="4572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defTabSz="4572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r>
                <a:rPr lang="en-US" altLang="en-US" sz="1600" dirty="0" err="1">
                  <a:solidFill>
                    <a:srgbClr val="000000"/>
                  </a:solidFill>
                  <a:latin typeface="Comic Sans MS" panose="030F0702030302020204" pitchFamily="66" charset="0"/>
                </a:rPr>
                <a:t>Auth</a:t>
              </a:r>
              <a:r>
                <a:rPr lang="en-US" altLang="en-US" sz="1600" dirty="0">
                  <a:solidFill>
                    <a:srgbClr val="000000"/>
                  </a:solidFill>
                  <a:latin typeface="Comic Sans MS" panose="030F0702030302020204" pitchFamily="66" charset="0"/>
                </a:rPr>
                <a:t> server</a:t>
              </a:r>
            </a:p>
          </p:txBody>
        </p:sp>
        <p:sp>
          <p:nvSpPr>
            <p:cNvPr id="11" name="Line 9"/>
            <p:cNvSpPr>
              <a:spLocks noChangeShapeType="1"/>
            </p:cNvSpPr>
            <p:nvPr/>
          </p:nvSpPr>
          <p:spPr bwMode="auto">
            <a:xfrm>
              <a:off x="7962900" y="1730647"/>
              <a:ext cx="1588" cy="4908550"/>
            </a:xfrm>
            <a:prstGeom prst="line">
              <a:avLst/>
            </a:prstGeom>
            <a:noFill/>
            <a:ln w="3816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 Box 10"/>
            <p:cNvSpPr txBox="1">
              <a:spLocks noChangeArrowheads="1"/>
            </p:cNvSpPr>
            <p:nvPr/>
          </p:nvSpPr>
          <p:spPr bwMode="auto">
            <a:xfrm>
              <a:off x="1998662" y="2210072"/>
              <a:ext cx="2430564" cy="3535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defTabSz="4572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defTabSz="4572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defTabSz="4572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defTabSz="4572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defTabSz="4572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r>
                <a:rPr lang="hu-HU" altLang="en-US" sz="1400" dirty="0">
                  <a:solidFill>
                    <a:srgbClr val="000000"/>
                  </a:solidFill>
                  <a:latin typeface="Comic Sans MS" panose="030F0702030302020204" pitchFamily="66" charset="0"/>
                </a:rPr>
                <a:t>EAP Request (Identity)</a:t>
              </a:r>
            </a:p>
          </p:txBody>
        </p:sp>
        <p:sp>
          <p:nvSpPr>
            <p:cNvPr id="13" name="Text Box 11"/>
            <p:cNvSpPr txBox="1">
              <a:spLocks noChangeArrowheads="1"/>
            </p:cNvSpPr>
            <p:nvPr/>
          </p:nvSpPr>
          <p:spPr bwMode="auto">
            <a:xfrm>
              <a:off x="1866900" y="2722835"/>
              <a:ext cx="2547578" cy="3535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defTabSz="4572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defTabSz="4572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defTabSz="4572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defTabSz="4572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defTabSz="4572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r>
                <a:rPr lang="hu-HU" altLang="en-US" sz="1400">
                  <a:solidFill>
                    <a:srgbClr val="000000"/>
                  </a:solidFill>
                  <a:latin typeface="Comic Sans MS" panose="030F0702030302020204" pitchFamily="66" charset="0"/>
                </a:rPr>
                <a:t>EAP Response (Identity)</a:t>
              </a:r>
            </a:p>
          </p:txBody>
        </p:sp>
        <p:sp>
          <p:nvSpPr>
            <p:cNvPr id="14" name="Text Box 12"/>
            <p:cNvSpPr txBox="1">
              <a:spLocks noChangeArrowheads="1"/>
            </p:cNvSpPr>
            <p:nvPr/>
          </p:nvSpPr>
          <p:spPr bwMode="auto">
            <a:xfrm>
              <a:off x="5156200" y="2740297"/>
              <a:ext cx="2547578" cy="3535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defTabSz="4572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defTabSz="4572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defTabSz="4572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defTabSz="4572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defTabSz="4572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r>
                <a:rPr lang="hu-HU" altLang="en-US" sz="1400">
                  <a:solidFill>
                    <a:srgbClr val="000000"/>
                  </a:solidFill>
                  <a:latin typeface="Comic Sans MS" panose="030F0702030302020204" pitchFamily="66" charset="0"/>
                </a:rPr>
                <a:t>EAP Response (Identity)</a:t>
              </a:r>
            </a:p>
          </p:txBody>
        </p:sp>
        <p:sp>
          <p:nvSpPr>
            <p:cNvPr id="15" name="Text Box 13"/>
            <p:cNvSpPr txBox="1">
              <a:spLocks noChangeArrowheads="1"/>
            </p:cNvSpPr>
            <p:nvPr/>
          </p:nvSpPr>
          <p:spPr bwMode="auto">
            <a:xfrm>
              <a:off x="5607050" y="3308622"/>
              <a:ext cx="1563933" cy="3535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defTabSz="4572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defTabSz="4572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defTabSz="4572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defTabSz="4572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defTabSz="4572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r>
                <a:rPr lang="hu-HU" altLang="en-US" sz="1400">
                  <a:solidFill>
                    <a:srgbClr val="000000"/>
                  </a:solidFill>
                  <a:latin typeface="Comic Sans MS" panose="030F0702030302020204" pitchFamily="66" charset="0"/>
                </a:rPr>
                <a:t>EAP Request 1</a:t>
              </a:r>
            </a:p>
          </p:txBody>
        </p:sp>
        <p:sp>
          <p:nvSpPr>
            <p:cNvPr id="16" name="Text Box 14"/>
            <p:cNvSpPr txBox="1">
              <a:spLocks noChangeArrowheads="1"/>
            </p:cNvSpPr>
            <p:nvPr/>
          </p:nvSpPr>
          <p:spPr bwMode="auto">
            <a:xfrm>
              <a:off x="2355850" y="3308622"/>
              <a:ext cx="1563933" cy="3535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defTabSz="4572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defTabSz="4572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defTabSz="4572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defTabSz="4572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defTabSz="4572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r>
                <a:rPr lang="hu-HU" altLang="en-US" sz="1400">
                  <a:solidFill>
                    <a:srgbClr val="000000"/>
                  </a:solidFill>
                  <a:latin typeface="Comic Sans MS" panose="030F0702030302020204" pitchFamily="66" charset="0"/>
                </a:rPr>
                <a:t>EAP Request 1</a:t>
              </a:r>
            </a:p>
          </p:txBody>
        </p:sp>
        <p:sp>
          <p:nvSpPr>
            <p:cNvPr id="17" name="Text Box 15"/>
            <p:cNvSpPr txBox="1">
              <a:spLocks noChangeArrowheads="1"/>
            </p:cNvSpPr>
            <p:nvPr/>
          </p:nvSpPr>
          <p:spPr bwMode="auto">
            <a:xfrm>
              <a:off x="2212975" y="3767410"/>
              <a:ext cx="1680946" cy="3535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defTabSz="4572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defTabSz="4572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defTabSz="4572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defTabSz="4572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defTabSz="4572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r>
                <a:rPr lang="hu-HU" altLang="en-US" sz="1400">
                  <a:solidFill>
                    <a:srgbClr val="000000"/>
                  </a:solidFill>
                  <a:latin typeface="Comic Sans MS" panose="030F0702030302020204" pitchFamily="66" charset="0"/>
                </a:rPr>
                <a:t>EAP Response 1</a:t>
              </a:r>
            </a:p>
          </p:txBody>
        </p:sp>
        <p:sp>
          <p:nvSpPr>
            <p:cNvPr id="18" name="Text Box 16"/>
            <p:cNvSpPr txBox="1">
              <a:spLocks noChangeArrowheads="1"/>
            </p:cNvSpPr>
            <p:nvPr/>
          </p:nvSpPr>
          <p:spPr bwMode="auto">
            <a:xfrm>
              <a:off x="5502275" y="3786460"/>
              <a:ext cx="1680946" cy="3535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defTabSz="4572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defTabSz="4572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defTabSz="4572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defTabSz="4572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defTabSz="4572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r>
                <a:rPr lang="hu-HU" altLang="en-US" sz="1400">
                  <a:solidFill>
                    <a:srgbClr val="000000"/>
                  </a:solidFill>
                  <a:latin typeface="Comic Sans MS" panose="030F0702030302020204" pitchFamily="66" charset="0"/>
                </a:rPr>
                <a:t>EAP Response 1</a:t>
              </a:r>
            </a:p>
          </p:txBody>
        </p:sp>
        <p:sp>
          <p:nvSpPr>
            <p:cNvPr id="19" name="Text Box 17"/>
            <p:cNvSpPr txBox="1">
              <a:spLocks noChangeArrowheads="1"/>
            </p:cNvSpPr>
            <p:nvPr/>
          </p:nvSpPr>
          <p:spPr bwMode="auto">
            <a:xfrm>
              <a:off x="5746750" y="6016897"/>
              <a:ext cx="1424980" cy="3535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defTabSz="4572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defTabSz="4572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defTabSz="4572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defTabSz="4572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defTabSz="4572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r>
                <a:rPr lang="hu-HU" altLang="en-US" sz="1400">
                  <a:solidFill>
                    <a:srgbClr val="000000"/>
                  </a:solidFill>
                  <a:latin typeface="Comic Sans MS" panose="030F0702030302020204" pitchFamily="66" charset="0"/>
                </a:rPr>
                <a:t>EAP Success</a:t>
              </a:r>
            </a:p>
          </p:txBody>
        </p:sp>
        <p:sp>
          <p:nvSpPr>
            <p:cNvPr id="20" name="Text Box 18"/>
            <p:cNvSpPr txBox="1">
              <a:spLocks noChangeArrowheads="1"/>
            </p:cNvSpPr>
            <p:nvPr/>
          </p:nvSpPr>
          <p:spPr bwMode="auto">
            <a:xfrm>
              <a:off x="2479675" y="6147073"/>
              <a:ext cx="1424980" cy="3535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defTabSz="4572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defTabSz="4572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defTabSz="4572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defTabSz="4572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defTabSz="4572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r>
                <a:rPr lang="hu-HU" altLang="en-US" sz="1400">
                  <a:solidFill>
                    <a:srgbClr val="000000"/>
                  </a:solidFill>
                  <a:latin typeface="Comic Sans MS" panose="030F0702030302020204" pitchFamily="66" charset="0"/>
                </a:rPr>
                <a:t>EAP Success</a:t>
              </a:r>
            </a:p>
          </p:txBody>
        </p:sp>
        <p:sp>
          <p:nvSpPr>
            <p:cNvPr id="21" name="Line 19"/>
            <p:cNvSpPr>
              <a:spLocks noChangeShapeType="1"/>
            </p:cNvSpPr>
            <p:nvPr/>
          </p:nvSpPr>
          <p:spPr bwMode="auto">
            <a:xfrm flipH="1">
              <a:off x="1479550" y="2584722"/>
              <a:ext cx="3371850" cy="1588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Line 20"/>
            <p:cNvSpPr>
              <a:spLocks noChangeShapeType="1"/>
            </p:cNvSpPr>
            <p:nvPr/>
          </p:nvSpPr>
          <p:spPr bwMode="auto">
            <a:xfrm>
              <a:off x="1481138" y="3075260"/>
              <a:ext cx="3378200" cy="1587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Line 21"/>
            <p:cNvSpPr>
              <a:spLocks noChangeShapeType="1"/>
            </p:cNvSpPr>
            <p:nvPr/>
          </p:nvSpPr>
          <p:spPr bwMode="auto">
            <a:xfrm>
              <a:off x="4883150" y="3081610"/>
              <a:ext cx="3060700" cy="1587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Line 22"/>
            <p:cNvSpPr>
              <a:spLocks noChangeShapeType="1"/>
            </p:cNvSpPr>
            <p:nvPr/>
          </p:nvSpPr>
          <p:spPr bwMode="auto">
            <a:xfrm flipH="1">
              <a:off x="4867275" y="3664222"/>
              <a:ext cx="3082925" cy="1588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Line 23"/>
            <p:cNvSpPr>
              <a:spLocks noChangeShapeType="1"/>
            </p:cNvSpPr>
            <p:nvPr/>
          </p:nvSpPr>
          <p:spPr bwMode="auto">
            <a:xfrm flipH="1">
              <a:off x="1489075" y="3656285"/>
              <a:ext cx="3352800" cy="1587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Line 24"/>
            <p:cNvSpPr>
              <a:spLocks noChangeShapeType="1"/>
            </p:cNvSpPr>
            <p:nvPr/>
          </p:nvSpPr>
          <p:spPr bwMode="auto">
            <a:xfrm>
              <a:off x="1490663" y="4137297"/>
              <a:ext cx="3349625" cy="1588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Line 25"/>
            <p:cNvSpPr>
              <a:spLocks noChangeShapeType="1"/>
            </p:cNvSpPr>
            <p:nvPr/>
          </p:nvSpPr>
          <p:spPr bwMode="auto">
            <a:xfrm>
              <a:off x="4895850" y="4137297"/>
              <a:ext cx="3060700" cy="1588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 Box 26"/>
            <p:cNvSpPr txBox="1">
              <a:spLocks noChangeArrowheads="1"/>
            </p:cNvSpPr>
            <p:nvPr/>
          </p:nvSpPr>
          <p:spPr bwMode="auto">
            <a:xfrm>
              <a:off x="5619749" y="4910410"/>
              <a:ext cx="1580389" cy="3535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defTabSz="4572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defTabSz="4572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defTabSz="4572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defTabSz="4572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defTabSz="4572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r>
                <a:rPr lang="hu-HU" altLang="en-US" sz="1400">
                  <a:solidFill>
                    <a:srgbClr val="000000"/>
                  </a:solidFill>
                  <a:latin typeface="Comic Sans MS" panose="030F0702030302020204" pitchFamily="66" charset="0"/>
                </a:rPr>
                <a:t>EAP Request </a:t>
              </a:r>
              <a:r>
                <a:rPr lang="hu-HU" altLang="en-US" sz="1400" i="1">
                  <a:solidFill>
                    <a:srgbClr val="000000"/>
                  </a:solidFill>
                  <a:latin typeface="Comic Sans MS" panose="030F0702030302020204" pitchFamily="66" charset="0"/>
                </a:rPr>
                <a:t>n</a:t>
              </a:r>
            </a:p>
          </p:txBody>
        </p:sp>
        <p:sp>
          <p:nvSpPr>
            <p:cNvPr id="29" name="Text Box 27"/>
            <p:cNvSpPr txBox="1">
              <a:spLocks noChangeArrowheads="1"/>
            </p:cNvSpPr>
            <p:nvPr/>
          </p:nvSpPr>
          <p:spPr bwMode="auto">
            <a:xfrm>
              <a:off x="2366963" y="4910410"/>
              <a:ext cx="1580389" cy="3535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defTabSz="4572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defTabSz="4572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defTabSz="4572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defTabSz="4572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defTabSz="4572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r>
                <a:rPr lang="hu-HU" altLang="en-US" sz="1400">
                  <a:solidFill>
                    <a:srgbClr val="000000"/>
                  </a:solidFill>
                  <a:latin typeface="Comic Sans MS" panose="030F0702030302020204" pitchFamily="66" charset="0"/>
                </a:rPr>
                <a:t>EAP Request </a:t>
              </a:r>
              <a:r>
                <a:rPr lang="hu-HU" altLang="en-US" sz="1400" i="1">
                  <a:solidFill>
                    <a:srgbClr val="000000"/>
                  </a:solidFill>
                  <a:latin typeface="Comic Sans MS" panose="030F0702030302020204" pitchFamily="66" charset="0"/>
                </a:rPr>
                <a:t>n</a:t>
              </a:r>
            </a:p>
          </p:txBody>
        </p:sp>
        <p:sp>
          <p:nvSpPr>
            <p:cNvPr id="30" name="Text Box 28"/>
            <p:cNvSpPr txBox="1">
              <a:spLocks noChangeArrowheads="1"/>
            </p:cNvSpPr>
            <p:nvPr/>
          </p:nvSpPr>
          <p:spPr bwMode="auto">
            <a:xfrm>
              <a:off x="2224088" y="5397772"/>
              <a:ext cx="1697402" cy="3535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defTabSz="4572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defTabSz="4572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defTabSz="4572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defTabSz="4572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defTabSz="4572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r>
                <a:rPr lang="hu-HU" altLang="en-US" sz="1400">
                  <a:solidFill>
                    <a:srgbClr val="000000"/>
                  </a:solidFill>
                  <a:latin typeface="Comic Sans MS" panose="030F0702030302020204" pitchFamily="66" charset="0"/>
                </a:rPr>
                <a:t>EAP Response </a:t>
              </a:r>
              <a:r>
                <a:rPr lang="hu-HU" altLang="en-US" sz="1400" i="1">
                  <a:solidFill>
                    <a:srgbClr val="000000"/>
                  </a:solidFill>
                  <a:latin typeface="Comic Sans MS" panose="030F0702030302020204" pitchFamily="66" charset="0"/>
                </a:rPr>
                <a:t>n</a:t>
              </a:r>
            </a:p>
          </p:txBody>
        </p:sp>
        <p:sp>
          <p:nvSpPr>
            <p:cNvPr id="31" name="Text Box 29"/>
            <p:cNvSpPr txBox="1">
              <a:spLocks noChangeArrowheads="1"/>
            </p:cNvSpPr>
            <p:nvPr/>
          </p:nvSpPr>
          <p:spPr bwMode="auto">
            <a:xfrm>
              <a:off x="5514974" y="5416821"/>
              <a:ext cx="1697402" cy="3535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defTabSz="4572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defTabSz="4572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defTabSz="4572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defTabSz="4572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defTabSz="4572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r>
                <a:rPr lang="hu-HU" altLang="en-US" sz="1400">
                  <a:solidFill>
                    <a:srgbClr val="000000"/>
                  </a:solidFill>
                  <a:latin typeface="Comic Sans MS" panose="030F0702030302020204" pitchFamily="66" charset="0"/>
                </a:rPr>
                <a:t>EAP Response </a:t>
              </a:r>
              <a:r>
                <a:rPr lang="hu-HU" altLang="en-US" sz="1400" i="1">
                  <a:solidFill>
                    <a:srgbClr val="000000"/>
                  </a:solidFill>
                  <a:latin typeface="Comic Sans MS" panose="030F0702030302020204" pitchFamily="66" charset="0"/>
                </a:rPr>
                <a:t>n</a:t>
              </a:r>
            </a:p>
          </p:txBody>
        </p:sp>
        <p:sp>
          <p:nvSpPr>
            <p:cNvPr id="32" name="Line 30"/>
            <p:cNvSpPr>
              <a:spLocks noChangeShapeType="1"/>
            </p:cNvSpPr>
            <p:nvPr/>
          </p:nvSpPr>
          <p:spPr bwMode="auto">
            <a:xfrm flipH="1">
              <a:off x="4872038" y="5266010"/>
              <a:ext cx="3082925" cy="1587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Line 31"/>
            <p:cNvSpPr>
              <a:spLocks noChangeShapeType="1"/>
            </p:cNvSpPr>
            <p:nvPr/>
          </p:nvSpPr>
          <p:spPr bwMode="auto">
            <a:xfrm flipH="1">
              <a:off x="1493838" y="5258072"/>
              <a:ext cx="3352800" cy="1588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Line 32"/>
            <p:cNvSpPr>
              <a:spLocks noChangeShapeType="1"/>
            </p:cNvSpPr>
            <p:nvPr/>
          </p:nvSpPr>
          <p:spPr bwMode="auto">
            <a:xfrm>
              <a:off x="1495425" y="5767660"/>
              <a:ext cx="3349625" cy="1587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Line 33"/>
            <p:cNvSpPr>
              <a:spLocks noChangeShapeType="1"/>
            </p:cNvSpPr>
            <p:nvPr/>
          </p:nvSpPr>
          <p:spPr bwMode="auto">
            <a:xfrm>
              <a:off x="4900613" y="5767660"/>
              <a:ext cx="3060700" cy="1587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Line 34"/>
            <p:cNvSpPr>
              <a:spLocks noChangeShapeType="1"/>
            </p:cNvSpPr>
            <p:nvPr/>
          </p:nvSpPr>
          <p:spPr bwMode="auto">
            <a:xfrm flipH="1">
              <a:off x="4875213" y="6359797"/>
              <a:ext cx="3082925" cy="1588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Line 35"/>
            <p:cNvSpPr>
              <a:spLocks noChangeShapeType="1"/>
            </p:cNvSpPr>
            <p:nvPr/>
          </p:nvSpPr>
          <p:spPr bwMode="auto">
            <a:xfrm flipH="1">
              <a:off x="1479550" y="6496322"/>
              <a:ext cx="3371850" cy="1588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Text Box 36"/>
            <p:cNvSpPr txBox="1">
              <a:spLocks noChangeArrowheads="1"/>
            </p:cNvSpPr>
            <p:nvPr/>
          </p:nvSpPr>
          <p:spPr bwMode="auto">
            <a:xfrm rot="5400000">
              <a:off x="3170769" y="4359789"/>
              <a:ext cx="360888" cy="3535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defTabSz="4572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defTabSz="4572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defTabSz="4572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defTabSz="4572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defTabSz="4572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r>
                <a:rPr lang="hu-HU" altLang="en-US" sz="1400">
                  <a:solidFill>
                    <a:srgbClr val="000000"/>
                  </a:solidFill>
                  <a:latin typeface="Comic Sans MS" panose="030F0702030302020204" pitchFamily="66" charset="0"/>
                </a:rPr>
                <a:t>...</a:t>
              </a:r>
            </a:p>
          </p:txBody>
        </p:sp>
        <p:sp>
          <p:nvSpPr>
            <p:cNvPr id="39" name="Text Box 37"/>
            <p:cNvSpPr txBox="1">
              <a:spLocks noChangeArrowheads="1"/>
            </p:cNvSpPr>
            <p:nvPr/>
          </p:nvSpPr>
          <p:spPr bwMode="auto">
            <a:xfrm rot="5400000">
              <a:off x="6487056" y="4359789"/>
              <a:ext cx="360888" cy="3535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defTabSz="4572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defTabSz="4572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defTabSz="4572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defTabSz="4572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defTabSz="4572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r>
                <a:rPr lang="hu-HU" altLang="en-US" sz="1400">
                  <a:solidFill>
                    <a:srgbClr val="000000"/>
                  </a:solidFill>
                  <a:latin typeface="Comic Sans MS" panose="030F0702030302020204" pitchFamily="66" charset="0"/>
                </a:rPr>
                <a:t>...</a:t>
              </a:r>
            </a:p>
          </p:txBody>
        </p:sp>
        <p:sp>
          <p:nvSpPr>
            <p:cNvPr id="40" name="Text Box 38"/>
            <p:cNvSpPr txBox="1">
              <a:spLocks noChangeArrowheads="1"/>
            </p:cNvSpPr>
            <p:nvPr/>
          </p:nvSpPr>
          <p:spPr bwMode="auto">
            <a:xfrm rot="-5400000">
              <a:off x="-219789" y="4417734"/>
              <a:ext cx="2573176" cy="3535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defTabSz="4572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defTabSz="4572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defTabSz="4572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defTabSz="4572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defTabSz="4572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r>
                <a:rPr lang="en-US" altLang="en-US" sz="1400">
                  <a:solidFill>
                    <a:srgbClr val="000000"/>
                  </a:solidFill>
                  <a:latin typeface="Comic Sans MS" panose="030F0702030302020204" pitchFamily="66" charset="0"/>
                </a:rPr>
                <a:t>embedded auth. protocol</a:t>
              </a:r>
            </a:p>
          </p:txBody>
        </p:sp>
        <p:sp>
          <p:nvSpPr>
            <p:cNvPr id="41" name="Text Box 39"/>
            <p:cNvSpPr txBox="1">
              <a:spLocks noChangeArrowheads="1"/>
            </p:cNvSpPr>
            <p:nvPr/>
          </p:nvSpPr>
          <p:spPr bwMode="auto">
            <a:xfrm>
              <a:off x="2411413" y="1738585"/>
              <a:ext cx="1492628" cy="3535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defTabSz="4572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defTabSz="4572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defTabSz="4572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defTabSz="4572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defTabSz="4572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r>
                <a:rPr lang="hu-HU" altLang="en-US" sz="1400">
                  <a:solidFill>
                    <a:srgbClr val="000000"/>
                  </a:solidFill>
                  <a:latin typeface="Comic Sans MS" panose="030F0702030302020204" pitchFamily="66" charset="0"/>
                </a:rPr>
                <a:t>EAP</a:t>
              </a:r>
              <a:r>
                <a:rPr lang="en-US" altLang="en-US" sz="1400">
                  <a:solidFill>
                    <a:srgbClr val="000000"/>
                  </a:solidFill>
                  <a:latin typeface="Comic Sans MS" panose="030F0702030302020204" pitchFamily="66" charset="0"/>
                </a:rPr>
                <a:t>OL-Start</a:t>
              </a:r>
            </a:p>
          </p:txBody>
        </p:sp>
        <p:sp>
          <p:nvSpPr>
            <p:cNvPr id="42" name="Line 40"/>
            <p:cNvSpPr>
              <a:spLocks noChangeShapeType="1"/>
            </p:cNvSpPr>
            <p:nvPr/>
          </p:nvSpPr>
          <p:spPr bwMode="auto">
            <a:xfrm>
              <a:off x="1508125" y="2091010"/>
              <a:ext cx="3378200" cy="1587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Text Box 41"/>
            <p:cNvSpPr txBox="1">
              <a:spLocks noChangeArrowheads="1"/>
            </p:cNvSpPr>
            <p:nvPr/>
          </p:nvSpPr>
          <p:spPr bwMode="auto">
            <a:xfrm>
              <a:off x="2090421" y="1295672"/>
              <a:ext cx="2145345" cy="3184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defTabSz="4572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defTabSz="4572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defTabSz="4572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defTabSz="4572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defTabSz="4572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r>
                <a:rPr lang="en-US" altLang="en-US" sz="1200" i="1">
                  <a:solidFill>
                    <a:srgbClr val="000000"/>
                  </a:solidFill>
                  <a:latin typeface="Comic Sans MS" panose="030F0702030302020204" pitchFamily="66" charset="0"/>
                </a:rPr>
                <a:t>encapsulated in EAPOL</a:t>
              </a:r>
            </a:p>
          </p:txBody>
        </p:sp>
        <p:sp>
          <p:nvSpPr>
            <p:cNvPr id="44" name="Text Box 42"/>
            <p:cNvSpPr txBox="1">
              <a:spLocks noChangeArrowheads="1"/>
            </p:cNvSpPr>
            <p:nvPr/>
          </p:nvSpPr>
          <p:spPr bwMode="auto">
            <a:xfrm>
              <a:off x="5342121" y="2157685"/>
              <a:ext cx="2222134" cy="3184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defTabSz="4572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defTabSz="4572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defTabSz="4572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defTabSz="4572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defTabSz="4572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r>
                <a:rPr lang="en-US" altLang="en-US" sz="1200" i="1">
                  <a:solidFill>
                    <a:srgbClr val="000000"/>
                  </a:solidFill>
                  <a:latin typeface="Comic Sans MS" panose="030F0702030302020204" pitchFamily="66" charset="0"/>
                </a:rPr>
                <a:t>encapsulated in RADIUS</a:t>
              </a:r>
            </a:p>
          </p:txBody>
        </p:sp>
        <p:sp>
          <p:nvSpPr>
            <p:cNvPr id="45" name="Rectangle 43"/>
            <p:cNvSpPr>
              <a:spLocks noChangeArrowheads="1"/>
            </p:cNvSpPr>
            <p:nvPr/>
          </p:nvSpPr>
          <p:spPr bwMode="auto">
            <a:xfrm>
              <a:off x="1935163" y="1306785"/>
              <a:ext cx="2501900" cy="5362575"/>
            </a:xfrm>
            <a:prstGeom prst="rect">
              <a:avLst/>
            </a:prstGeom>
            <a:noFill/>
            <a:ln w="9360" cap="rnd">
              <a:solidFill>
                <a:srgbClr val="000000"/>
              </a:solidFill>
              <a:prstDash val="sys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600"/>
            </a:p>
          </p:txBody>
        </p:sp>
        <p:sp>
          <p:nvSpPr>
            <p:cNvPr id="46" name="Rectangle 44"/>
            <p:cNvSpPr>
              <a:spLocks noChangeArrowheads="1"/>
            </p:cNvSpPr>
            <p:nvPr/>
          </p:nvSpPr>
          <p:spPr bwMode="auto">
            <a:xfrm>
              <a:off x="5207000" y="2056085"/>
              <a:ext cx="2501900" cy="4613275"/>
            </a:xfrm>
            <a:prstGeom prst="rect">
              <a:avLst/>
            </a:prstGeom>
            <a:noFill/>
            <a:ln w="9360" cap="rnd">
              <a:solidFill>
                <a:srgbClr val="000000"/>
              </a:solidFill>
              <a:prstDash val="sys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600"/>
            </a:p>
          </p:txBody>
        </p:sp>
      </p:grpSp>
    </p:spTree>
    <p:extLst>
      <p:ext uri="{BB962C8B-B14F-4D97-AF65-F5344CB8AC3E}">
        <p14:creationId xmlns:p14="http://schemas.microsoft.com/office/powerpoint/2010/main" val="104865239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At the end of authentication:</a:t>
            </a:r>
          </a:p>
          <a:p>
            <a:pPr lvl="1"/>
            <a:r>
              <a:rPr lang="en-US" dirty="0"/>
              <a:t>The authentication server and client have established a session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The authentication server and client possess a mutually authenticated Master Key (derived from the concrete EAP method)</a:t>
            </a:r>
          </a:p>
          <a:p>
            <a:pPr lvl="2"/>
            <a:r>
              <a:rPr lang="en-US" dirty="0"/>
              <a:t>Master Key represents decision to grant access based on authentication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Client and authentication server have derived PMK (Pairwise Master Key)</a:t>
            </a:r>
          </a:p>
          <a:p>
            <a:pPr lvl="2"/>
            <a:r>
              <a:rPr lang="en-US" dirty="0"/>
              <a:t>PMK is an authorization token to enforce access control decision at AP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Authentication server has distributed PMK to an AP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altLang="en-US" dirty="0"/>
              <a:t>IEEE 802.1X authentication summary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711278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Still, TKIP is not a favorable solution due to  the weakness of RC4</a:t>
            </a:r>
          </a:p>
          <a:p>
            <a:r>
              <a:rPr lang="en-US" dirty="0"/>
              <a:t>Beck-</a:t>
            </a:r>
            <a:r>
              <a:rPr lang="en-US" dirty="0" err="1"/>
              <a:t>Tews</a:t>
            </a:r>
            <a:r>
              <a:rPr lang="en-US" dirty="0"/>
              <a:t> attack</a:t>
            </a:r>
          </a:p>
          <a:p>
            <a:pPr lvl="1"/>
            <a:r>
              <a:rPr lang="en-US" dirty="0"/>
              <a:t>Active attack based on </a:t>
            </a:r>
            <a:r>
              <a:rPr lang="en-US" b="1" dirty="0" err="1">
                <a:solidFill>
                  <a:srgbClr val="FF0000"/>
                </a:solidFill>
              </a:rPr>
              <a:t>chopchop</a:t>
            </a:r>
            <a:r>
              <a:rPr lang="en-US" dirty="0"/>
              <a:t> method for recovering plaintext</a:t>
            </a:r>
          </a:p>
          <a:p>
            <a:pPr lvl="1"/>
            <a:r>
              <a:rPr lang="en-US" dirty="0"/>
              <a:t>Requires support for alternative </a:t>
            </a:r>
            <a:r>
              <a:rPr lang="en-US" dirty="0" err="1"/>
              <a:t>QoS</a:t>
            </a:r>
            <a:r>
              <a:rPr lang="en-US" dirty="0"/>
              <a:t> channels to by-pass anti-replay protection</a:t>
            </a:r>
          </a:p>
          <a:p>
            <a:pPr lvl="1"/>
            <a:r>
              <a:rPr lang="en-US" dirty="0"/>
              <a:t>Rate-limited since correctness of plaintext guess is indicated by MIC verification failure, and only 2 failures per minute are tolerated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Need for A Better (Long Term) Security Standard</a:t>
            </a:r>
          </a:p>
        </p:txBody>
      </p:sp>
    </p:spTree>
    <p:extLst>
      <p:ext uri="{BB962C8B-B14F-4D97-AF65-F5344CB8AC3E}">
        <p14:creationId xmlns:p14="http://schemas.microsoft.com/office/powerpoint/2010/main" val="201905171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Beck-</a:t>
            </a:r>
            <a:r>
              <a:rPr lang="en-US" dirty="0" err="1"/>
              <a:t>Tews</a:t>
            </a:r>
            <a:r>
              <a:rPr lang="en-US" dirty="0"/>
              <a:t> attack: </a:t>
            </a:r>
            <a:r>
              <a:rPr lang="en-US" dirty="0" err="1"/>
              <a:t>Chopchop</a:t>
            </a:r>
            <a:r>
              <a:rPr lang="en-US" dirty="0"/>
              <a:t> Method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6034" y="4685378"/>
            <a:ext cx="4011516" cy="197527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96138" y="2525043"/>
            <a:ext cx="745435" cy="58640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593973" y="2525042"/>
            <a:ext cx="745435" cy="58640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491808" y="2525042"/>
            <a:ext cx="745435" cy="58640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3389643" y="2525041"/>
            <a:ext cx="745435" cy="58640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287478" y="2525043"/>
            <a:ext cx="745435" cy="58640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5185313" y="2525042"/>
            <a:ext cx="745435" cy="58640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6083148" y="2525042"/>
            <a:ext cx="745435" cy="58640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6980983" y="2525041"/>
            <a:ext cx="745435" cy="58640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8365834" y="2525043"/>
            <a:ext cx="1831716" cy="586407"/>
          </a:xfrm>
          <a:prstGeom prst="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3389643" y="2587411"/>
            <a:ext cx="25009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Encrypted 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74437" y="2587410"/>
            <a:ext cx="16145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ENC. ICV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6138" y="3672212"/>
            <a:ext cx="745435" cy="58640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1593973" y="3672211"/>
            <a:ext cx="745435" cy="58640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2491808" y="3672211"/>
            <a:ext cx="745435" cy="58640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3389643" y="3672210"/>
            <a:ext cx="745435" cy="58640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4287478" y="3672212"/>
            <a:ext cx="745435" cy="58640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5185313" y="3672211"/>
            <a:ext cx="745435" cy="58640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6083148" y="3672211"/>
            <a:ext cx="745435" cy="58640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8365834" y="3672212"/>
            <a:ext cx="1831716" cy="586407"/>
          </a:xfrm>
          <a:prstGeom prst="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3389643" y="3734580"/>
            <a:ext cx="25009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Encrypted Data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74437" y="3734579"/>
            <a:ext cx="16145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?</a:t>
            </a:r>
          </a:p>
        </p:txBody>
      </p:sp>
      <p:sp>
        <p:nvSpPr>
          <p:cNvPr id="26" name="Multiply 25"/>
          <p:cNvSpPr/>
          <p:nvPr/>
        </p:nvSpPr>
        <p:spPr>
          <a:xfrm>
            <a:off x="6868342" y="2361042"/>
            <a:ext cx="993913" cy="914400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/>
          <p:cNvSpPr txBox="1"/>
          <p:nvPr/>
        </p:nvSpPr>
        <p:spPr>
          <a:xfrm>
            <a:off x="696137" y="4685378"/>
            <a:ext cx="505861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Guess the value of the deleted byte and calculate new ICV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83147" y="6072809"/>
            <a:ext cx="4233669" cy="57646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/>
          <p:cNvSpPr txBox="1"/>
          <p:nvPr/>
        </p:nvSpPr>
        <p:spPr>
          <a:xfrm>
            <a:off x="7025707" y="3087437"/>
            <a:ext cx="8845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>
                <a:solidFill>
                  <a:srgbClr val="FF0000"/>
                </a:solidFill>
              </a:rPr>
              <a:t>FA</a:t>
            </a:r>
          </a:p>
        </p:txBody>
      </p:sp>
    </p:spTree>
    <p:extLst>
      <p:ext uri="{BB962C8B-B14F-4D97-AF65-F5344CB8AC3E}">
        <p14:creationId xmlns:p14="http://schemas.microsoft.com/office/powerpoint/2010/main" val="28981245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/>
      <p:bldP spid="25" grpId="0"/>
      <p:bldP spid="26" grpId="0" animBg="1"/>
      <p:bldP spid="27" grpId="0"/>
      <p:bldP spid="28" grpId="0" animBg="1"/>
      <p:bldP spid="29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Normally, in WPA, a falsified encrypted packet that is made from an encrypted packet accepted in the past </a:t>
            </a:r>
            <a:r>
              <a:rPr lang="en-US" dirty="0">
                <a:solidFill>
                  <a:srgbClr val="FF0000"/>
                </a:solidFill>
              </a:rPr>
              <a:t>is discarded </a:t>
            </a:r>
            <a:r>
              <a:rPr lang="en-US" dirty="0"/>
              <a:t>since the value of IV is checked.</a:t>
            </a:r>
          </a:p>
          <a:p>
            <a:r>
              <a:rPr lang="en-US" dirty="0"/>
              <a:t>However, the </a:t>
            </a:r>
            <a:r>
              <a:rPr lang="en-US" dirty="0" err="1"/>
              <a:t>chopchop</a:t>
            </a:r>
            <a:r>
              <a:rPr lang="en-US" dirty="0"/>
              <a:t> attack can be executed on WPA implementations those support </a:t>
            </a:r>
            <a:r>
              <a:rPr lang="en-US" dirty="0">
                <a:solidFill>
                  <a:srgbClr val="FF0000"/>
                </a:solidFill>
              </a:rPr>
              <a:t>IEEE802.11e </a:t>
            </a:r>
            <a:r>
              <a:rPr lang="en-US" dirty="0" err="1">
                <a:solidFill>
                  <a:srgbClr val="FF0000"/>
                </a:solidFill>
              </a:rPr>
              <a:t>QoS</a:t>
            </a:r>
            <a:r>
              <a:rPr lang="en-US" dirty="0">
                <a:solidFill>
                  <a:srgbClr val="FF0000"/>
                </a:solidFill>
              </a:rPr>
              <a:t> features</a:t>
            </a:r>
            <a:r>
              <a:rPr lang="en-US" dirty="0"/>
              <a:t>, which allow</a:t>
            </a:r>
            <a:r>
              <a:rPr lang="en-US" dirty="0">
                <a:solidFill>
                  <a:srgbClr val="FF0000"/>
                </a:solidFill>
              </a:rPr>
              <a:t> 8 different channels</a:t>
            </a:r>
            <a:r>
              <a:rPr lang="en-US" dirty="0"/>
              <a:t> for different data flows, and each channel has the </a:t>
            </a:r>
            <a:r>
              <a:rPr lang="en-US" dirty="0">
                <a:solidFill>
                  <a:srgbClr val="FF0000"/>
                </a:solidFill>
              </a:rPr>
              <a:t>TSC counter independently</a:t>
            </a:r>
            <a:r>
              <a:rPr lang="en-US" dirty="0"/>
              <a:t>.</a:t>
            </a:r>
          </a:p>
          <a:p>
            <a:r>
              <a:rPr lang="en-US" dirty="0"/>
              <a:t>The attacker can capture an encrypted packet from one channel and execute the </a:t>
            </a:r>
            <a:r>
              <a:rPr lang="en-US" dirty="0" err="1"/>
              <a:t>chopchop</a:t>
            </a:r>
            <a:r>
              <a:rPr lang="en-US" dirty="0"/>
              <a:t> attack on </a:t>
            </a:r>
            <a:r>
              <a:rPr lang="en-US" dirty="0">
                <a:solidFill>
                  <a:srgbClr val="FF0000"/>
                </a:solidFill>
              </a:rPr>
              <a:t>another channel </a:t>
            </a:r>
            <a:r>
              <a:rPr lang="en-US" dirty="0"/>
              <a:t>that has a smaller TSC counter.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Beck-</a:t>
            </a:r>
            <a:r>
              <a:rPr lang="en-US" dirty="0" err="1"/>
              <a:t>Tews</a:t>
            </a:r>
            <a:r>
              <a:rPr lang="en-US" dirty="0"/>
              <a:t> attack</a:t>
            </a:r>
          </a:p>
        </p:txBody>
      </p:sp>
    </p:spTree>
    <p:extLst>
      <p:ext uri="{BB962C8B-B14F-4D97-AF65-F5344CB8AC3E}">
        <p14:creationId xmlns:p14="http://schemas.microsoft.com/office/powerpoint/2010/main" val="33815953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UB Powerpoint Template">
  <a:themeElements>
    <a:clrScheme name="Custom 1">
      <a:dk1>
        <a:srgbClr val="000000"/>
      </a:dk1>
      <a:lt1>
        <a:srgbClr val="FFFFFF"/>
      </a:lt1>
      <a:dk2>
        <a:srgbClr val="005BBB"/>
      </a:dk2>
      <a:lt2>
        <a:srgbClr val="FFFFFF"/>
      </a:lt2>
      <a:accent1>
        <a:srgbClr val="005BBB"/>
      </a:accent1>
      <a:accent2>
        <a:srgbClr val="41B6E6"/>
      </a:accent2>
      <a:accent3>
        <a:srgbClr val="E56D54"/>
      </a:accent3>
      <a:accent4>
        <a:srgbClr val="666666"/>
      </a:accent4>
      <a:accent5>
        <a:srgbClr val="007681"/>
      </a:accent5>
      <a:accent6>
        <a:srgbClr val="003E51"/>
      </a:accent6>
      <a:hlink>
        <a:srgbClr val="186BB7"/>
      </a:hlink>
      <a:folHlink>
        <a:srgbClr val="D86A4E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owerpoint_Template_WIDE" id="{320877F5-9057-5044-9670-55C377C33490}" vid="{043CC7DF-15AC-0F49-A0D1-304573C219B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8871</TotalTime>
  <Words>1942</Words>
  <Application>Microsoft Office PowerPoint</Application>
  <PresentationFormat>宽屏</PresentationFormat>
  <Paragraphs>316</Paragraphs>
  <Slides>36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36</vt:i4>
      </vt:variant>
    </vt:vector>
  </HeadingPairs>
  <TitlesOfParts>
    <vt:vector size="43" baseType="lpstr">
      <vt:lpstr>LucidaGrande</vt:lpstr>
      <vt:lpstr>Arial</vt:lpstr>
      <vt:lpstr>Arial Narrow</vt:lpstr>
      <vt:lpstr>Cambria Math</vt:lpstr>
      <vt:lpstr>Comic Sans MS</vt:lpstr>
      <vt:lpstr>Times New Roman</vt:lpstr>
      <vt:lpstr>UB Powerpoint Template</vt:lpstr>
      <vt:lpstr>Wireless network and IoT security</vt:lpstr>
      <vt:lpstr>Wi-Fi Protected Access (WPA)</vt:lpstr>
      <vt:lpstr>How WPA Addresses the WEP Vulnerabilities</vt:lpstr>
      <vt:lpstr>Key WPA Facts</vt:lpstr>
      <vt:lpstr>Message Integrity Check: Michael Algorithm </vt:lpstr>
      <vt:lpstr>Data Integrity: The Michael MIC Algorithm </vt:lpstr>
      <vt:lpstr>Defeating Replays: IV Sequence Enforcement  </vt:lpstr>
      <vt:lpstr>TKIP Re-Key Mechanism</vt:lpstr>
      <vt:lpstr>Pairwise Master Key (PMK) Construction</vt:lpstr>
      <vt:lpstr>Pairwise Transient Key (PTK) Construction</vt:lpstr>
      <vt:lpstr>TKIP: Per-Packet Key Mixing</vt:lpstr>
      <vt:lpstr>TKIP Encryption Process</vt:lpstr>
      <vt:lpstr>TKIP Decryption Process</vt:lpstr>
      <vt:lpstr>TKIP Summary</vt:lpstr>
      <vt:lpstr>How to Negotiate a Passphrase and PTK? </vt:lpstr>
      <vt:lpstr>WPA-PSK Overview</vt:lpstr>
      <vt:lpstr>The Role of 4-Way Handshake:  Authentication and Key Exchange</vt:lpstr>
      <vt:lpstr>PSK: 4-Way Handshake Authentication</vt:lpstr>
      <vt:lpstr>Vulnerabilities of 4-way handshake</vt:lpstr>
      <vt:lpstr>WPA-PSK: the Brute Force Attack</vt:lpstr>
      <vt:lpstr>630 Years for an 8 Character Key</vt:lpstr>
      <vt:lpstr>WPA-PSK: Rainbow Table</vt:lpstr>
      <vt:lpstr>Suggestions for WPA-PSK</vt:lpstr>
      <vt:lpstr>WPA Enterprise Mode</vt:lpstr>
      <vt:lpstr>IEEE 802.1X</vt:lpstr>
      <vt:lpstr>Main 802.1X components</vt:lpstr>
      <vt:lpstr>802.1X Authentication</vt:lpstr>
      <vt:lpstr>Extensible Authentication Protocol (EAP)</vt:lpstr>
      <vt:lpstr>Extensible Authentication Protocol (EAP)</vt:lpstr>
      <vt:lpstr>Extensible Authentication Protocol (EAP)</vt:lpstr>
      <vt:lpstr>Extensible Authentication Protocol (EAP)</vt:lpstr>
      <vt:lpstr>EAP in Action</vt:lpstr>
      <vt:lpstr>IEEE 802.1X authentication summary</vt:lpstr>
      <vt:lpstr>The Need for A Better (Long Term) Security Standard</vt:lpstr>
      <vt:lpstr>The Beck-Tews attack: Chopchop Method</vt:lpstr>
      <vt:lpstr>The Beck-Tews attack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UB Powerpoint Template</dc:title>
  <dc:subject/>
  <dc:creator>Microsoft Office User</dc:creator>
  <cp:keywords/>
  <dc:description/>
  <cp:lastModifiedBy>巴 钟杰</cp:lastModifiedBy>
  <cp:revision>290</cp:revision>
  <cp:lastPrinted>2016-07-18T17:32:49Z</cp:lastPrinted>
  <dcterms:created xsi:type="dcterms:W3CDTF">2016-06-28T14:05:07Z</dcterms:created>
  <dcterms:modified xsi:type="dcterms:W3CDTF">2021-06-21T10:50:21Z</dcterms:modified>
  <cp:category/>
</cp:coreProperties>
</file>