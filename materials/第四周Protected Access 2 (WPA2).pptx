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1" r:id="rId1"/>
  </p:sldMasterIdLst>
  <p:notesMasterIdLst>
    <p:notesMasterId r:id="rId42"/>
  </p:notesMasterIdLst>
  <p:handoutMasterIdLst>
    <p:handoutMasterId r:id="rId43"/>
  </p:handoutMasterIdLst>
  <p:sldIdLst>
    <p:sldId id="256" r:id="rId2"/>
    <p:sldId id="257" r:id="rId3"/>
    <p:sldId id="263" r:id="rId4"/>
    <p:sldId id="264" r:id="rId5"/>
    <p:sldId id="265" r:id="rId6"/>
    <p:sldId id="266" r:id="rId7"/>
    <p:sldId id="267" r:id="rId8"/>
    <p:sldId id="268" r:id="rId9"/>
    <p:sldId id="269" r:id="rId10"/>
    <p:sldId id="271" r:id="rId11"/>
    <p:sldId id="272" r:id="rId12"/>
    <p:sldId id="301" r:id="rId13"/>
    <p:sldId id="302" r:id="rId14"/>
    <p:sldId id="274" r:id="rId15"/>
    <p:sldId id="270" r:id="rId16"/>
    <p:sldId id="303" r:id="rId17"/>
    <p:sldId id="276" r:id="rId18"/>
    <p:sldId id="279" r:id="rId19"/>
    <p:sldId id="281" r:id="rId20"/>
    <p:sldId id="310" r:id="rId21"/>
    <p:sldId id="282" r:id="rId22"/>
    <p:sldId id="283" r:id="rId23"/>
    <p:sldId id="305" r:id="rId24"/>
    <p:sldId id="306" r:id="rId25"/>
    <p:sldId id="308" r:id="rId26"/>
    <p:sldId id="309"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312" r:id="rId41"/>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BBB"/>
    <a:srgbClr val="000000"/>
    <a:srgbClr val="00C7B1"/>
    <a:srgbClr val="828383"/>
    <a:srgbClr val="666666"/>
    <a:srgbClr val="4DC3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37"/>
    <p:restoredTop sz="76904" autoAdjust="0"/>
  </p:normalViewPr>
  <p:slideViewPr>
    <p:cSldViewPr snapToGrid="0" snapToObjects="1">
      <p:cViewPr varScale="1">
        <p:scale>
          <a:sx n="85" d="100"/>
          <a:sy n="85" d="100"/>
        </p:scale>
        <p:origin x="1356" y="78"/>
      </p:cViewPr>
      <p:guideLst/>
    </p:cSldViewPr>
  </p:slideViewPr>
  <p:outlineViewPr>
    <p:cViewPr>
      <p:scale>
        <a:sx n="33" d="100"/>
        <a:sy n="33" d="100"/>
      </p:scale>
      <p:origin x="0" y="-6064"/>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7" d="100"/>
          <a:sy n="87" d="100"/>
        </p:scale>
        <p:origin x="3904"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rial"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1D33A1-6D17-2C4C-B4C2-C83DB37352CC}" type="datetimeFigureOut">
              <a:rPr lang="en-US" smtClean="0">
                <a:latin typeface="Arial" charset="0"/>
              </a:rPr>
              <a:t>5/12/2022</a:t>
            </a:fld>
            <a:endParaRPr lang="en-US" dirty="0">
              <a:latin typeface="Arial"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rial"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59171E-5108-1245-8B63-E8B205C9AF87}" type="slidenum">
              <a:rPr lang="en-US" smtClean="0">
                <a:latin typeface="Arial" charset="0"/>
              </a:rPr>
              <a:t>‹#›</a:t>
            </a:fld>
            <a:endParaRPr lang="en-US" dirty="0">
              <a:latin typeface="Arial" charset="0"/>
            </a:endParaRPr>
          </a:p>
        </p:txBody>
      </p:sp>
    </p:spTree>
    <p:extLst>
      <p:ext uri="{BB962C8B-B14F-4D97-AF65-F5344CB8AC3E}">
        <p14:creationId xmlns:p14="http://schemas.microsoft.com/office/powerpoint/2010/main" val="9675423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charset="0"/>
              </a:defRPr>
            </a:lvl1pPr>
          </a:lstStyle>
          <a:p>
            <a:fld id="{5B96CA4F-2197-CC40-B4FC-798A937A9DC6}" type="datetimeFigureOut">
              <a:rPr lang="en-US" smtClean="0"/>
              <a:pPr/>
              <a:t>5/12/2022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charset="0"/>
              </a:defRPr>
            </a:lvl1pPr>
          </a:lstStyle>
          <a:p>
            <a:fld id="{02322656-8894-1544-92AA-01B3CF5E6182}" type="slidenum">
              <a:rPr lang="en-US" smtClean="0"/>
              <a:pPr/>
              <a:t>‹#›</a:t>
            </a:fld>
            <a:endParaRPr lang="en-US" dirty="0"/>
          </a:p>
        </p:txBody>
      </p:sp>
    </p:spTree>
    <p:extLst>
      <p:ext uri="{BB962C8B-B14F-4D97-AF65-F5344CB8AC3E}">
        <p14:creationId xmlns:p14="http://schemas.microsoft.com/office/powerpoint/2010/main" val="702750498"/>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charset="0"/>
        <a:ea typeface="+mn-ea"/>
        <a:cs typeface="+mn-cs"/>
      </a:defRPr>
    </a:lvl1pPr>
    <a:lvl2pPr marL="609585" algn="l" defTabSz="1219170" rtl="0" eaLnBrk="1" latinLnBrk="0" hangingPunct="1">
      <a:defRPr sz="1600" kern="1200">
        <a:solidFill>
          <a:schemeClr val="tx1"/>
        </a:solidFill>
        <a:latin typeface="Arial" charset="0"/>
        <a:ea typeface="+mn-ea"/>
        <a:cs typeface="+mn-cs"/>
      </a:defRPr>
    </a:lvl2pPr>
    <a:lvl3pPr marL="1219170" algn="l" defTabSz="1219170" rtl="0" eaLnBrk="1" latinLnBrk="0" hangingPunct="1">
      <a:defRPr sz="1600" kern="1200">
        <a:solidFill>
          <a:schemeClr val="tx1"/>
        </a:solidFill>
        <a:latin typeface="Arial" charset="0"/>
        <a:ea typeface="+mn-ea"/>
        <a:cs typeface="+mn-cs"/>
      </a:defRPr>
    </a:lvl3pPr>
    <a:lvl4pPr marL="1828754" algn="l" defTabSz="1219170" rtl="0" eaLnBrk="1" latinLnBrk="0" hangingPunct="1">
      <a:defRPr sz="1600" kern="1200">
        <a:solidFill>
          <a:schemeClr val="tx1"/>
        </a:solidFill>
        <a:latin typeface="Arial" charset="0"/>
        <a:ea typeface="+mn-ea"/>
        <a:cs typeface="+mn-cs"/>
      </a:defRPr>
    </a:lvl4pPr>
    <a:lvl5pPr marL="2438339" algn="l" defTabSz="1219170" rtl="0" eaLnBrk="1" latinLnBrk="0" hangingPunct="1">
      <a:defRPr sz="1600" kern="1200">
        <a:solidFill>
          <a:schemeClr val="tx1"/>
        </a:solidFill>
        <a:latin typeface="Arial"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2</a:t>
            </a:fld>
            <a:endParaRPr lang="en-US" dirty="0"/>
          </a:p>
        </p:txBody>
      </p:sp>
    </p:spTree>
    <p:extLst>
      <p:ext uri="{BB962C8B-B14F-4D97-AF65-F5344CB8AC3E}">
        <p14:creationId xmlns:p14="http://schemas.microsoft.com/office/powerpoint/2010/main" val="3563743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4</a:t>
            </a:fld>
            <a:endParaRPr lang="en-US" dirty="0"/>
          </a:p>
        </p:txBody>
      </p:sp>
    </p:spTree>
    <p:extLst>
      <p:ext uri="{BB962C8B-B14F-4D97-AF65-F5344CB8AC3E}">
        <p14:creationId xmlns:p14="http://schemas.microsoft.com/office/powerpoint/2010/main" val="4084447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6</a:t>
            </a:fld>
            <a:endParaRPr lang="en-US" dirty="0"/>
          </a:p>
        </p:txBody>
      </p:sp>
    </p:spTree>
    <p:extLst>
      <p:ext uri="{BB962C8B-B14F-4D97-AF65-F5344CB8AC3E}">
        <p14:creationId xmlns:p14="http://schemas.microsoft.com/office/powerpoint/2010/main" val="1540056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kern="1200" baseline="0" dirty="0">
                <a:solidFill>
                  <a:schemeClr val="tx1"/>
                </a:solidFill>
                <a:latin typeface="Times New Roman" pitchFamily="-110" charset="0"/>
                <a:ea typeface="+mn-ea"/>
                <a:cs typeface="+mn-cs"/>
              </a:rPr>
              <a:t>The STA and AP use this handshake to confirm the existence of the PMK, verify the selection of the cipher suite, and derive a fresh PTK for the</a:t>
            </a:r>
          </a:p>
          <a:p>
            <a:r>
              <a:rPr lang="en-US" sz="1600" b="0" kern="1200" baseline="0" dirty="0">
                <a:solidFill>
                  <a:schemeClr val="tx1"/>
                </a:solidFill>
                <a:latin typeface="Times New Roman" pitchFamily="-110" charset="0"/>
                <a:ea typeface="+mn-ea"/>
                <a:cs typeface="+mn-cs"/>
              </a:rPr>
              <a:t>following data session. The four parts of the exchange are as follows.</a:t>
            </a:r>
          </a:p>
          <a:p>
            <a:endParaRPr lang="en-US" sz="1600" b="0" kern="1200" baseline="0" dirty="0">
              <a:solidFill>
                <a:schemeClr val="tx1"/>
              </a:solidFill>
              <a:latin typeface="Times New Roman" pitchFamily="-110" charset="0"/>
              <a:ea typeface="+mn-ea"/>
              <a:cs typeface="+mn-cs"/>
            </a:endParaRPr>
          </a:p>
          <a:p>
            <a:r>
              <a:rPr lang="en-US" sz="1600" b="0" kern="1200" baseline="0" dirty="0">
                <a:solidFill>
                  <a:schemeClr val="tx1"/>
                </a:solidFill>
                <a:latin typeface="Times New Roman" pitchFamily="-110" charset="0"/>
                <a:ea typeface="+mn-ea"/>
                <a:cs typeface="+mn-cs"/>
              </a:rPr>
              <a:t>• AP → STA: Message includes the MAC address of the AP and a nonce (</a:t>
            </a:r>
            <a:r>
              <a:rPr lang="en-US" sz="1600" b="0" kern="1200" baseline="0" dirty="0" err="1">
                <a:solidFill>
                  <a:schemeClr val="tx1"/>
                </a:solidFill>
                <a:latin typeface="Times New Roman" pitchFamily="-110" charset="0"/>
                <a:ea typeface="+mn-ea"/>
                <a:cs typeface="+mn-cs"/>
              </a:rPr>
              <a:t>Anonce</a:t>
            </a:r>
            <a:r>
              <a:rPr lang="en-US" sz="1600" b="0" kern="1200" baseline="0" dirty="0">
                <a:solidFill>
                  <a:schemeClr val="tx1"/>
                </a:solidFill>
                <a:latin typeface="Times New Roman" pitchFamily="-110" charset="0"/>
                <a:ea typeface="+mn-ea"/>
                <a:cs typeface="+mn-cs"/>
              </a:rPr>
              <a:t>)</a:t>
            </a:r>
          </a:p>
          <a:p>
            <a:endParaRPr lang="en-US" sz="1600" b="0" kern="1200" baseline="0" dirty="0">
              <a:solidFill>
                <a:schemeClr val="tx1"/>
              </a:solidFill>
              <a:latin typeface="Times New Roman" pitchFamily="-110" charset="0"/>
              <a:ea typeface="+mn-ea"/>
              <a:cs typeface="+mn-cs"/>
            </a:endParaRPr>
          </a:p>
          <a:p>
            <a:r>
              <a:rPr lang="en-US" sz="1600" b="0" kern="1200" baseline="0" dirty="0">
                <a:solidFill>
                  <a:schemeClr val="tx1"/>
                </a:solidFill>
                <a:latin typeface="Times New Roman" pitchFamily="-110" charset="0"/>
                <a:ea typeface="+mn-ea"/>
                <a:cs typeface="+mn-cs"/>
              </a:rPr>
              <a:t>• STA → AP: The STA generates its own nonce (</a:t>
            </a:r>
            <a:r>
              <a:rPr lang="en-US" sz="1600" b="0" kern="1200" baseline="0" dirty="0" err="1">
                <a:solidFill>
                  <a:schemeClr val="tx1"/>
                </a:solidFill>
                <a:latin typeface="Times New Roman" pitchFamily="-110" charset="0"/>
                <a:ea typeface="+mn-ea"/>
                <a:cs typeface="+mn-cs"/>
              </a:rPr>
              <a:t>Snonce</a:t>
            </a:r>
            <a:r>
              <a:rPr lang="en-US" sz="1600" b="0" kern="1200" baseline="0" dirty="0">
                <a:solidFill>
                  <a:schemeClr val="tx1"/>
                </a:solidFill>
                <a:latin typeface="Times New Roman" pitchFamily="-110" charset="0"/>
                <a:ea typeface="+mn-ea"/>
                <a:cs typeface="+mn-cs"/>
              </a:rPr>
              <a:t>) and uses both </a:t>
            </a:r>
            <a:r>
              <a:rPr lang="en-US" sz="1600" b="0" kern="1200" baseline="0" dirty="0" err="1">
                <a:solidFill>
                  <a:schemeClr val="tx1"/>
                </a:solidFill>
                <a:latin typeface="Times New Roman" pitchFamily="-110" charset="0"/>
                <a:ea typeface="+mn-ea"/>
                <a:cs typeface="+mn-cs"/>
              </a:rPr>
              <a:t>nonces</a:t>
            </a:r>
            <a:r>
              <a:rPr lang="en-US" sz="1600" b="0" kern="1200" baseline="0" dirty="0">
                <a:solidFill>
                  <a:schemeClr val="tx1"/>
                </a:solidFill>
                <a:latin typeface="Times New Roman" pitchFamily="-110" charset="0"/>
                <a:ea typeface="+mn-ea"/>
                <a:cs typeface="+mn-cs"/>
              </a:rPr>
              <a:t> and both MAC addresses, plus the PMK, to generate a PTK. The STA then</a:t>
            </a:r>
          </a:p>
          <a:p>
            <a:r>
              <a:rPr lang="en-US" sz="1600" b="0" kern="1200" baseline="0" dirty="0">
                <a:solidFill>
                  <a:schemeClr val="tx1"/>
                </a:solidFill>
                <a:latin typeface="Times New Roman" pitchFamily="-110" charset="0"/>
                <a:ea typeface="+mn-ea"/>
                <a:cs typeface="+mn-cs"/>
              </a:rPr>
              <a:t>sends a message containing its MAC address and </a:t>
            </a:r>
            <a:r>
              <a:rPr lang="en-US" sz="1600" b="0" kern="1200" baseline="0" dirty="0" err="1">
                <a:solidFill>
                  <a:schemeClr val="tx1"/>
                </a:solidFill>
                <a:latin typeface="Times New Roman" pitchFamily="-110" charset="0"/>
                <a:ea typeface="+mn-ea"/>
                <a:cs typeface="+mn-cs"/>
              </a:rPr>
              <a:t>Snonce</a:t>
            </a:r>
            <a:r>
              <a:rPr lang="en-US" sz="1600" b="0" kern="1200" baseline="0" dirty="0">
                <a:solidFill>
                  <a:schemeClr val="tx1"/>
                </a:solidFill>
                <a:latin typeface="Times New Roman" pitchFamily="-110" charset="0"/>
                <a:ea typeface="+mn-ea"/>
                <a:cs typeface="+mn-cs"/>
              </a:rPr>
              <a:t>, enabling the AP to generate the same PTK. This message includes a message integrity code (MIC) </a:t>
            </a:r>
          </a:p>
          <a:p>
            <a:r>
              <a:rPr lang="en-US" sz="1600" b="0" kern="1200" baseline="0" dirty="0">
                <a:solidFill>
                  <a:schemeClr val="tx1"/>
                </a:solidFill>
                <a:latin typeface="Times New Roman" pitchFamily="-110" charset="0"/>
                <a:ea typeface="+mn-ea"/>
                <a:cs typeface="+mn-cs"/>
              </a:rPr>
              <a:t>using HMAC-MD5 or HMAC-SHA-1-128. The key used with the MIC is KCK.</a:t>
            </a:r>
          </a:p>
          <a:p>
            <a:endParaRPr lang="en-US" sz="1600" b="0" kern="1200" baseline="0" dirty="0">
              <a:solidFill>
                <a:schemeClr val="tx1"/>
              </a:solidFill>
              <a:latin typeface="Times New Roman" pitchFamily="-110" charset="0"/>
              <a:ea typeface="+mn-ea"/>
              <a:cs typeface="+mn-cs"/>
            </a:endParaRPr>
          </a:p>
          <a:p>
            <a:r>
              <a:rPr lang="en-US" sz="1600" b="0" kern="1200" baseline="0" dirty="0">
                <a:solidFill>
                  <a:schemeClr val="tx1"/>
                </a:solidFill>
                <a:latin typeface="Times New Roman" pitchFamily="-110" charset="0"/>
                <a:ea typeface="+mn-ea"/>
                <a:cs typeface="+mn-cs"/>
              </a:rPr>
              <a:t>• AP → STA: The AP is now able to generate the PTK. The AP then sends a message to the STA, containing the same information as in the first message,</a:t>
            </a:r>
          </a:p>
          <a:p>
            <a:r>
              <a:rPr lang="en-US" sz="1600" b="0" kern="1200" baseline="0" dirty="0">
                <a:solidFill>
                  <a:schemeClr val="tx1"/>
                </a:solidFill>
                <a:latin typeface="Times New Roman" pitchFamily="-110" charset="0"/>
                <a:ea typeface="+mn-ea"/>
                <a:cs typeface="+mn-cs"/>
              </a:rPr>
              <a:t>but this time including a MIC.</a:t>
            </a:r>
          </a:p>
          <a:p>
            <a:endParaRPr lang="en-US" sz="1600" b="0" kern="1200" baseline="0" dirty="0">
              <a:solidFill>
                <a:schemeClr val="tx1"/>
              </a:solidFill>
              <a:latin typeface="Times New Roman" pitchFamily="-110" charset="0"/>
              <a:ea typeface="+mn-ea"/>
              <a:cs typeface="+mn-cs"/>
            </a:endParaRPr>
          </a:p>
          <a:p>
            <a:r>
              <a:rPr lang="en-US" sz="1600" b="0" kern="1200" baseline="0" dirty="0">
                <a:solidFill>
                  <a:schemeClr val="tx1"/>
                </a:solidFill>
                <a:latin typeface="Times New Roman" pitchFamily="-110" charset="0"/>
                <a:ea typeface="+mn-ea"/>
                <a:cs typeface="+mn-cs"/>
              </a:rPr>
              <a:t>• STA → AP: This is merely an acknowledgement message, again protected</a:t>
            </a:r>
          </a:p>
          <a:p>
            <a:r>
              <a:rPr lang="en-US" sz="1600" b="0" kern="1200" baseline="0" dirty="0">
                <a:solidFill>
                  <a:schemeClr val="tx1"/>
                </a:solidFill>
                <a:latin typeface="Times New Roman" pitchFamily="-110" charset="0"/>
                <a:ea typeface="+mn-ea"/>
                <a:cs typeface="+mn-cs"/>
              </a:rPr>
              <a:t>by a MIC.</a:t>
            </a:r>
          </a:p>
          <a:p>
            <a:endParaRPr lang="en-US" sz="1600" b="0" i="1" kern="1200" baseline="0" dirty="0">
              <a:solidFill>
                <a:schemeClr val="tx1"/>
              </a:solidFill>
              <a:latin typeface="Times New Roman" pitchFamily="-110" charset="0"/>
              <a:ea typeface="+mn-ea"/>
              <a:cs typeface="+mn-cs"/>
            </a:endParaRPr>
          </a:p>
        </p:txBody>
      </p:sp>
      <p:sp>
        <p:nvSpPr>
          <p:cNvPr id="4" name="Slide Number Placeholder 3"/>
          <p:cNvSpPr>
            <a:spLocks noGrp="1"/>
          </p:cNvSpPr>
          <p:nvPr>
            <p:ph type="sldNum" sz="quarter" idx="10"/>
          </p:nvPr>
        </p:nvSpPr>
        <p:spPr/>
        <p:txBody>
          <a:bodyPr/>
          <a:lstStyle/>
          <a:p>
            <a:fld id="{02322656-8894-1544-92AA-01B3CF5E6182}" type="slidenum">
              <a:rPr lang="en-US" smtClean="0"/>
              <a:pPr/>
              <a:t>14</a:t>
            </a:fld>
            <a:endParaRPr lang="en-US" dirty="0"/>
          </a:p>
        </p:txBody>
      </p:sp>
    </p:spTree>
    <p:extLst>
      <p:ext uri="{BB962C8B-B14F-4D97-AF65-F5344CB8AC3E}">
        <p14:creationId xmlns:p14="http://schemas.microsoft.com/office/powerpoint/2010/main" val="1787888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encryption</a:t>
            </a:r>
            <a:r>
              <a:rPr lang="en-US" baseline="0" dirty="0"/>
              <a:t> </a:t>
            </a:r>
            <a:r>
              <a:rPr lang="en-US" dirty="0"/>
              <a:t>service in WPA2 is based on the AES algorithm used in the</a:t>
            </a:r>
            <a:r>
              <a:rPr lang="en-US" baseline="0" dirty="0"/>
              <a:t> </a:t>
            </a:r>
            <a:r>
              <a:rPr lang="en-US" dirty="0"/>
              <a:t>CTR mode.</a:t>
            </a:r>
          </a:p>
          <a:p>
            <a:endParaRPr lang="en-US"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18</a:t>
            </a:fld>
            <a:endParaRPr lang="en-US" dirty="0"/>
          </a:p>
        </p:txBody>
      </p:sp>
    </p:spTree>
    <p:extLst>
      <p:ext uri="{BB962C8B-B14F-4D97-AF65-F5344CB8AC3E}">
        <p14:creationId xmlns:p14="http://schemas.microsoft.com/office/powerpoint/2010/main" val="1838027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19</a:t>
            </a:fld>
            <a:endParaRPr lang="en-US" dirty="0"/>
          </a:p>
        </p:txBody>
      </p:sp>
    </p:spTree>
    <p:extLst>
      <p:ext uri="{BB962C8B-B14F-4D97-AF65-F5344CB8AC3E}">
        <p14:creationId xmlns:p14="http://schemas.microsoft.com/office/powerpoint/2010/main" val="2704385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20</a:t>
            </a:fld>
            <a:endParaRPr lang="en-US" dirty="0"/>
          </a:p>
        </p:txBody>
      </p:sp>
    </p:spTree>
    <p:extLst>
      <p:ext uri="{BB962C8B-B14F-4D97-AF65-F5344CB8AC3E}">
        <p14:creationId xmlns:p14="http://schemas.microsoft.com/office/powerpoint/2010/main" val="2603174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322656-8894-1544-92AA-01B3CF5E6182}" type="slidenum">
              <a:rPr lang="en-US" smtClean="0"/>
              <a:pPr/>
              <a:t>29</a:t>
            </a:fld>
            <a:endParaRPr lang="en-US" dirty="0"/>
          </a:p>
        </p:txBody>
      </p:sp>
    </p:spTree>
    <p:extLst>
      <p:ext uri="{BB962C8B-B14F-4D97-AF65-F5344CB8AC3E}">
        <p14:creationId xmlns:p14="http://schemas.microsoft.com/office/powerpoint/2010/main" val="11107906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hit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0"/>
            <a:ext cx="12188950" cy="6857998"/>
          </a:xfrm>
          <a:prstGeom prst="rect">
            <a:avLst/>
          </a:prstGeom>
        </p:spPr>
      </p:pic>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lnSpc>
                <a:spcPct val="150000"/>
              </a:lnSpc>
              <a:buNone/>
              <a:defRPr sz="2400" b="0" i="0">
                <a:solidFill>
                  <a:srgbClr val="000000"/>
                </a:solidFill>
                <a:latin typeface="+mj-lt"/>
                <a:ea typeface="Georgia" charset="0"/>
                <a:cs typeface="Georgia" charset="0"/>
              </a:defRPr>
            </a:lvl1pPr>
          </a:lstStyle>
          <a:p>
            <a:pPr lvl="0"/>
            <a:r>
              <a:rPr lang="en-US" dirty="0"/>
              <a:t>Sub-topic and Instructor</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all" baseline="0">
                <a:solidFill>
                  <a:srgbClr val="005BBB"/>
                </a:solidFill>
                <a:latin typeface="Arial" charset="0"/>
                <a:ea typeface="Arial" charset="0"/>
                <a:cs typeface="Arial" charset="0"/>
              </a:defRPr>
            </a:lvl1pPr>
          </a:lstStyle>
          <a:p>
            <a:r>
              <a:rPr lang="en-US" dirty="0"/>
              <a:t>Presentation</a:t>
            </a:r>
            <a:br>
              <a:rPr lang="en-US" dirty="0"/>
            </a:br>
            <a:r>
              <a:rPr lang="en-US" dirty="0"/>
              <a:t>Title</a:t>
            </a:r>
          </a:p>
        </p:txBody>
      </p:sp>
      <p:pic>
        <p:nvPicPr>
          <p:cNvPr id="8" name="Picture 2" descr="“computer science zhejiang university logo”的图片搜索结果"/>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60400" y="5237766"/>
            <a:ext cx="1890203" cy="945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1521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 3 level Bullet List">
    <p:spTree>
      <p:nvGrpSpPr>
        <p:cNvPr id="1" name=""/>
        <p:cNvGrpSpPr/>
        <p:nvPr/>
      </p:nvGrpSpPr>
      <p:grpSpPr>
        <a:xfrm>
          <a:off x="0" y="0"/>
          <a:ext cx="0" cy="0"/>
          <a:chOff x="0" y="0"/>
          <a:chExt cx="0" cy="0"/>
        </a:xfrm>
      </p:grpSpPr>
      <p:sp>
        <p:nvSpPr>
          <p:cNvPr id="7" name="Content Placeholder 6"/>
          <p:cNvSpPr>
            <a:spLocks noGrp="1"/>
          </p:cNvSpPr>
          <p:nvPr>
            <p:ph sz="quarter" idx="10" hasCustomPrompt="1"/>
          </p:nvPr>
        </p:nvSpPr>
        <p:spPr>
          <a:xfrm>
            <a:off x="566928" y="2185416"/>
            <a:ext cx="10515600" cy="3848100"/>
          </a:xfrm>
          <a:prstGeom prst="rect">
            <a:avLst/>
          </a:prstGeom>
        </p:spPr>
        <p:txBody>
          <a:bodyPr>
            <a:noAutofit/>
          </a:bodyPr>
          <a:lstStyle>
            <a:lvl1pPr marL="285750" indent="-285750">
              <a:lnSpc>
                <a:spcPct val="100000"/>
              </a:lnSpc>
              <a:buClr>
                <a:srgbClr val="005BBB"/>
              </a:buClr>
              <a:buFont typeface="Arial" panose="020B0604020202020204" pitchFamily="34" charset="0"/>
              <a:buChar char="•"/>
              <a:defRPr sz="2400" b="0">
                <a:solidFill>
                  <a:schemeClr val="tx1"/>
                </a:solidFill>
                <a:latin typeface="Arial" charset="0"/>
                <a:ea typeface="Arial" charset="0"/>
                <a:cs typeface="Arial" charset="0"/>
              </a:defRPr>
            </a:lvl1pPr>
            <a:lvl2pPr marL="800100" indent="-342900">
              <a:lnSpc>
                <a:spcPct val="100000"/>
              </a:lnSpc>
              <a:buClr>
                <a:srgbClr val="005BBB"/>
              </a:buClr>
              <a:buFont typeface="Arial" panose="020B0604020202020204" pitchFamily="34" charset="0"/>
              <a:buChar char="•"/>
              <a:tabLst/>
              <a:defRPr sz="2000">
                <a:solidFill>
                  <a:schemeClr val="tx1"/>
                </a:solidFill>
                <a:latin typeface="Arial" charset="0"/>
                <a:ea typeface="Arial" charset="0"/>
                <a:cs typeface="Arial" charset="0"/>
              </a:defRPr>
            </a:lvl2pPr>
            <a:lvl3pPr marL="1143000" marR="0" indent="-228600" algn="l" defTabSz="914400" rtl="0" eaLnBrk="1" fontAlgn="auto" latinLnBrk="0" hangingPunct="1">
              <a:lnSpc>
                <a:spcPct val="100000"/>
              </a:lnSpc>
              <a:spcBef>
                <a:spcPts val="500"/>
              </a:spcBef>
              <a:spcAft>
                <a:spcPts val="0"/>
              </a:spcAft>
              <a:buClr>
                <a:srgbClr val="005BBB"/>
              </a:buClr>
              <a:buSzTx/>
              <a:buFont typeface="LucidaGrande" charset="0"/>
              <a:buChar char="-"/>
              <a:tabLst>
                <a:tab pos="1143000" algn="l"/>
              </a:tabLst>
              <a:defRPr sz="2000">
                <a:solidFill>
                  <a:schemeClr val="tx1"/>
                </a:solidFill>
                <a:latin typeface="Arial" charset="0"/>
                <a:ea typeface="Arial" charset="0"/>
                <a:cs typeface="Arial" charset="0"/>
              </a:defRPr>
            </a:lvl3pPr>
            <a:lvl4pPr>
              <a:buClr>
                <a:srgbClr val="005BBB"/>
              </a:buClr>
              <a:defRPr>
                <a:solidFill>
                  <a:srgbClr val="666666"/>
                </a:solidFill>
                <a:latin typeface="Arial" charset="0"/>
                <a:ea typeface="Arial" charset="0"/>
                <a:cs typeface="Arial" charset="0"/>
              </a:defRPr>
            </a:lvl4pPr>
            <a:lvl5pPr>
              <a:buClr>
                <a:srgbClr val="005BBB"/>
              </a:buClr>
              <a:defRPr>
                <a:solidFill>
                  <a:srgbClr val="666666"/>
                </a:solidFill>
                <a:latin typeface="Arial" charset="0"/>
                <a:ea typeface="Arial" charset="0"/>
                <a:cs typeface="Arial" charset="0"/>
              </a:defRPr>
            </a:lvl5pPr>
          </a:lstStyle>
          <a:p>
            <a:pPr lvl="0"/>
            <a:r>
              <a:rPr lang="en-US" dirty="0"/>
              <a:t>First level text</a:t>
            </a:r>
          </a:p>
          <a:p>
            <a:pPr lvl="1"/>
            <a:r>
              <a:rPr lang="en-US" dirty="0"/>
              <a:t>Second level text</a:t>
            </a:r>
          </a:p>
          <a:p>
            <a:pPr marL="1143000" marR="0" lvl="2" indent="-228600" algn="l" defTabSz="914400" rtl="0" eaLnBrk="1" fontAlgn="auto" latinLnBrk="0" hangingPunct="1">
              <a:lnSpc>
                <a:spcPts val="2300"/>
              </a:lnSpc>
              <a:spcBef>
                <a:spcPts val="500"/>
              </a:spcBef>
              <a:spcAft>
                <a:spcPts val="0"/>
              </a:spcAft>
              <a:buClr>
                <a:srgbClr val="005BBB"/>
              </a:buClr>
              <a:buSzTx/>
              <a:buFont typeface="LucidaGrande" charset="0"/>
              <a:buChar char="-"/>
              <a:tabLst/>
              <a:defRPr/>
            </a:pPr>
            <a:r>
              <a:rPr lang="en-US" dirty="0"/>
              <a:t>Third level</a:t>
            </a:r>
          </a:p>
        </p:txBody>
      </p:sp>
      <p:sp>
        <p:nvSpPr>
          <p:cNvPr id="5" name="Title Placeholder 12"/>
          <p:cNvSpPr>
            <a:spLocks noGrp="1"/>
          </p:cNvSpPr>
          <p:nvPr>
            <p:ph type="title" hasCustomPrompt="1"/>
          </p:nvPr>
        </p:nvSpPr>
        <p:spPr>
          <a:xfrm>
            <a:off x="566928" y="1316736"/>
            <a:ext cx="10515600" cy="868430"/>
          </a:xfrm>
          <a:prstGeom prst="rect">
            <a:avLst/>
          </a:prstGeom>
        </p:spPr>
        <p:txBody>
          <a:bodyPr vert="horz" lIns="91440" tIns="45720" rIns="91440" bIns="45720" rtlCol="0" anchor="t" anchorCtr="0">
            <a:noAutofit/>
          </a:bodyPr>
          <a:lstStyle>
            <a:lvl1pPr>
              <a:defRPr sz="3200" b="0"/>
            </a:lvl1pPr>
          </a:lstStyle>
          <a:p>
            <a:r>
              <a:rPr lang="en-US" dirty="0"/>
              <a:t>Click to edit title</a:t>
            </a:r>
          </a:p>
        </p:txBody>
      </p:sp>
    </p:spTree>
    <p:extLst>
      <p:ext uri="{BB962C8B-B14F-4D97-AF65-F5344CB8AC3E}">
        <p14:creationId xmlns:p14="http://schemas.microsoft.com/office/powerpoint/2010/main" val="549412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5" name="Text Placeholder 2"/>
          <p:cNvSpPr>
            <a:spLocks noGrp="1"/>
          </p:cNvSpPr>
          <p:nvPr>
            <p:ph type="body" idx="10" hasCustomPrompt="1"/>
          </p:nvPr>
        </p:nvSpPr>
        <p:spPr>
          <a:xfrm>
            <a:off x="566928" y="2185416"/>
            <a:ext cx="10515600" cy="3732425"/>
          </a:xfrm>
          <a:prstGeom prst="rect">
            <a:avLst/>
          </a:prstGeom>
        </p:spPr>
        <p:txBody>
          <a:bodyPr lIns="182880" rIns="182880">
            <a:noAutofit/>
          </a:bodyPr>
          <a:lstStyle>
            <a:lvl1pPr marL="457200" marR="0" indent="-406400" algn="l" defTabSz="914400" rtl="0" eaLnBrk="1" fontAlgn="auto" latinLnBrk="0" hangingPunct="1">
              <a:lnSpc>
                <a:spcPct val="100000"/>
              </a:lnSpc>
              <a:spcBef>
                <a:spcPts val="1000"/>
              </a:spcBef>
              <a:spcAft>
                <a:spcPts val="0"/>
              </a:spcAft>
              <a:buClr>
                <a:srgbClr val="005BBB"/>
              </a:buClr>
              <a:buSzPct val="100000"/>
              <a:buFont typeface="Arial" charset="0"/>
              <a:buChar char="•"/>
              <a:tabLst/>
              <a:defRPr sz="2400" b="0" i="0" spc="-50" baseline="0">
                <a:solidFill>
                  <a:srgbClr val="000000"/>
                </a:solidFill>
                <a:latin typeface="Arial" charset="0"/>
                <a:ea typeface="Arial" charset="0"/>
                <a:cs typeface="Arial" charset="0"/>
              </a:defRPr>
            </a:lvl1pPr>
            <a:lvl2pPr marL="800089" indent="-342900">
              <a:buFont typeface="Arial" panose="020B0604020202020204" pitchFamily="34" charset="0"/>
              <a:buChar char="−"/>
              <a:defRPr sz="2000">
                <a:solidFill>
                  <a:schemeClr val="tx1"/>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r>
              <a:rPr lang="en-US" dirty="0"/>
              <a:t>First Level Text</a:t>
            </a:r>
          </a:p>
          <a:p>
            <a:pPr lvl="1"/>
            <a:r>
              <a:rPr lang="en-US" dirty="0"/>
              <a:t>Second Level Text</a:t>
            </a:r>
          </a:p>
          <a:p>
            <a:pPr lvl="2"/>
            <a:r>
              <a:rPr lang="en-US" dirty="0"/>
              <a:t>Third Level Text</a:t>
            </a:r>
          </a:p>
        </p:txBody>
      </p:sp>
      <p:sp>
        <p:nvSpPr>
          <p:cNvPr id="6" name="Title Placeholder 12"/>
          <p:cNvSpPr>
            <a:spLocks noGrp="1"/>
          </p:cNvSpPr>
          <p:nvPr>
            <p:ph type="title" hasCustomPrompt="1"/>
          </p:nvPr>
        </p:nvSpPr>
        <p:spPr>
          <a:xfrm>
            <a:off x="566928" y="1316736"/>
            <a:ext cx="10515600" cy="868430"/>
          </a:xfrm>
          <a:prstGeom prst="rect">
            <a:avLst/>
          </a:prstGeom>
        </p:spPr>
        <p:txBody>
          <a:bodyPr vert="horz" lIns="91440" tIns="45720" rIns="91440" bIns="45720" rtlCol="0" anchor="t" anchorCtr="0">
            <a:noAutofit/>
          </a:bodyPr>
          <a:lstStyle>
            <a:lvl1pPr>
              <a:defRPr b="0" baseline="0"/>
            </a:lvl1pPr>
          </a:lstStyle>
          <a:p>
            <a:r>
              <a:rPr lang="en-US" dirty="0"/>
              <a:t>Click to edit title</a:t>
            </a:r>
          </a:p>
        </p:txBody>
      </p:sp>
    </p:spTree>
    <p:extLst>
      <p:ext uri="{BB962C8B-B14F-4D97-AF65-F5344CB8AC3E}">
        <p14:creationId xmlns:p14="http://schemas.microsoft.com/office/powerpoint/2010/main" val="307407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5"/>
          <a:stretch>
            <a:fillRect/>
          </a:stretch>
        </p:blipFill>
        <p:spPr>
          <a:xfrm>
            <a:off x="10889820" y="5795302"/>
            <a:ext cx="1302179" cy="1062698"/>
          </a:xfrm>
          <a:prstGeom prst="rect">
            <a:avLst/>
          </a:prstGeom>
        </p:spPr>
      </p:pic>
      <p:sp>
        <p:nvSpPr>
          <p:cNvPr id="12" name="Text Placeholder 11"/>
          <p:cNvSpPr>
            <a:spLocks noGrp="1"/>
          </p:cNvSpPr>
          <p:nvPr>
            <p:ph type="body" idx="1"/>
          </p:nvPr>
        </p:nvSpPr>
        <p:spPr>
          <a:xfrm>
            <a:off x="566928" y="2320111"/>
            <a:ext cx="10515600" cy="3813382"/>
          </a:xfrm>
          <a:prstGeom prst="rect">
            <a:avLst/>
          </a:prstGeom>
        </p:spPr>
        <p:txBody>
          <a:bodyPr vert="horz" lIns="91440" tIns="45720" rIns="91440" bIns="45720" rtlCol="0">
            <a:normAutofit/>
          </a:bodyPr>
          <a:lstStyle/>
          <a:p>
            <a:pPr lvl="0"/>
            <a:r>
              <a:rPr lang="en-US" dirty="0"/>
              <a:t>First level text</a:t>
            </a:r>
          </a:p>
          <a:p>
            <a:pPr lvl="1"/>
            <a:r>
              <a:rPr lang="en-US" dirty="0"/>
              <a:t>Second level text</a:t>
            </a:r>
          </a:p>
          <a:p>
            <a:pPr marL="1143000" marR="0" lvl="2" indent="-228600" algn="l" defTabSz="914400" rtl="0" eaLnBrk="1" fontAlgn="auto" latinLnBrk="0" hangingPunct="1">
              <a:lnSpc>
                <a:spcPts val="2300"/>
              </a:lnSpc>
              <a:spcBef>
                <a:spcPts val="500"/>
              </a:spcBef>
              <a:spcAft>
                <a:spcPts val="0"/>
              </a:spcAft>
              <a:buClr>
                <a:srgbClr val="005BBB"/>
              </a:buClr>
              <a:buSzTx/>
              <a:buFont typeface="LucidaGrande" charset="0"/>
              <a:buChar char="-"/>
              <a:tabLst/>
              <a:defRPr/>
            </a:pPr>
            <a:r>
              <a:rPr lang="en-US" dirty="0"/>
              <a:t>Third level</a:t>
            </a:r>
          </a:p>
        </p:txBody>
      </p:sp>
      <p:sp>
        <p:nvSpPr>
          <p:cNvPr id="13" name="Title Placeholder 12"/>
          <p:cNvSpPr>
            <a:spLocks noGrp="1"/>
          </p:cNvSpPr>
          <p:nvPr>
            <p:ph type="title"/>
          </p:nvPr>
        </p:nvSpPr>
        <p:spPr>
          <a:xfrm>
            <a:off x="566928" y="1316736"/>
            <a:ext cx="10515600" cy="868430"/>
          </a:xfrm>
          <a:prstGeom prst="rect">
            <a:avLst/>
          </a:prstGeom>
        </p:spPr>
        <p:txBody>
          <a:bodyPr vert="horz" lIns="91440" tIns="45720" rIns="91440" bIns="45720" rtlCol="0" anchor="t" anchorCtr="0">
            <a:normAutofit/>
          </a:bodyPr>
          <a:lstStyle/>
          <a:p>
            <a:r>
              <a:rPr lang="en-US" dirty="0"/>
              <a:t>Click to edit title</a:t>
            </a:r>
          </a:p>
        </p:txBody>
      </p:sp>
      <p:sp>
        <p:nvSpPr>
          <p:cNvPr id="11" name="Slide Number Placeholder 6"/>
          <p:cNvSpPr txBox="1">
            <a:spLocks/>
          </p:cNvSpPr>
          <p:nvPr userDrawn="1"/>
        </p:nvSpPr>
        <p:spPr>
          <a:xfrm>
            <a:off x="10255504" y="6240989"/>
            <a:ext cx="725424" cy="534516"/>
          </a:xfrm>
          <a:prstGeom prst="rect">
            <a:avLst/>
          </a:prstGeom>
        </p:spPr>
        <p:txBody>
          <a:bodyPr vert="horz" lIns="121920" tIns="60960" rIns="121920" bIns="60960" rtlCol="0" anchor="ctr"/>
          <a:lstStyle>
            <a:defPPr>
              <a:defRPr lang="en-US"/>
            </a:defPPr>
            <a:lvl1pPr marL="0" algn="r" defTabSz="685800" rtl="0" eaLnBrk="1" latinLnBrk="0" hangingPunct="1">
              <a:defRPr sz="1000" b="1" i="0" kern="1200">
                <a:solidFill>
                  <a:srgbClr val="828383"/>
                </a:solidFill>
                <a:latin typeface="Museo Slab 900" charset="0"/>
                <a:ea typeface="Museo Slab 900" charset="0"/>
                <a:cs typeface="Museo Slab 900"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2915D2C3-7EB9-F849-9C19-1CC92E2870ED}" type="slidenum">
              <a:rPr lang="en-US" sz="1600" b="1" smtClean="0">
                <a:solidFill>
                  <a:schemeClr val="tx1"/>
                </a:solidFill>
                <a:latin typeface="Arial" charset="0"/>
                <a:ea typeface="Arial" charset="0"/>
                <a:cs typeface="Arial" charset="0"/>
              </a:rPr>
              <a:pPr/>
              <a:t>‹#›</a:t>
            </a:fld>
            <a:endParaRPr lang="en-US" sz="1600" b="1" dirty="0">
              <a:solidFill>
                <a:schemeClr val="tx1"/>
              </a:solidFill>
              <a:latin typeface="Arial" charset="0"/>
              <a:ea typeface="Arial" charset="0"/>
              <a:cs typeface="Arial" charset="0"/>
            </a:endParaRPr>
          </a:p>
        </p:txBody>
      </p:sp>
      <p:pic>
        <p:nvPicPr>
          <p:cNvPr id="15" name="Picture 2" descr="“computer science zhejiang university logo”的图片搜索结果"/>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66928" y="-2"/>
            <a:ext cx="1890203" cy="945102"/>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5"/>
          <p:cNvSpPr txBox="1">
            <a:spLocks/>
          </p:cNvSpPr>
          <p:nvPr userDrawn="1"/>
        </p:nvSpPr>
        <p:spPr>
          <a:xfrm>
            <a:off x="2505456" y="334265"/>
            <a:ext cx="6638544" cy="336346"/>
          </a:xfrm>
          <a:prstGeom prst="rect">
            <a:avLst/>
          </a:prstGeom>
        </p:spPr>
        <p:txBody>
          <a:bodyPr lIns="0">
            <a:noAutofit/>
          </a:bodyPr>
          <a:lstStyle>
            <a:lvl1pPr marL="0" indent="0" algn="l" defTabSz="914400" rtl="0" eaLnBrk="1" latinLnBrk="0" hangingPunct="1">
              <a:lnSpc>
                <a:spcPct val="150000"/>
              </a:lnSpc>
              <a:spcBef>
                <a:spcPts val="1000"/>
              </a:spcBef>
              <a:buClr>
                <a:srgbClr val="005BBB"/>
              </a:buClr>
              <a:buFont typeface="Arial" panose="020B0604020202020204" pitchFamily="34" charset="0"/>
              <a:buNone/>
              <a:defRPr sz="2400" b="0" i="0" kern="1200" baseline="0">
                <a:solidFill>
                  <a:srgbClr val="000000"/>
                </a:solidFill>
                <a:latin typeface="+mj-lt"/>
                <a:ea typeface="Georgia" charset="0"/>
                <a:cs typeface="Georgia" charset="0"/>
              </a:defRPr>
            </a:lvl1pPr>
            <a:lvl2pPr marL="685800" indent="-228600" algn="l" defTabSz="914400" rtl="0" eaLnBrk="1" latinLnBrk="0" hangingPunct="1">
              <a:lnSpc>
                <a:spcPct val="100000"/>
              </a:lnSpc>
              <a:spcBef>
                <a:spcPts val="500"/>
              </a:spcBef>
              <a:buClr>
                <a:srgbClr val="005BBB"/>
              </a:buClr>
              <a:buFont typeface="Arial" panose="020B0604020202020204" pitchFamily="34" charset="0"/>
              <a:buChar char="•"/>
              <a:defRPr sz="2000" kern="1200" baseline="0">
                <a:solidFill>
                  <a:srgbClr val="000000"/>
                </a:solidFill>
                <a:latin typeface="Arial" charset="0"/>
                <a:ea typeface="Arial" charset="0"/>
                <a:cs typeface="Arial" charset="0"/>
              </a:defRPr>
            </a:lvl2pPr>
            <a:lvl3pPr marL="1143000" indent="-228600" algn="l" defTabSz="914400" rtl="0" eaLnBrk="1" latinLnBrk="0" hangingPunct="1">
              <a:lnSpc>
                <a:spcPct val="100000"/>
              </a:lnSpc>
              <a:spcBef>
                <a:spcPts val="500"/>
              </a:spcBef>
              <a:buClr>
                <a:srgbClr val="005BBB"/>
              </a:buClr>
              <a:buFont typeface="LucidaGrande" charset="0"/>
              <a:buChar char="-"/>
              <a:defRPr sz="1800" kern="1200" baseline="0">
                <a:solidFill>
                  <a:srgbClr val="000000"/>
                </a:solidFill>
                <a:latin typeface="Arial" charset="0"/>
                <a:ea typeface="Arial" charset="0"/>
                <a:cs typeface="Arial" charset="0"/>
              </a:defRPr>
            </a:lvl3pPr>
            <a:lvl4pPr marL="1600200" indent="-228600" algn="l" defTabSz="914400" rtl="0" eaLnBrk="1" latinLnBrk="0" hangingPunct="1">
              <a:lnSpc>
                <a:spcPct val="90000"/>
              </a:lnSpc>
              <a:spcBef>
                <a:spcPts val="500"/>
              </a:spcBef>
              <a:buClr>
                <a:srgbClr val="005BBB"/>
              </a:buClr>
              <a:buFont typeface="Arial" panose="020B0604020202020204" pitchFamily="34" charset="0"/>
              <a:buChar char="•"/>
              <a:defRPr sz="1800" kern="1200">
                <a:solidFill>
                  <a:schemeClr val="tx1"/>
                </a:solidFill>
                <a:latin typeface="Arial" charset="0"/>
                <a:ea typeface="Arial" charset="0"/>
                <a:cs typeface="Arial" charset="0"/>
              </a:defRPr>
            </a:lvl4pPr>
            <a:lvl5pPr marL="2057400" indent="-228600" algn="l" defTabSz="914400" rtl="0" eaLnBrk="1" latinLnBrk="0" hangingPunct="1">
              <a:lnSpc>
                <a:spcPct val="90000"/>
              </a:lnSpc>
              <a:spcBef>
                <a:spcPts val="500"/>
              </a:spcBef>
              <a:buClr>
                <a:srgbClr val="005BBB"/>
              </a:buClr>
              <a:buFont typeface="Arial" panose="020B0604020202020204" pitchFamily="34" charset="0"/>
              <a:buChar char="•"/>
              <a:defRPr sz="18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2000" dirty="0">
                <a:solidFill>
                  <a:schemeClr val="tx2">
                    <a:lumMod val="75000"/>
                  </a:schemeClr>
                </a:solidFill>
              </a:rPr>
              <a:t>Lecture</a:t>
            </a:r>
            <a:r>
              <a:rPr lang="en-US" sz="2000" baseline="0" dirty="0">
                <a:solidFill>
                  <a:schemeClr val="tx2">
                    <a:lumMod val="75000"/>
                  </a:schemeClr>
                </a:solidFill>
              </a:rPr>
              <a:t> 11: Wi-Fi Protected Access 2 (WPA2)</a:t>
            </a:r>
            <a:endParaRPr lang="en-US" sz="2000" dirty="0">
              <a:solidFill>
                <a:schemeClr val="tx2">
                  <a:lumMod val="75000"/>
                </a:schemeClr>
              </a:solidFill>
            </a:endParaRPr>
          </a:p>
        </p:txBody>
      </p:sp>
      <p:pic>
        <p:nvPicPr>
          <p:cNvPr id="2" name="Picture 1"/>
          <p:cNvPicPr>
            <a:picLocks noChangeAspect="1"/>
          </p:cNvPicPr>
          <p:nvPr userDrawn="1"/>
        </p:nvPicPr>
        <p:blipFill>
          <a:blip r:embed="rId7"/>
          <a:stretch>
            <a:fillRect/>
          </a:stretch>
        </p:blipFill>
        <p:spPr>
          <a:xfrm>
            <a:off x="3050" y="851445"/>
            <a:ext cx="11387761" cy="208950"/>
          </a:xfrm>
          <a:prstGeom prst="rect">
            <a:avLst/>
          </a:prstGeom>
        </p:spPr>
      </p:pic>
    </p:spTree>
    <p:extLst>
      <p:ext uri="{BB962C8B-B14F-4D97-AF65-F5344CB8AC3E}">
        <p14:creationId xmlns:p14="http://schemas.microsoft.com/office/powerpoint/2010/main" val="538035647"/>
      </p:ext>
    </p:extLst>
  </p:cSld>
  <p:clrMap bg1="lt1" tx1="dk1" bg2="lt2" tx2="dk2" accent1="accent1" accent2="accent2" accent3="accent3" accent4="accent4" accent5="accent5" accent6="accent6" hlink="hlink" folHlink="folHlink"/>
  <p:sldLayoutIdLst>
    <p:sldLayoutId id="2147483908" r:id="rId1"/>
    <p:sldLayoutId id="2147483898" r:id="rId2"/>
    <p:sldLayoutId id="2147483907" r:id="rId3"/>
  </p:sldLayoutIdLst>
  <p:hf hdr="0" dt="0"/>
  <p:txStyles>
    <p:titleStyle>
      <a:lvl1pPr algn="l" defTabSz="914400" rtl="0" eaLnBrk="1" latinLnBrk="0" hangingPunct="1">
        <a:lnSpc>
          <a:spcPct val="90000"/>
        </a:lnSpc>
        <a:spcBef>
          <a:spcPct val="0"/>
        </a:spcBef>
        <a:buNone/>
        <a:defRPr sz="3200" b="0" kern="1200">
          <a:solidFill>
            <a:schemeClr val="tx2"/>
          </a:solidFill>
          <a:latin typeface="+mj-lt"/>
          <a:ea typeface="Georgia" charset="0"/>
          <a:cs typeface="Georgia" charset="0"/>
        </a:defRPr>
      </a:lvl1pPr>
    </p:titleStyle>
    <p:bodyStyle>
      <a:lvl1pPr marL="228600" indent="-228600" algn="l" defTabSz="914400" rtl="0" eaLnBrk="1" latinLnBrk="0" hangingPunct="1">
        <a:lnSpc>
          <a:spcPct val="100000"/>
        </a:lnSpc>
        <a:spcBef>
          <a:spcPts val="1000"/>
        </a:spcBef>
        <a:buClr>
          <a:srgbClr val="005BBB"/>
        </a:buClr>
        <a:buFont typeface="Arial" panose="020B0604020202020204" pitchFamily="34" charset="0"/>
        <a:buChar char="•"/>
        <a:defRPr sz="2400" kern="1200" baseline="0">
          <a:solidFill>
            <a:srgbClr val="000000"/>
          </a:solidFill>
          <a:latin typeface="Arial" charset="0"/>
          <a:ea typeface="Arial" charset="0"/>
          <a:cs typeface="Arial" charset="0"/>
        </a:defRPr>
      </a:lvl1pPr>
      <a:lvl2pPr marL="685800" indent="-228600" algn="l" defTabSz="914400" rtl="0" eaLnBrk="1" latinLnBrk="0" hangingPunct="1">
        <a:lnSpc>
          <a:spcPct val="100000"/>
        </a:lnSpc>
        <a:spcBef>
          <a:spcPts val="500"/>
        </a:spcBef>
        <a:buClr>
          <a:srgbClr val="005BBB"/>
        </a:buClr>
        <a:buFont typeface="Arial" panose="020B0604020202020204" pitchFamily="34" charset="0"/>
        <a:buChar char="•"/>
        <a:defRPr sz="2000" kern="1200" baseline="0">
          <a:solidFill>
            <a:srgbClr val="000000"/>
          </a:solidFill>
          <a:latin typeface="Arial" charset="0"/>
          <a:ea typeface="Arial" charset="0"/>
          <a:cs typeface="Arial" charset="0"/>
        </a:defRPr>
      </a:lvl2pPr>
      <a:lvl3pPr marL="1143000" marR="0" indent="-228600" algn="l" defTabSz="914400" rtl="0" eaLnBrk="1" fontAlgn="auto" latinLnBrk="0" hangingPunct="1">
        <a:lnSpc>
          <a:spcPts val="2300"/>
        </a:lnSpc>
        <a:spcBef>
          <a:spcPts val="500"/>
        </a:spcBef>
        <a:spcAft>
          <a:spcPts val="0"/>
        </a:spcAft>
        <a:buClr>
          <a:srgbClr val="005BBB"/>
        </a:buClr>
        <a:buSzTx/>
        <a:buFont typeface="LucidaGrande" charset="0"/>
        <a:buChar char="-"/>
        <a:tabLst/>
        <a:defRPr sz="2000" kern="1200" baseline="0">
          <a:solidFill>
            <a:srgbClr val="000000"/>
          </a:solidFill>
          <a:latin typeface="Arial" charset="0"/>
          <a:ea typeface="Arial" charset="0"/>
          <a:cs typeface="Arial" charset="0"/>
        </a:defRPr>
      </a:lvl3pPr>
      <a:lvl4pPr marL="1600200" indent="-228600" algn="l" defTabSz="914400" rtl="0" eaLnBrk="1" latinLnBrk="0" hangingPunct="1">
        <a:lnSpc>
          <a:spcPct val="90000"/>
        </a:lnSpc>
        <a:spcBef>
          <a:spcPts val="500"/>
        </a:spcBef>
        <a:buClr>
          <a:srgbClr val="005BBB"/>
        </a:buClr>
        <a:buFont typeface="Arial" panose="020B0604020202020204" pitchFamily="34" charset="0"/>
        <a:buChar char="•"/>
        <a:defRPr sz="1800" kern="1200">
          <a:solidFill>
            <a:schemeClr val="tx1"/>
          </a:solidFill>
          <a:latin typeface="Arial" charset="0"/>
          <a:ea typeface="Arial" charset="0"/>
          <a:cs typeface="Arial" charset="0"/>
        </a:defRPr>
      </a:lvl4pPr>
      <a:lvl5pPr marL="2057400" indent="-228600" algn="l" defTabSz="914400" rtl="0" eaLnBrk="1" latinLnBrk="0" hangingPunct="1">
        <a:lnSpc>
          <a:spcPct val="90000"/>
        </a:lnSpc>
        <a:spcBef>
          <a:spcPts val="500"/>
        </a:spcBef>
        <a:buClr>
          <a:srgbClr val="005BBB"/>
        </a:buClr>
        <a:buFont typeface="Arial" panose="020B0604020202020204" pitchFamily="34" charset="0"/>
        <a:buChar char="•"/>
        <a:defRPr sz="1800" kern="1200">
          <a:solidFill>
            <a:schemeClr val="tx1"/>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emf"/><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3.emf"/><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altLang="zh-CN" dirty="0">
                <a:solidFill>
                  <a:schemeClr val="tx1"/>
                </a:solidFill>
              </a:rPr>
              <a:t>Lecture 11: Wi-Fi Protected Access 2 (WPA2)</a:t>
            </a:r>
          </a:p>
          <a:p>
            <a:r>
              <a:rPr lang="en-US" dirty="0">
                <a:solidFill>
                  <a:schemeClr val="tx1"/>
                </a:solidFill>
              </a:rPr>
              <a:t>Instructor: </a:t>
            </a:r>
            <a:r>
              <a:rPr lang="en-US" dirty="0" err="1">
                <a:solidFill>
                  <a:schemeClr val="tx1"/>
                </a:solidFill>
              </a:rPr>
              <a:t>Kui</a:t>
            </a:r>
            <a:r>
              <a:rPr lang="en-US" dirty="0">
                <a:solidFill>
                  <a:schemeClr val="tx1"/>
                </a:solidFill>
              </a:rPr>
              <a:t> Ren</a:t>
            </a:r>
          </a:p>
        </p:txBody>
      </p:sp>
      <p:sp>
        <p:nvSpPr>
          <p:cNvPr id="3" name="Title 2"/>
          <p:cNvSpPr>
            <a:spLocks noGrp="1"/>
          </p:cNvSpPr>
          <p:nvPr>
            <p:ph type="ctrTitle"/>
          </p:nvPr>
        </p:nvSpPr>
        <p:spPr/>
        <p:txBody>
          <a:bodyPr/>
          <a:lstStyle/>
          <a:p>
            <a:r>
              <a:rPr lang="en-US" altLang="zh-CN" sz="4800" dirty="0"/>
              <a:t>Wireless network </a:t>
            </a:r>
            <a:r>
              <a:rPr lang="en-US" altLang="zh-CN" sz="4800"/>
              <a:t>and IoT security</a:t>
            </a:r>
            <a:endParaRPr lang="en-US" sz="4800" dirty="0"/>
          </a:p>
        </p:txBody>
      </p:sp>
    </p:spTree>
    <p:extLst>
      <p:ext uri="{BB962C8B-B14F-4D97-AF65-F5344CB8AC3E}">
        <p14:creationId xmlns:p14="http://schemas.microsoft.com/office/powerpoint/2010/main" val="4252218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Based on the IEEE 802.11i standard. </a:t>
            </a:r>
          </a:p>
          <a:p>
            <a:r>
              <a:rPr lang="en-US" dirty="0"/>
              <a:t>The primary enhancement over WPA is the use of the </a:t>
            </a:r>
            <a:r>
              <a:rPr lang="en-US" b="1" dirty="0"/>
              <a:t>AES-based CCMP</a:t>
            </a:r>
            <a:r>
              <a:rPr lang="en-US" dirty="0"/>
              <a:t> </a:t>
            </a:r>
          </a:p>
        </p:txBody>
      </p:sp>
      <p:sp>
        <p:nvSpPr>
          <p:cNvPr id="3" name="Title 2"/>
          <p:cNvSpPr>
            <a:spLocks noGrp="1"/>
          </p:cNvSpPr>
          <p:nvPr>
            <p:ph type="title"/>
          </p:nvPr>
        </p:nvSpPr>
        <p:spPr/>
        <p:txBody>
          <a:bodyPr/>
          <a:lstStyle/>
          <a:p>
            <a:r>
              <a:rPr lang="en-US" dirty="0"/>
              <a:t>Wi-Fi Protected Access 2 (WPA2)</a:t>
            </a:r>
          </a:p>
        </p:txBody>
      </p:sp>
      <p:pic>
        <p:nvPicPr>
          <p:cNvPr id="16" name="Picture 15"/>
          <p:cNvPicPr>
            <a:picLocks noChangeAspect="1"/>
          </p:cNvPicPr>
          <p:nvPr/>
        </p:nvPicPr>
        <p:blipFill>
          <a:blip r:embed="rId3"/>
          <a:stretch>
            <a:fillRect/>
          </a:stretch>
        </p:blipFill>
        <p:spPr>
          <a:xfrm>
            <a:off x="2413214" y="3268972"/>
            <a:ext cx="6044986" cy="2913134"/>
          </a:xfrm>
          <a:prstGeom prst="rect">
            <a:avLst/>
          </a:prstGeom>
        </p:spPr>
      </p:pic>
      <p:sp>
        <p:nvSpPr>
          <p:cNvPr id="17" name="Rectangle 16"/>
          <p:cNvSpPr/>
          <p:nvPr/>
        </p:nvSpPr>
        <p:spPr>
          <a:xfrm>
            <a:off x="1905000" y="6360259"/>
            <a:ext cx="7707630" cy="369332"/>
          </a:xfrm>
          <a:prstGeom prst="rect">
            <a:avLst/>
          </a:prstGeom>
        </p:spPr>
        <p:txBody>
          <a:bodyPr wrap="square">
            <a:spAutoFit/>
          </a:bodyPr>
          <a:lstStyle/>
          <a:p>
            <a:r>
              <a:rPr lang="en-US" dirty="0"/>
              <a:t>The final form of the 802.11i standard is RSN (Robust Security Network) </a:t>
            </a:r>
          </a:p>
        </p:txBody>
      </p:sp>
    </p:spTree>
    <p:extLst>
      <p:ext uri="{BB962C8B-B14F-4D97-AF65-F5344CB8AC3E}">
        <p14:creationId xmlns:p14="http://schemas.microsoft.com/office/powerpoint/2010/main" val="1637340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The Personal mode uses a PSK (Pre-Shared Key) and doesn't require a separate authentication of users.</a:t>
            </a:r>
          </a:p>
          <a:p>
            <a:r>
              <a:rPr lang="en-US" dirty="0"/>
              <a:t>The Enterprise mode requires the users to be separately authenticated by using the Extended EAP (Extensible Authentication Protocol).</a:t>
            </a:r>
          </a:p>
          <a:p>
            <a:endParaRPr lang="en-US" dirty="0"/>
          </a:p>
        </p:txBody>
      </p:sp>
      <p:sp>
        <p:nvSpPr>
          <p:cNvPr id="3" name="Title 2"/>
          <p:cNvSpPr>
            <a:spLocks noGrp="1"/>
          </p:cNvSpPr>
          <p:nvPr>
            <p:ph type="title"/>
          </p:nvPr>
        </p:nvSpPr>
        <p:spPr/>
        <p:txBody>
          <a:bodyPr/>
          <a:lstStyle/>
          <a:p>
            <a:r>
              <a:rPr lang="en-US" dirty="0"/>
              <a:t>Wi-Fi Protected Access 2 (WPA2)</a:t>
            </a:r>
          </a:p>
        </p:txBody>
      </p:sp>
      <p:sp>
        <p:nvSpPr>
          <p:cNvPr id="5" name="Rectangle 4"/>
          <p:cNvSpPr/>
          <p:nvPr/>
        </p:nvSpPr>
        <p:spPr>
          <a:xfrm>
            <a:off x="4747491" y="3860802"/>
            <a:ext cx="2013527" cy="10437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WPA2 Versions</a:t>
            </a:r>
          </a:p>
        </p:txBody>
      </p:sp>
      <p:sp>
        <p:nvSpPr>
          <p:cNvPr id="6" name="Rectangle 5"/>
          <p:cNvSpPr/>
          <p:nvPr/>
        </p:nvSpPr>
        <p:spPr>
          <a:xfrm>
            <a:off x="3172691" y="5677917"/>
            <a:ext cx="2013527" cy="104370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Personal</a:t>
            </a:r>
          </a:p>
        </p:txBody>
      </p:sp>
      <p:sp>
        <p:nvSpPr>
          <p:cNvPr id="7" name="Rectangle 6"/>
          <p:cNvSpPr/>
          <p:nvPr/>
        </p:nvSpPr>
        <p:spPr>
          <a:xfrm>
            <a:off x="6308437" y="5677917"/>
            <a:ext cx="2013527" cy="104370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Enterprise</a:t>
            </a:r>
          </a:p>
        </p:txBody>
      </p:sp>
      <p:cxnSp>
        <p:nvCxnSpPr>
          <p:cNvPr id="8" name="Elbow Connector 7"/>
          <p:cNvCxnSpPr>
            <a:stCxn id="5" idx="2"/>
            <a:endCxn id="6" idx="0"/>
          </p:cNvCxnSpPr>
          <p:nvPr/>
        </p:nvCxnSpPr>
        <p:spPr>
          <a:xfrm rot="5400000">
            <a:off x="4580152" y="4503813"/>
            <a:ext cx="773407" cy="1574800"/>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p:cNvCxnSpPr>
            <a:stCxn id="5" idx="2"/>
            <a:endCxn id="7" idx="0"/>
          </p:cNvCxnSpPr>
          <p:nvPr/>
        </p:nvCxnSpPr>
        <p:spPr>
          <a:xfrm rot="16200000" flipH="1">
            <a:off x="6148025" y="4510740"/>
            <a:ext cx="773407" cy="156094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748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566928" y="2185416"/>
            <a:ext cx="5696712" cy="3848100"/>
          </a:xfrm>
        </p:spPr>
        <p:txBody>
          <a:bodyPr/>
          <a:lstStyle/>
          <a:p>
            <a:r>
              <a:rPr lang="en-US" altLang="zh-CN" dirty="0"/>
              <a:t>Phase 1: The AP and the client agree on the security policy</a:t>
            </a:r>
          </a:p>
          <a:p>
            <a:r>
              <a:rPr lang="en-US" dirty="0"/>
              <a:t>Phase 2: Generate the </a:t>
            </a:r>
            <a:r>
              <a:rPr lang="en-US" dirty="0">
                <a:solidFill>
                  <a:srgbClr val="FF0000"/>
                </a:solidFill>
              </a:rPr>
              <a:t>master key</a:t>
            </a:r>
          </a:p>
          <a:p>
            <a:r>
              <a:rPr lang="en-US" dirty="0"/>
              <a:t>Phase 3: Creating </a:t>
            </a:r>
            <a:r>
              <a:rPr lang="en-US" dirty="0">
                <a:solidFill>
                  <a:srgbClr val="FF0000"/>
                </a:solidFill>
              </a:rPr>
              <a:t>temporary keys</a:t>
            </a:r>
          </a:p>
          <a:p>
            <a:r>
              <a:rPr lang="en-US" dirty="0"/>
              <a:t>Phase 4: All keys generated in phase 3 will be used by the CCMP protocol to provide data </a:t>
            </a:r>
            <a:r>
              <a:rPr lang="en-US" dirty="0">
                <a:solidFill>
                  <a:srgbClr val="FF0000"/>
                </a:solidFill>
              </a:rPr>
              <a:t>confidentiality</a:t>
            </a:r>
            <a:r>
              <a:rPr lang="en-US" dirty="0"/>
              <a:t> and </a:t>
            </a:r>
            <a:r>
              <a:rPr lang="en-US" dirty="0">
                <a:solidFill>
                  <a:srgbClr val="FF0000"/>
                </a:solidFill>
              </a:rPr>
              <a:t>integrity</a:t>
            </a:r>
          </a:p>
        </p:txBody>
      </p:sp>
      <p:sp>
        <p:nvSpPr>
          <p:cNvPr id="3" name="Title 2"/>
          <p:cNvSpPr>
            <a:spLocks noGrp="1"/>
          </p:cNvSpPr>
          <p:nvPr>
            <p:ph type="title"/>
          </p:nvPr>
        </p:nvSpPr>
        <p:spPr/>
        <p:txBody>
          <a:bodyPr/>
          <a:lstStyle/>
          <a:p>
            <a:r>
              <a:rPr lang="en-US" dirty="0"/>
              <a:t>WPA2 Phases of Operation</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7542" y="2185416"/>
            <a:ext cx="4500991" cy="384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227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566928" y="2185416"/>
            <a:ext cx="5159502" cy="3848100"/>
          </a:xfrm>
        </p:spPr>
        <p:txBody>
          <a:bodyPr/>
          <a:lstStyle/>
          <a:p>
            <a:r>
              <a:rPr lang="en-US" dirty="0"/>
              <a:t>Capability Discovery</a:t>
            </a:r>
          </a:p>
          <a:p>
            <a:endParaRPr lang="en-US" dirty="0"/>
          </a:p>
          <a:p>
            <a:r>
              <a:rPr lang="en-US" dirty="0"/>
              <a:t>Open System Authentication</a:t>
            </a:r>
          </a:p>
          <a:p>
            <a:endParaRPr lang="en-US" dirty="0"/>
          </a:p>
          <a:p>
            <a:r>
              <a:rPr lang="en-US" dirty="0"/>
              <a:t>Association</a:t>
            </a:r>
          </a:p>
        </p:txBody>
      </p:sp>
      <p:sp>
        <p:nvSpPr>
          <p:cNvPr id="3" name="Title 2"/>
          <p:cNvSpPr>
            <a:spLocks noGrp="1"/>
          </p:cNvSpPr>
          <p:nvPr>
            <p:ph type="title"/>
          </p:nvPr>
        </p:nvSpPr>
        <p:spPr/>
        <p:txBody>
          <a:bodyPr/>
          <a:lstStyle/>
          <a:p>
            <a:r>
              <a:rPr lang="en-US" dirty="0"/>
              <a:t>Phase 1: Discovery</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8806" y="2411448"/>
            <a:ext cx="5233721" cy="3622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42450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An AP uses messages called Beacons and Probe Responses to advertise its security capabilities </a:t>
            </a:r>
          </a:p>
          <a:p>
            <a:pPr lvl="1"/>
            <a:r>
              <a:rPr lang="en-US" dirty="0"/>
              <a:t>Advertised in an RSN Information Element (RSN IE)</a:t>
            </a:r>
          </a:p>
          <a:p>
            <a:endParaRPr lang="en-US" dirty="0"/>
          </a:p>
          <a:p>
            <a:r>
              <a:rPr lang="en-US" dirty="0"/>
              <a:t>The STA uses these to identify an AP for a WLAN with which it wishes to communicate</a:t>
            </a:r>
          </a:p>
          <a:p>
            <a:endParaRPr lang="en-US" dirty="0"/>
          </a:p>
          <a:p>
            <a:r>
              <a:rPr lang="en-US" dirty="0"/>
              <a:t>The STA associates with the AP, which it uses to select the cipher suite and authentication mechanism in Association Request</a:t>
            </a:r>
          </a:p>
          <a:p>
            <a:endParaRPr lang="en-US" dirty="0"/>
          </a:p>
        </p:txBody>
      </p:sp>
      <p:sp>
        <p:nvSpPr>
          <p:cNvPr id="3" name="Title 2"/>
          <p:cNvSpPr>
            <a:spLocks noGrp="1"/>
          </p:cNvSpPr>
          <p:nvPr>
            <p:ph type="title"/>
          </p:nvPr>
        </p:nvSpPr>
        <p:spPr/>
        <p:txBody>
          <a:bodyPr/>
          <a:lstStyle/>
          <a:p>
            <a:r>
              <a:rPr lang="en-US" dirty="0"/>
              <a:t>Capability Discovery</a:t>
            </a:r>
          </a:p>
        </p:txBody>
      </p:sp>
    </p:spTree>
    <p:extLst>
      <p:ext uri="{BB962C8B-B14F-4D97-AF65-F5344CB8AC3E}">
        <p14:creationId xmlns:p14="http://schemas.microsoft.com/office/powerpoint/2010/main" val="2710964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The purpose of this frame sequence, is simply to maintain backward compatibility with the IEEE 802.11 state machine</a:t>
            </a:r>
          </a:p>
          <a:p>
            <a:pPr lvl="1"/>
            <a:r>
              <a:rPr lang="en-US" dirty="0"/>
              <a:t>It provides no security</a:t>
            </a:r>
          </a:p>
          <a:p>
            <a:endParaRPr lang="en-US" dirty="0"/>
          </a:p>
          <a:p>
            <a:r>
              <a:rPr lang="en-US" dirty="0"/>
              <a:t>In essence, the two devices (STA and AP) simply exchange identifiers</a:t>
            </a:r>
          </a:p>
          <a:p>
            <a:endParaRPr lang="en-US" dirty="0"/>
          </a:p>
          <a:p>
            <a:endParaRPr lang="en-US" dirty="0"/>
          </a:p>
        </p:txBody>
      </p:sp>
      <p:sp>
        <p:nvSpPr>
          <p:cNvPr id="3" name="Title 2"/>
          <p:cNvSpPr>
            <a:spLocks noGrp="1"/>
          </p:cNvSpPr>
          <p:nvPr>
            <p:ph type="title"/>
          </p:nvPr>
        </p:nvSpPr>
        <p:spPr/>
        <p:txBody>
          <a:bodyPr/>
          <a:lstStyle/>
          <a:p>
            <a:r>
              <a:rPr lang="en-US" dirty="0"/>
              <a:t>Open System Authentication</a:t>
            </a:r>
          </a:p>
        </p:txBody>
      </p:sp>
    </p:spTree>
    <p:extLst>
      <p:ext uri="{BB962C8B-B14F-4D97-AF65-F5344CB8AC3E}">
        <p14:creationId xmlns:p14="http://schemas.microsoft.com/office/powerpoint/2010/main" val="496754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The purpose of this stage is to agree on a set of security capabilities to be used</a:t>
            </a:r>
          </a:p>
          <a:p>
            <a:r>
              <a:rPr lang="en-US" dirty="0"/>
              <a:t>The STA then sends an Association Request frame to the AP. </a:t>
            </a:r>
          </a:p>
          <a:p>
            <a:pPr lvl="1"/>
            <a:r>
              <a:rPr lang="en-US" dirty="0"/>
              <a:t>Specify one set of matching capabilities (one authentication and key management suite, one pairwise cipher suite, and one group-key cipher suite) from among those advertised by the AP</a:t>
            </a:r>
          </a:p>
          <a:p>
            <a:endParaRPr lang="en-US" dirty="0"/>
          </a:p>
        </p:txBody>
      </p:sp>
      <p:sp>
        <p:nvSpPr>
          <p:cNvPr id="3" name="Title 2"/>
          <p:cNvSpPr>
            <a:spLocks noGrp="1"/>
          </p:cNvSpPr>
          <p:nvPr>
            <p:ph type="title"/>
          </p:nvPr>
        </p:nvSpPr>
        <p:spPr/>
        <p:txBody>
          <a:bodyPr/>
          <a:lstStyle/>
          <a:p>
            <a:r>
              <a:rPr lang="en-US" dirty="0"/>
              <a:t>Association</a:t>
            </a:r>
          </a:p>
        </p:txBody>
      </p:sp>
    </p:spTree>
    <p:extLst>
      <p:ext uri="{BB962C8B-B14F-4D97-AF65-F5344CB8AC3E}">
        <p14:creationId xmlns:p14="http://schemas.microsoft.com/office/powerpoint/2010/main" val="610197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566928" y="2185416"/>
            <a:ext cx="10515600" cy="3848100"/>
          </a:xfrm>
        </p:spPr>
        <p:txBody>
          <a:bodyPr/>
          <a:lstStyle/>
          <a:p>
            <a:r>
              <a:rPr lang="en-US" dirty="0"/>
              <a:t>This phase is based on EAP and the authentication method which has been agreed on in phase 1</a:t>
            </a:r>
          </a:p>
        </p:txBody>
      </p:sp>
      <p:sp>
        <p:nvSpPr>
          <p:cNvPr id="3" name="Title 2"/>
          <p:cNvSpPr>
            <a:spLocks noGrp="1"/>
          </p:cNvSpPr>
          <p:nvPr>
            <p:ph type="title"/>
          </p:nvPr>
        </p:nvSpPr>
        <p:spPr/>
        <p:txBody>
          <a:bodyPr/>
          <a:lstStyle/>
          <a:p>
            <a:r>
              <a:rPr lang="en-US" altLang="zh-CN" dirty="0"/>
              <a:t>Phase 2: Authentication</a:t>
            </a: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3856" y="3104744"/>
            <a:ext cx="5747234" cy="3477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2625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marL="400050" indent="-457200">
              <a:buFont typeface="+mj-lt"/>
              <a:buAutoNum type="arabicPeriod"/>
            </a:pPr>
            <a:r>
              <a:rPr lang="en-US" dirty="0"/>
              <a:t>Connect to AS</a:t>
            </a:r>
          </a:p>
          <a:p>
            <a:pPr lvl="1"/>
            <a:r>
              <a:rPr lang="en-US" dirty="0"/>
              <a:t>The STA sends a request to its AP that it has an association with for connection to the AS; </a:t>
            </a:r>
          </a:p>
          <a:p>
            <a:pPr lvl="1"/>
            <a:r>
              <a:rPr lang="en-US" dirty="0"/>
              <a:t>The AP acknowledges this request and sends an access request to the AS</a:t>
            </a:r>
          </a:p>
          <a:p>
            <a:pPr marL="400050" indent="-457200">
              <a:buFont typeface="+mj-lt"/>
              <a:buAutoNum type="arabicPeriod"/>
            </a:pPr>
            <a:r>
              <a:rPr lang="en-US" dirty="0"/>
              <a:t>EAP exchange</a:t>
            </a:r>
          </a:p>
          <a:p>
            <a:pPr lvl="1"/>
            <a:r>
              <a:rPr lang="en-US" dirty="0"/>
              <a:t>Authenticate the STA and AS to each other</a:t>
            </a:r>
          </a:p>
          <a:p>
            <a:pPr marL="400050" indent="-457200">
              <a:buFont typeface="+mj-lt"/>
              <a:buAutoNum type="arabicPeriod"/>
            </a:pPr>
            <a:r>
              <a:rPr lang="en-US" dirty="0"/>
              <a:t>Secure key delivery</a:t>
            </a:r>
          </a:p>
          <a:p>
            <a:pPr lvl="1"/>
            <a:r>
              <a:rPr lang="en-US" dirty="0"/>
              <a:t>Once authentication is established, the AS generates a </a:t>
            </a:r>
            <a:r>
              <a:rPr lang="en-US" b="1" dirty="0">
                <a:solidFill>
                  <a:srgbClr val="FF0000"/>
                </a:solidFill>
              </a:rPr>
              <a:t>master session key</a:t>
            </a:r>
            <a:r>
              <a:rPr lang="en-US" dirty="0"/>
              <a:t> and sends it to the STA</a:t>
            </a:r>
          </a:p>
          <a:p>
            <a:endParaRPr lang="en-US" dirty="0"/>
          </a:p>
          <a:p>
            <a:endParaRPr lang="en-US" dirty="0"/>
          </a:p>
        </p:txBody>
      </p:sp>
      <p:sp>
        <p:nvSpPr>
          <p:cNvPr id="3" name="Title 2"/>
          <p:cNvSpPr>
            <a:spLocks noGrp="1"/>
          </p:cNvSpPr>
          <p:nvPr>
            <p:ph type="title"/>
          </p:nvPr>
        </p:nvSpPr>
        <p:spPr/>
        <p:txBody>
          <a:bodyPr/>
          <a:lstStyle/>
          <a:p>
            <a:r>
              <a:rPr lang="en-US" dirty="0"/>
              <a:t>Authentication Steps</a:t>
            </a:r>
          </a:p>
        </p:txBody>
      </p:sp>
    </p:spTree>
    <p:extLst>
      <p:ext uri="{BB962C8B-B14F-4D97-AF65-F5344CB8AC3E}">
        <p14:creationId xmlns:p14="http://schemas.microsoft.com/office/powerpoint/2010/main" val="485825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marL="457200" indent="-457200">
              <a:buFont typeface="+mj-lt"/>
              <a:buAutoNum type="arabicPeriod"/>
            </a:pPr>
            <a:r>
              <a:rPr lang="en-US" dirty="0"/>
              <a:t>Starts the 802.11X exchange with EAPOL-start message</a:t>
            </a:r>
          </a:p>
          <a:p>
            <a:pPr marL="457200" indent="-457200">
              <a:buFont typeface="+mj-lt"/>
              <a:buAutoNum type="arabicPeriod"/>
            </a:pPr>
            <a:r>
              <a:rPr lang="en-US" dirty="0"/>
              <a:t>Authenticator issues an EAP-request/identity frame</a:t>
            </a:r>
          </a:p>
          <a:p>
            <a:pPr marL="457200" indent="-457200">
              <a:buFont typeface="+mj-lt"/>
              <a:buAutoNum type="arabicPeriod"/>
            </a:pPr>
            <a:r>
              <a:rPr lang="en-US" dirty="0"/>
              <a:t>Supplicant replies with EAP-response/identity frame and passed to the radius server</a:t>
            </a:r>
          </a:p>
          <a:p>
            <a:pPr marL="457200" indent="-457200">
              <a:buFont typeface="+mj-lt"/>
              <a:buAutoNum type="arabicPeriod"/>
            </a:pPr>
            <a:r>
              <a:rPr lang="en-US" dirty="0"/>
              <a:t>Radius server determines the type of authentication required and sends an EAP-request for particular method type</a:t>
            </a:r>
          </a:p>
          <a:p>
            <a:pPr marL="457200" indent="-457200">
              <a:buFont typeface="+mj-lt"/>
              <a:buAutoNum type="arabicPeriod"/>
            </a:pPr>
            <a:r>
              <a:rPr lang="en-US" dirty="0"/>
              <a:t>The supplicant replies with an EAP-response/method frame</a:t>
            </a:r>
          </a:p>
          <a:p>
            <a:pPr lvl="1"/>
            <a:r>
              <a:rPr lang="en-US" dirty="0"/>
              <a:t>Steps 4 and 5 are repeated to complete the authentication</a:t>
            </a:r>
          </a:p>
          <a:p>
            <a:pPr marL="457200" indent="-457200">
              <a:buFont typeface="+mj-lt"/>
              <a:buAutoNum type="arabicPeriod"/>
            </a:pPr>
            <a:r>
              <a:rPr lang="en-US" dirty="0"/>
              <a:t>The radius server grants request with Radius-access-accept packet</a:t>
            </a:r>
          </a:p>
          <a:p>
            <a:endParaRPr lang="en-US" dirty="0"/>
          </a:p>
        </p:txBody>
      </p:sp>
      <p:sp>
        <p:nvSpPr>
          <p:cNvPr id="3" name="Title 2"/>
          <p:cNvSpPr>
            <a:spLocks noGrp="1"/>
          </p:cNvSpPr>
          <p:nvPr>
            <p:ph type="title"/>
          </p:nvPr>
        </p:nvSpPr>
        <p:spPr/>
        <p:txBody>
          <a:bodyPr/>
          <a:lstStyle/>
          <a:p>
            <a:r>
              <a:rPr lang="en-US" dirty="0">
                <a:ea typeface="ＭＳ Ｐゴシック" charset="-128"/>
              </a:rPr>
              <a:t>EAP Exchange Process</a:t>
            </a:r>
            <a:endParaRPr lang="en-US" dirty="0"/>
          </a:p>
        </p:txBody>
      </p:sp>
    </p:spTree>
    <p:extLst>
      <p:ext uri="{BB962C8B-B14F-4D97-AF65-F5344CB8AC3E}">
        <p14:creationId xmlns:p14="http://schemas.microsoft.com/office/powerpoint/2010/main" val="3763006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PMK – Pairwise Master Key</a:t>
            </a:r>
          </a:p>
          <a:p>
            <a:pPr lvl="1"/>
            <a:r>
              <a:rPr lang="en-US" dirty="0"/>
              <a:t>Sent from the AS to the Authenticator</a:t>
            </a:r>
          </a:p>
          <a:p>
            <a:pPr lvl="1"/>
            <a:r>
              <a:rPr lang="en-US" dirty="0"/>
              <a:t>Both the Supplicant and Authenticator now have the same PMK</a:t>
            </a:r>
          </a:p>
          <a:p>
            <a:endParaRPr lang="en-US" dirty="0"/>
          </a:p>
          <a:p>
            <a:r>
              <a:rPr lang="en-US" dirty="0"/>
              <a:t>PMK is permanent for the entire session</a:t>
            </a:r>
          </a:p>
          <a:p>
            <a:endParaRPr lang="en-US" dirty="0"/>
          </a:p>
          <a:p>
            <a:r>
              <a:rPr lang="en-US" dirty="0"/>
              <a:t>Must generate a Pairwise Transient Key for encryption of data.</a:t>
            </a:r>
          </a:p>
          <a:p>
            <a:pPr lvl="1"/>
            <a:r>
              <a:rPr lang="en-US" altLang="en-US" dirty="0"/>
              <a:t>Done using </a:t>
            </a:r>
            <a:r>
              <a:rPr lang="en-US" altLang="en-US" b="1" dirty="0"/>
              <a:t>4-way handshake</a:t>
            </a:r>
          </a:p>
          <a:p>
            <a:pPr lvl="1"/>
            <a:endParaRPr lang="en-US" dirty="0"/>
          </a:p>
          <a:p>
            <a:endParaRPr lang="en-US" dirty="0"/>
          </a:p>
        </p:txBody>
      </p:sp>
      <p:sp>
        <p:nvSpPr>
          <p:cNvPr id="3" name="Title 2"/>
          <p:cNvSpPr>
            <a:spLocks noGrp="1"/>
          </p:cNvSpPr>
          <p:nvPr>
            <p:ph type="title"/>
          </p:nvPr>
        </p:nvSpPr>
        <p:spPr/>
        <p:txBody>
          <a:bodyPr/>
          <a:lstStyle/>
          <a:p>
            <a:r>
              <a:rPr lang="en-US" dirty="0"/>
              <a:t>Phase 3 Key Management</a:t>
            </a:r>
          </a:p>
        </p:txBody>
      </p:sp>
    </p:spTree>
    <p:extLst>
      <p:ext uri="{BB962C8B-B14F-4D97-AF65-F5344CB8AC3E}">
        <p14:creationId xmlns:p14="http://schemas.microsoft.com/office/powerpoint/2010/main" val="3810890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Confirm that the client holds the PMK.</a:t>
            </a:r>
          </a:p>
          <a:p>
            <a:r>
              <a:rPr lang="en-US" dirty="0"/>
              <a:t>Confirm that the PMK is correct and up-to-date.</a:t>
            </a:r>
          </a:p>
          <a:p>
            <a:r>
              <a:rPr lang="en-US" dirty="0"/>
              <a:t>Create pairwise transient key (PTK) from the PMK.</a:t>
            </a:r>
          </a:p>
          <a:p>
            <a:r>
              <a:rPr lang="en-US" dirty="0"/>
              <a:t>Install the pairwise encryption and integrity keys into IEEE 802.11.</a:t>
            </a:r>
          </a:p>
          <a:p>
            <a:r>
              <a:rPr lang="en-US" dirty="0"/>
              <a:t>Transport the group temporal key (GTK) and GTK sequence number from Authenticator to Supplicant and install the GTK and GTK sequence number in the STA and, if not already installed, in the AP.</a:t>
            </a:r>
          </a:p>
          <a:p>
            <a:r>
              <a:rPr lang="en-US" dirty="0"/>
              <a:t>Confirm the cipher suite selection.</a:t>
            </a:r>
          </a:p>
          <a:p>
            <a:endParaRPr lang="en-US" dirty="0"/>
          </a:p>
          <a:p>
            <a:endParaRPr lang="en-US" dirty="0"/>
          </a:p>
        </p:txBody>
      </p:sp>
      <p:sp>
        <p:nvSpPr>
          <p:cNvPr id="3" name="Title 2"/>
          <p:cNvSpPr>
            <a:spLocks noGrp="1"/>
          </p:cNvSpPr>
          <p:nvPr>
            <p:ph type="title"/>
          </p:nvPr>
        </p:nvSpPr>
        <p:spPr/>
        <p:txBody>
          <a:bodyPr/>
          <a:lstStyle/>
          <a:p>
            <a:r>
              <a:rPr lang="en-US" dirty="0"/>
              <a:t>Four-Way Handshake</a:t>
            </a:r>
          </a:p>
        </p:txBody>
      </p:sp>
    </p:spTree>
    <p:extLst>
      <p:ext uri="{BB962C8B-B14F-4D97-AF65-F5344CB8AC3E}">
        <p14:creationId xmlns:p14="http://schemas.microsoft.com/office/powerpoint/2010/main" val="267375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Four-Way Handshake</a:t>
            </a:r>
          </a:p>
        </p:txBody>
      </p:sp>
      <p:pic>
        <p:nvPicPr>
          <p:cNvPr id="7" name="Picture 6"/>
          <p:cNvPicPr>
            <a:picLocks noChangeAspect="1"/>
          </p:cNvPicPr>
          <p:nvPr/>
        </p:nvPicPr>
        <p:blipFill>
          <a:blip r:embed="rId3"/>
          <a:stretch>
            <a:fillRect/>
          </a:stretch>
        </p:blipFill>
        <p:spPr>
          <a:xfrm>
            <a:off x="2183701" y="2185166"/>
            <a:ext cx="7282053" cy="4640524"/>
          </a:xfrm>
          <a:prstGeom prst="rect">
            <a:avLst/>
          </a:prstGeom>
        </p:spPr>
      </p:pic>
    </p:spTree>
    <p:extLst>
      <p:ext uri="{BB962C8B-B14F-4D97-AF65-F5344CB8AC3E}">
        <p14:creationId xmlns:p14="http://schemas.microsoft.com/office/powerpoint/2010/main" val="2798067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566928" y="2185416"/>
            <a:ext cx="5120640" cy="3848100"/>
          </a:xfrm>
        </p:spPr>
        <p:txBody>
          <a:bodyPr/>
          <a:lstStyle/>
          <a:p>
            <a:r>
              <a:rPr lang="en-US" sz="2000" dirty="0"/>
              <a:t>The PMK (Pairwise Master Key) derivation depends on what we have used on the authentication method</a:t>
            </a:r>
          </a:p>
          <a:p>
            <a:endParaRPr lang="en-US" sz="2000" dirty="0"/>
          </a:p>
          <a:p>
            <a:pPr lvl="1"/>
            <a:r>
              <a:rPr lang="en-US" sz="1800" dirty="0"/>
              <a:t>If we used </a:t>
            </a:r>
            <a:r>
              <a:rPr lang="en-US" sz="1800" dirty="0">
                <a:solidFill>
                  <a:srgbClr val="005BBB"/>
                </a:solidFill>
              </a:rPr>
              <a:t>PSK (Pre-Shared Key)</a:t>
            </a:r>
            <a:r>
              <a:rPr lang="en-US" sz="1800" dirty="0"/>
              <a:t>, then the PMK will be equal to PSK.</a:t>
            </a:r>
          </a:p>
          <a:p>
            <a:pPr lvl="1"/>
            <a:endParaRPr lang="en-US" sz="1800" dirty="0"/>
          </a:p>
          <a:p>
            <a:pPr lvl="1"/>
            <a:r>
              <a:rPr lang="en-US" sz="1800" dirty="0"/>
              <a:t>If we used an </a:t>
            </a:r>
            <a:r>
              <a:rPr lang="en-US" sz="1800" dirty="0">
                <a:solidFill>
                  <a:srgbClr val="005BBB"/>
                </a:solidFill>
              </a:rPr>
              <a:t>authentication server</a:t>
            </a:r>
            <a:r>
              <a:rPr lang="en-US" sz="1800" dirty="0"/>
              <a:t>, then the PMK will be derived from the 802.1X authentication MK.</a:t>
            </a:r>
          </a:p>
        </p:txBody>
      </p:sp>
      <p:sp>
        <p:nvSpPr>
          <p:cNvPr id="3" name="Title 2"/>
          <p:cNvSpPr>
            <a:spLocks noGrp="1"/>
          </p:cNvSpPr>
          <p:nvPr>
            <p:ph type="title"/>
          </p:nvPr>
        </p:nvSpPr>
        <p:spPr/>
        <p:txBody>
          <a:bodyPr/>
          <a:lstStyle/>
          <a:p>
            <a:r>
              <a:rPr lang="en-US" dirty="0"/>
              <a:t>Pairwise Key Hierarchies </a:t>
            </a:r>
          </a:p>
        </p:txBody>
      </p:sp>
      <p:sp>
        <p:nvSpPr>
          <p:cNvPr id="4" name="Rounded Rectangle 3"/>
          <p:cNvSpPr/>
          <p:nvPr/>
        </p:nvSpPr>
        <p:spPr>
          <a:xfrm>
            <a:off x="8586216" y="2217932"/>
            <a:ext cx="2628900" cy="603754"/>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Master Key (MK)</a:t>
            </a:r>
          </a:p>
        </p:txBody>
      </p:sp>
      <p:sp>
        <p:nvSpPr>
          <p:cNvPr id="5" name="Rounded Rectangle 4"/>
          <p:cNvSpPr/>
          <p:nvPr/>
        </p:nvSpPr>
        <p:spPr>
          <a:xfrm>
            <a:off x="5687568" y="3204722"/>
            <a:ext cx="5527548" cy="603754"/>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Pair-wise Master Key (PMK)</a:t>
            </a:r>
          </a:p>
        </p:txBody>
      </p:sp>
      <p:sp>
        <p:nvSpPr>
          <p:cNvPr id="6" name="Rounded Rectangle 5"/>
          <p:cNvSpPr/>
          <p:nvPr/>
        </p:nvSpPr>
        <p:spPr>
          <a:xfrm>
            <a:off x="5687568" y="4221992"/>
            <a:ext cx="5527548" cy="6037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Pair-wise Transient Key (PTK)</a:t>
            </a:r>
          </a:p>
        </p:txBody>
      </p:sp>
      <p:sp>
        <p:nvSpPr>
          <p:cNvPr id="7" name="Rounded Rectangle 6"/>
          <p:cNvSpPr/>
          <p:nvPr/>
        </p:nvSpPr>
        <p:spPr>
          <a:xfrm>
            <a:off x="5687568" y="5239262"/>
            <a:ext cx="1737360" cy="603754"/>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Key Confirmation Key (KCK)</a:t>
            </a:r>
          </a:p>
        </p:txBody>
      </p:sp>
      <p:sp>
        <p:nvSpPr>
          <p:cNvPr id="9" name="Rounded Rectangle 8"/>
          <p:cNvSpPr/>
          <p:nvPr/>
        </p:nvSpPr>
        <p:spPr>
          <a:xfrm>
            <a:off x="7557516" y="5233928"/>
            <a:ext cx="1737360" cy="603754"/>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Key Encryption Key (KEK)</a:t>
            </a:r>
          </a:p>
        </p:txBody>
      </p:sp>
      <p:sp>
        <p:nvSpPr>
          <p:cNvPr id="10" name="Rounded Rectangle 9"/>
          <p:cNvSpPr/>
          <p:nvPr/>
        </p:nvSpPr>
        <p:spPr>
          <a:xfrm>
            <a:off x="9477756" y="5233928"/>
            <a:ext cx="1737360" cy="603754"/>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Temporal Key (TK)</a:t>
            </a:r>
          </a:p>
        </p:txBody>
      </p:sp>
      <p:sp>
        <p:nvSpPr>
          <p:cNvPr id="11" name="Down Arrow 10"/>
          <p:cNvSpPr/>
          <p:nvPr/>
        </p:nvSpPr>
        <p:spPr>
          <a:xfrm>
            <a:off x="6885432" y="2893439"/>
            <a:ext cx="251460" cy="264676"/>
          </a:xfrm>
          <a:prstGeom prst="down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a:off x="8334756" y="3880229"/>
            <a:ext cx="251460" cy="2646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p:cNvSpPr/>
          <p:nvPr/>
        </p:nvSpPr>
        <p:spPr>
          <a:xfrm>
            <a:off x="6405372" y="4897499"/>
            <a:ext cx="251460" cy="264676"/>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8300466" y="4891915"/>
            <a:ext cx="251460" cy="264676"/>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a:off x="10220706" y="4897499"/>
            <a:ext cx="251460" cy="264676"/>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5687568" y="2212348"/>
            <a:ext cx="2647188" cy="603754"/>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Pre-Shared Key (PSK)</a:t>
            </a:r>
          </a:p>
        </p:txBody>
      </p:sp>
      <p:sp>
        <p:nvSpPr>
          <p:cNvPr id="17" name="Down Arrow 16"/>
          <p:cNvSpPr/>
          <p:nvPr/>
        </p:nvSpPr>
        <p:spPr>
          <a:xfrm>
            <a:off x="9774936" y="2873627"/>
            <a:ext cx="251460" cy="264676"/>
          </a:xfrm>
          <a:prstGeom prst="downArrow">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3637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16 bytes of EAPOL-Key Confirmation Key (KCK)</a:t>
            </a:r>
          </a:p>
          <a:p>
            <a:pPr lvl="1"/>
            <a:r>
              <a:rPr lang="en-US" dirty="0"/>
              <a:t>Used to compute MIC on WPA EAPOL Key message</a:t>
            </a:r>
          </a:p>
          <a:p>
            <a:endParaRPr lang="en-US" dirty="0"/>
          </a:p>
          <a:p>
            <a:r>
              <a:rPr lang="en-US" dirty="0"/>
              <a:t>16 bytes of EAPOL-Key Encryption Key (KEK) </a:t>
            </a:r>
          </a:p>
          <a:p>
            <a:pPr lvl="1"/>
            <a:r>
              <a:rPr lang="en-US" dirty="0"/>
              <a:t>AP uses this key to encrypt additional data sent (in the 'Key Data' field) to the client (for example, the RSN IE or the GTK)</a:t>
            </a:r>
          </a:p>
          <a:p>
            <a:endParaRPr lang="en-US" dirty="0"/>
          </a:p>
          <a:p>
            <a:r>
              <a:rPr lang="en-US" dirty="0"/>
              <a:t>16 bytes of Temporal Key (TK) </a:t>
            </a:r>
          </a:p>
          <a:p>
            <a:pPr lvl="1"/>
            <a:r>
              <a:rPr lang="en-US" dirty="0"/>
              <a:t>Used to encrypt/decrypt Unicast data packets</a:t>
            </a:r>
          </a:p>
        </p:txBody>
      </p:sp>
      <p:sp>
        <p:nvSpPr>
          <p:cNvPr id="3" name="Title 2"/>
          <p:cNvSpPr>
            <a:spLocks noGrp="1"/>
          </p:cNvSpPr>
          <p:nvPr>
            <p:ph type="title"/>
          </p:nvPr>
        </p:nvSpPr>
        <p:spPr/>
        <p:txBody>
          <a:bodyPr/>
          <a:lstStyle/>
          <a:p>
            <a:r>
              <a:rPr lang="en-US" dirty="0"/>
              <a:t>64 bytes Pairwise Transient Key</a:t>
            </a:r>
            <a:br>
              <a:rPr lang="en-US" dirty="0"/>
            </a:br>
            <a:endParaRPr lang="en-US" dirty="0"/>
          </a:p>
        </p:txBody>
      </p:sp>
    </p:spTree>
    <p:extLst>
      <p:ext uri="{BB962C8B-B14F-4D97-AF65-F5344CB8AC3E}">
        <p14:creationId xmlns:p14="http://schemas.microsoft.com/office/powerpoint/2010/main" val="1629134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566928" y="2185416"/>
            <a:ext cx="10515600" cy="1449324"/>
          </a:xfrm>
        </p:spPr>
        <p:txBody>
          <a:bodyPr/>
          <a:lstStyle/>
          <a:p>
            <a:r>
              <a:rPr lang="en-US" dirty="0"/>
              <a:t>The primary enhancement over WPA is the use of the AES (Advanced Encryption Standard) algorithm.</a:t>
            </a:r>
          </a:p>
          <a:p>
            <a:r>
              <a:rPr lang="en-US" dirty="0"/>
              <a:t>128 bit AES using the </a:t>
            </a:r>
            <a:r>
              <a:rPr lang="en-US" dirty="0">
                <a:solidFill>
                  <a:srgbClr val="FF0000"/>
                </a:solidFill>
              </a:rPr>
              <a:t>Counter-Mode/CBC-MAC Protocol </a:t>
            </a:r>
            <a:r>
              <a:rPr lang="en-US" dirty="0"/>
              <a:t>(CCMP)</a:t>
            </a:r>
          </a:p>
        </p:txBody>
      </p:sp>
      <p:sp>
        <p:nvSpPr>
          <p:cNvPr id="3" name="Title 2"/>
          <p:cNvSpPr>
            <a:spLocks noGrp="1"/>
          </p:cNvSpPr>
          <p:nvPr>
            <p:ph type="title"/>
          </p:nvPr>
        </p:nvSpPr>
        <p:spPr/>
        <p:txBody>
          <a:bodyPr/>
          <a:lstStyle/>
          <a:p>
            <a:r>
              <a:rPr lang="en-US" altLang="zh-CN" dirty="0"/>
              <a:t>WPA2 Encryption</a:t>
            </a:r>
            <a:endParaRPr lang="en-US" dirty="0"/>
          </a:p>
        </p:txBody>
      </p:sp>
      <p:sp>
        <p:nvSpPr>
          <p:cNvPr id="4" name="Rectangle 3"/>
          <p:cNvSpPr/>
          <p:nvPr/>
        </p:nvSpPr>
        <p:spPr>
          <a:xfrm>
            <a:off x="4747491" y="3860802"/>
            <a:ext cx="2013527" cy="10437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CCMP</a:t>
            </a:r>
          </a:p>
        </p:txBody>
      </p:sp>
      <p:sp>
        <p:nvSpPr>
          <p:cNvPr id="5" name="Rectangle 4"/>
          <p:cNvSpPr/>
          <p:nvPr/>
        </p:nvSpPr>
        <p:spPr>
          <a:xfrm>
            <a:off x="3172691" y="5677917"/>
            <a:ext cx="2013527" cy="104370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CTR</a:t>
            </a:r>
          </a:p>
        </p:txBody>
      </p:sp>
      <p:sp>
        <p:nvSpPr>
          <p:cNvPr id="6" name="Rectangle 5"/>
          <p:cNvSpPr/>
          <p:nvPr/>
        </p:nvSpPr>
        <p:spPr>
          <a:xfrm>
            <a:off x="6308437" y="5677917"/>
            <a:ext cx="2013527" cy="104370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CBC-MAC</a:t>
            </a:r>
          </a:p>
        </p:txBody>
      </p:sp>
      <p:cxnSp>
        <p:nvCxnSpPr>
          <p:cNvPr id="7" name="Elbow Connector 6"/>
          <p:cNvCxnSpPr>
            <a:stCxn id="4" idx="2"/>
            <a:endCxn id="5" idx="0"/>
          </p:cNvCxnSpPr>
          <p:nvPr/>
        </p:nvCxnSpPr>
        <p:spPr>
          <a:xfrm rot="5400000">
            <a:off x="4580152" y="4503813"/>
            <a:ext cx="773407" cy="1574800"/>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Elbow Connector 7"/>
          <p:cNvCxnSpPr>
            <a:stCxn id="4" idx="2"/>
            <a:endCxn id="6" idx="0"/>
          </p:cNvCxnSpPr>
          <p:nvPr/>
        </p:nvCxnSpPr>
        <p:spPr>
          <a:xfrm rot="16200000" flipH="1">
            <a:off x="6148025" y="4510740"/>
            <a:ext cx="773407" cy="156094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9152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The encryption service in WPA2 is based on the AES algorithm used in the CTR mode.</a:t>
            </a:r>
          </a:p>
          <a:p>
            <a:pPr lvl="1"/>
            <a:r>
              <a:rPr lang="en-US" dirty="0"/>
              <a:t>It generates the next keystream block by encrypting successive values of a "counter" </a:t>
            </a:r>
          </a:p>
        </p:txBody>
      </p:sp>
      <p:sp>
        <p:nvSpPr>
          <p:cNvPr id="3" name="Title 2"/>
          <p:cNvSpPr>
            <a:spLocks noGrp="1"/>
          </p:cNvSpPr>
          <p:nvPr>
            <p:ph type="title"/>
          </p:nvPr>
        </p:nvSpPr>
        <p:spPr/>
        <p:txBody>
          <a:bodyPr/>
          <a:lstStyle/>
          <a:p>
            <a:r>
              <a:rPr lang="en-US" dirty="0"/>
              <a:t>Counter Mode Encryption</a:t>
            </a:r>
          </a:p>
        </p:txBody>
      </p:sp>
      <p:pic>
        <p:nvPicPr>
          <p:cNvPr id="2050" name="Picture 2" descr="“counter mode”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6260" y="3352799"/>
            <a:ext cx="8496935" cy="3421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31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In WPA2, the data integrity check is carried out by computing the CBC-MAC message authentication code</a:t>
            </a:r>
          </a:p>
          <a:p>
            <a:pPr lvl="1"/>
            <a:r>
              <a:rPr lang="en-US" dirty="0"/>
              <a:t>XOR each 128- bit block of the data with the AES encrypted value as obtained from the previous 128-bit block</a:t>
            </a:r>
          </a:p>
        </p:txBody>
      </p:sp>
      <p:sp>
        <p:nvSpPr>
          <p:cNvPr id="3" name="Title 2"/>
          <p:cNvSpPr>
            <a:spLocks noGrp="1"/>
          </p:cNvSpPr>
          <p:nvPr>
            <p:ph type="title"/>
          </p:nvPr>
        </p:nvSpPr>
        <p:spPr/>
        <p:txBody>
          <a:bodyPr/>
          <a:lstStyle/>
          <a:p>
            <a:r>
              <a:rPr lang="en-US" dirty="0"/>
              <a:t>Cipher Block Chaining (CBC) - MAC</a:t>
            </a:r>
          </a:p>
        </p:txBody>
      </p:sp>
      <p:pic>
        <p:nvPicPr>
          <p:cNvPr id="4" name="Picture 2" descr="File:CBC-MAC structure (en).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7276" y="4015162"/>
            <a:ext cx="7174904" cy="2643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8110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Counter-Mode/CBC-MAC Protocol (CCMP)</a:t>
            </a:r>
          </a:p>
        </p:txBody>
      </p:sp>
      <p:pic>
        <p:nvPicPr>
          <p:cNvPr id="4" name="Picture 3"/>
          <p:cNvPicPr>
            <a:picLocks noChangeAspect="1"/>
          </p:cNvPicPr>
          <p:nvPr/>
        </p:nvPicPr>
        <p:blipFill>
          <a:blip r:embed="rId3"/>
          <a:stretch>
            <a:fillRect/>
          </a:stretch>
        </p:blipFill>
        <p:spPr>
          <a:xfrm>
            <a:off x="1570941" y="2268836"/>
            <a:ext cx="8507573" cy="4415544"/>
          </a:xfrm>
          <a:prstGeom prst="rect">
            <a:avLst/>
          </a:prstGeom>
        </p:spPr>
      </p:pic>
    </p:spTree>
    <p:extLst>
      <p:ext uri="{BB962C8B-B14F-4D97-AF65-F5344CB8AC3E}">
        <p14:creationId xmlns:p14="http://schemas.microsoft.com/office/powerpoint/2010/main" val="3734397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CCMP provides integrity protection over both the frame body and nearly the entire header in a MAC frame, </a:t>
            </a:r>
          </a:p>
          <a:p>
            <a:pPr lvl="1"/>
            <a:r>
              <a:rPr lang="en-US" dirty="0"/>
              <a:t>which prevents an adversary from exploiting the MAC headers</a:t>
            </a:r>
          </a:p>
          <a:p>
            <a:endParaRPr lang="en-US" dirty="0"/>
          </a:p>
          <a:p>
            <a:r>
              <a:rPr lang="en-US" dirty="0"/>
              <a:t>CCMP uses a 48-bit Packet Number (PN) </a:t>
            </a:r>
          </a:p>
          <a:p>
            <a:pPr lvl="1"/>
            <a:r>
              <a:rPr lang="en-US" dirty="0"/>
              <a:t>to prevent replay attacks and construct a fresh nonce for each packet </a:t>
            </a:r>
          </a:p>
          <a:p>
            <a:endParaRPr lang="en-US" dirty="0"/>
          </a:p>
          <a:p>
            <a:r>
              <a:rPr lang="en-US" dirty="0"/>
              <a:t>Analysis suggests that once CCMP is implemented,</a:t>
            </a:r>
          </a:p>
          <a:p>
            <a:pPr lvl="1"/>
            <a:r>
              <a:rPr lang="en-US" dirty="0"/>
              <a:t>an adversary will not able to break the data confidentiality and integrity without the knowledge of the key</a:t>
            </a:r>
          </a:p>
          <a:p>
            <a:endParaRPr lang="en-US" dirty="0"/>
          </a:p>
        </p:txBody>
      </p:sp>
      <p:sp>
        <p:nvSpPr>
          <p:cNvPr id="3" name="Title 2"/>
          <p:cNvSpPr>
            <a:spLocks noGrp="1"/>
          </p:cNvSpPr>
          <p:nvPr>
            <p:ph type="title"/>
          </p:nvPr>
        </p:nvSpPr>
        <p:spPr/>
        <p:txBody>
          <a:bodyPr/>
          <a:lstStyle/>
          <a:p>
            <a:r>
              <a:rPr lang="en-US" dirty="0"/>
              <a:t>AES – CCMP Features</a:t>
            </a:r>
          </a:p>
        </p:txBody>
      </p:sp>
    </p:spTree>
    <p:extLst>
      <p:ext uri="{BB962C8B-B14F-4D97-AF65-F5344CB8AC3E}">
        <p14:creationId xmlns:p14="http://schemas.microsoft.com/office/powerpoint/2010/main" val="3486767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Encryption Method Comparison</a:t>
            </a:r>
            <a:br>
              <a:rPr lang="en-US" dirty="0"/>
            </a:br>
            <a:endParaRPr lang="en-US" dirty="0"/>
          </a:p>
        </p:txBody>
      </p:sp>
      <p:graphicFrame>
        <p:nvGraphicFramePr>
          <p:cNvPr id="5" name="Table 4"/>
          <p:cNvGraphicFramePr>
            <a:graphicFrameLocks noGrp="1"/>
          </p:cNvGraphicFramePr>
          <p:nvPr/>
        </p:nvGraphicFramePr>
        <p:xfrm>
          <a:off x="1213402" y="2418277"/>
          <a:ext cx="9222652" cy="3596640"/>
        </p:xfrm>
        <a:graphic>
          <a:graphicData uri="http://schemas.openxmlformats.org/drawingml/2006/table">
            <a:tbl>
              <a:tblPr firstRow="1" bandRow="1">
                <a:tableStyleId>{5C22544A-7EE6-4342-B048-85BDC9FD1C3A}</a:tableStyleId>
              </a:tblPr>
              <a:tblGrid>
                <a:gridCol w="2508744">
                  <a:extLst>
                    <a:ext uri="{9D8B030D-6E8A-4147-A177-3AD203B41FA5}">
                      <a16:colId xmlns:a16="http://schemas.microsoft.com/office/drawing/2014/main" val="745318544"/>
                    </a:ext>
                  </a:extLst>
                </a:gridCol>
                <a:gridCol w="1644903">
                  <a:extLst>
                    <a:ext uri="{9D8B030D-6E8A-4147-A177-3AD203B41FA5}">
                      <a16:colId xmlns:a16="http://schemas.microsoft.com/office/drawing/2014/main" val="3312424513"/>
                    </a:ext>
                  </a:extLst>
                </a:gridCol>
                <a:gridCol w="2763342">
                  <a:extLst>
                    <a:ext uri="{9D8B030D-6E8A-4147-A177-3AD203B41FA5}">
                      <a16:colId xmlns:a16="http://schemas.microsoft.com/office/drawing/2014/main" val="1110026255"/>
                    </a:ext>
                  </a:extLst>
                </a:gridCol>
                <a:gridCol w="2305663">
                  <a:extLst>
                    <a:ext uri="{9D8B030D-6E8A-4147-A177-3AD203B41FA5}">
                      <a16:colId xmlns:a16="http://schemas.microsoft.com/office/drawing/2014/main" val="1296177915"/>
                    </a:ext>
                  </a:extLst>
                </a:gridCol>
              </a:tblGrid>
              <a:tr h="370840">
                <a:tc>
                  <a:txBody>
                    <a:bodyPr/>
                    <a:lstStyle/>
                    <a:p>
                      <a:endParaRPr lang="en-US" dirty="0"/>
                    </a:p>
                  </a:txBody>
                  <a:tcPr/>
                </a:tc>
                <a:tc>
                  <a:txBody>
                    <a:bodyPr/>
                    <a:lstStyle/>
                    <a:p>
                      <a:r>
                        <a:rPr lang="en-US" altLang="zh-CN" dirty="0"/>
                        <a:t>WEP</a:t>
                      </a:r>
                      <a:endParaRPr lang="en-US" dirty="0"/>
                    </a:p>
                  </a:txBody>
                  <a:tcPr/>
                </a:tc>
                <a:tc>
                  <a:txBody>
                    <a:bodyPr/>
                    <a:lstStyle/>
                    <a:p>
                      <a:r>
                        <a:rPr lang="en-US" dirty="0"/>
                        <a:t>WPA</a:t>
                      </a:r>
                    </a:p>
                  </a:txBody>
                  <a:tcPr/>
                </a:tc>
                <a:tc>
                  <a:txBody>
                    <a:bodyPr/>
                    <a:lstStyle/>
                    <a:p>
                      <a:r>
                        <a:rPr lang="en-US" dirty="0"/>
                        <a:t>WPA2</a:t>
                      </a:r>
                    </a:p>
                  </a:txBody>
                  <a:tcPr/>
                </a:tc>
                <a:extLst>
                  <a:ext uri="{0D108BD9-81ED-4DB2-BD59-A6C34878D82A}">
                    <a16:rowId xmlns:a16="http://schemas.microsoft.com/office/drawing/2014/main" val="2933459132"/>
                  </a:ext>
                </a:extLst>
              </a:tr>
              <a:tr h="370840">
                <a:tc>
                  <a:txBody>
                    <a:bodyPr/>
                    <a:lstStyle/>
                    <a:p>
                      <a:r>
                        <a:rPr lang="en-US" dirty="0"/>
                        <a:t>Cipher</a:t>
                      </a:r>
                    </a:p>
                  </a:txBody>
                  <a:tcPr/>
                </a:tc>
                <a:tc>
                  <a:txBody>
                    <a:bodyPr/>
                    <a:lstStyle/>
                    <a:p>
                      <a:r>
                        <a:rPr lang="en-US" dirty="0"/>
                        <a:t>RC4</a:t>
                      </a:r>
                    </a:p>
                  </a:txBody>
                  <a:tcPr/>
                </a:tc>
                <a:tc>
                  <a:txBody>
                    <a:bodyPr/>
                    <a:lstStyle/>
                    <a:p>
                      <a:r>
                        <a:rPr lang="en-US" dirty="0"/>
                        <a:t>RC4</a:t>
                      </a:r>
                    </a:p>
                  </a:txBody>
                  <a:tcPr/>
                </a:tc>
                <a:tc>
                  <a:txBody>
                    <a:bodyPr/>
                    <a:lstStyle/>
                    <a:p>
                      <a:r>
                        <a:rPr lang="en-US" dirty="0"/>
                        <a:t>AES</a:t>
                      </a:r>
                    </a:p>
                  </a:txBody>
                  <a:tcPr/>
                </a:tc>
                <a:extLst>
                  <a:ext uri="{0D108BD9-81ED-4DB2-BD59-A6C34878D82A}">
                    <a16:rowId xmlns:a16="http://schemas.microsoft.com/office/drawing/2014/main" val="3834146533"/>
                  </a:ext>
                </a:extLst>
              </a:tr>
              <a:tr h="370840">
                <a:tc>
                  <a:txBody>
                    <a:bodyPr/>
                    <a:lstStyle/>
                    <a:p>
                      <a:r>
                        <a:rPr lang="en-US" dirty="0"/>
                        <a:t>Key Sizes</a:t>
                      </a:r>
                    </a:p>
                  </a:txBody>
                  <a:tcPr/>
                </a:tc>
                <a:tc>
                  <a:txBody>
                    <a:bodyPr/>
                    <a:lstStyle/>
                    <a:p>
                      <a:r>
                        <a:rPr lang="en-US" dirty="0"/>
                        <a:t>40 bits</a:t>
                      </a:r>
                    </a:p>
                  </a:txBody>
                  <a:tcPr/>
                </a:tc>
                <a:tc>
                  <a:txBody>
                    <a:bodyPr/>
                    <a:lstStyle/>
                    <a:p>
                      <a:r>
                        <a:rPr lang="en-US" dirty="0"/>
                        <a:t>128bits encryption </a:t>
                      </a:r>
                    </a:p>
                    <a:p>
                      <a:r>
                        <a:rPr lang="en-US" dirty="0"/>
                        <a:t>64 bits authentication</a:t>
                      </a:r>
                    </a:p>
                  </a:txBody>
                  <a:tcPr/>
                </a:tc>
                <a:tc>
                  <a:txBody>
                    <a:bodyPr/>
                    <a:lstStyle/>
                    <a:p>
                      <a:r>
                        <a:rPr lang="en-US" dirty="0"/>
                        <a:t>128 bits</a:t>
                      </a:r>
                    </a:p>
                  </a:txBody>
                  <a:tcPr/>
                </a:tc>
                <a:extLst>
                  <a:ext uri="{0D108BD9-81ED-4DB2-BD59-A6C34878D82A}">
                    <a16:rowId xmlns:a16="http://schemas.microsoft.com/office/drawing/2014/main" val="1097715"/>
                  </a:ext>
                </a:extLst>
              </a:tr>
              <a:tr h="370840">
                <a:tc>
                  <a:txBody>
                    <a:bodyPr/>
                    <a:lstStyle/>
                    <a:p>
                      <a:r>
                        <a:rPr lang="en-US" dirty="0"/>
                        <a:t>Key Life</a:t>
                      </a:r>
                    </a:p>
                  </a:txBody>
                  <a:tcPr/>
                </a:tc>
                <a:tc>
                  <a:txBody>
                    <a:bodyPr/>
                    <a:lstStyle/>
                    <a:p>
                      <a:r>
                        <a:rPr lang="en-US" dirty="0"/>
                        <a:t>24 bit IV</a:t>
                      </a:r>
                    </a:p>
                  </a:txBody>
                  <a:tcPr/>
                </a:tc>
                <a:tc>
                  <a:txBody>
                    <a:bodyPr/>
                    <a:lstStyle/>
                    <a:p>
                      <a:r>
                        <a:rPr lang="en-US" dirty="0"/>
                        <a:t>48 bit IV</a:t>
                      </a:r>
                    </a:p>
                  </a:txBody>
                  <a:tcPr/>
                </a:tc>
                <a:tc>
                  <a:txBody>
                    <a:bodyPr/>
                    <a:lstStyle/>
                    <a:p>
                      <a:r>
                        <a:rPr lang="en-US" dirty="0"/>
                        <a:t>48 bit IV</a:t>
                      </a:r>
                    </a:p>
                  </a:txBody>
                  <a:tcPr/>
                </a:tc>
                <a:extLst>
                  <a:ext uri="{0D108BD9-81ED-4DB2-BD59-A6C34878D82A}">
                    <a16:rowId xmlns:a16="http://schemas.microsoft.com/office/drawing/2014/main" val="1495057211"/>
                  </a:ext>
                </a:extLst>
              </a:tr>
              <a:tr h="370840">
                <a:tc>
                  <a:txBody>
                    <a:bodyPr/>
                    <a:lstStyle/>
                    <a:p>
                      <a:r>
                        <a:rPr lang="en-US" dirty="0"/>
                        <a:t>Packet Key</a:t>
                      </a:r>
                    </a:p>
                  </a:txBody>
                  <a:tcPr/>
                </a:tc>
                <a:tc>
                  <a:txBody>
                    <a:bodyPr/>
                    <a:lstStyle/>
                    <a:p>
                      <a:r>
                        <a:rPr lang="en-US" dirty="0"/>
                        <a:t>Concatenated</a:t>
                      </a:r>
                    </a:p>
                  </a:txBody>
                  <a:tcPr/>
                </a:tc>
                <a:tc>
                  <a:txBody>
                    <a:bodyPr/>
                    <a:lstStyle/>
                    <a:p>
                      <a:r>
                        <a:rPr lang="en-US" dirty="0"/>
                        <a:t>Mixing Function</a:t>
                      </a:r>
                    </a:p>
                  </a:txBody>
                  <a:tcPr/>
                </a:tc>
                <a:tc>
                  <a:txBody>
                    <a:bodyPr/>
                    <a:lstStyle/>
                    <a:p>
                      <a:r>
                        <a:rPr lang="en-US" dirty="0"/>
                        <a:t>Not Needed</a:t>
                      </a:r>
                    </a:p>
                  </a:txBody>
                  <a:tcPr/>
                </a:tc>
                <a:extLst>
                  <a:ext uri="{0D108BD9-81ED-4DB2-BD59-A6C34878D82A}">
                    <a16:rowId xmlns:a16="http://schemas.microsoft.com/office/drawing/2014/main" val="4203731991"/>
                  </a:ext>
                </a:extLst>
              </a:tr>
              <a:tr h="370840">
                <a:tc>
                  <a:txBody>
                    <a:bodyPr/>
                    <a:lstStyle/>
                    <a:p>
                      <a:r>
                        <a:rPr lang="en-US" dirty="0"/>
                        <a:t>Data Integrity</a:t>
                      </a:r>
                    </a:p>
                  </a:txBody>
                  <a:tcPr/>
                </a:tc>
                <a:tc>
                  <a:txBody>
                    <a:bodyPr/>
                    <a:lstStyle/>
                    <a:p>
                      <a:r>
                        <a:rPr lang="en-US" dirty="0"/>
                        <a:t>CRC-32</a:t>
                      </a:r>
                    </a:p>
                  </a:txBody>
                  <a:tcPr/>
                </a:tc>
                <a:tc>
                  <a:txBody>
                    <a:bodyPr/>
                    <a:lstStyle/>
                    <a:p>
                      <a:r>
                        <a:rPr lang="en-US" dirty="0"/>
                        <a:t>Michael Algorithm</a:t>
                      </a:r>
                    </a:p>
                  </a:txBody>
                  <a:tcPr/>
                </a:tc>
                <a:tc>
                  <a:txBody>
                    <a:bodyPr/>
                    <a:lstStyle/>
                    <a:p>
                      <a:r>
                        <a:rPr lang="en-US" dirty="0"/>
                        <a:t>CCM</a:t>
                      </a:r>
                    </a:p>
                  </a:txBody>
                  <a:tcPr/>
                </a:tc>
                <a:extLst>
                  <a:ext uri="{0D108BD9-81ED-4DB2-BD59-A6C34878D82A}">
                    <a16:rowId xmlns:a16="http://schemas.microsoft.com/office/drawing/2014/main" val="2697777097"/>
                  </a:ext>
                </a:extLst>
              </a:tr>
              <a:tr h="370840">
                <a:tc>
                  <a:txBody>
                    <a:bodyPr/>
                    <a:lstStyle/>
                    <a:p>
                      <a:r>
                        <a:rPr lang="en-US" dirty="0"/>
                        <a:t>Header Integrity</a:t>
                      </a:r>
                    </a:p>
                  </a:txBody>
                  <a:tcPr/>
                </a:tc>
                <a:tc>
                  <a:txBody>
                    <a:bodyPr/>
                    <a:lstStyle/>
                    <a:p>
                      <a:r>
                        <a:rPr lang="en-US" dirty="0"/>
                        <a:t>None</a:t>
                      </a:r>
                    </a:p>
                  </a:txBody>
                  <a:tcPr/>
                </a:tc>
                <a:tc>
                  <a:txBody>
                    <a:bodyPr/>
                    <a:lstStyle/>
                    <a:p>
                      <a:r>
                        <a:rPr lang="en-US" dirty="0"/>
                        <a:t>Michael Algorithm</a:t>
                      </a:r>
                    </a:p>
                  </a:txBody>
                  <a:tcPr/>
                </a:tc>
                <a:tc>
                  <a:txBody>
                    <a:bodyPr/>
                    <a:lstStyle/>
                    <a:p>
                      <a:r>
                        <a:rPr lang="en-US" dirty="0"/>
                        <a:t>CCM</a:t>
                      </a:r>
                    </a:p>
                  </a:txBody>
                  <a:tcPr/>
                </a:tc>
                <a:extLst>
                  <a:ext uri="{0D108BD9-81ED-4DB2-BD59-A6C34878D82A}">
                    <a16:rowId xmlns:a16="http://schemas.microsoft.com/office/drawing/2014/main" val="3515839210"/>
                  </a:ext>
                </a:extLst>
              </a:tr>
              <a:tr h="185420">
                <a:tc>
                  <a:txBody>
                    <a:bodyPr/>
                    <a:lstStyle/>
                    <a:p>
                      <a:r>
                        <a:rPr lang="en-US" dirty="0"/>
                        <a:t>Defeat</a:t>
                      </a:r>
                      <a:r>
                        <a:rPr lang="en-US" baseline="0" dirty="0"/>
                        <a:t> </a:t>
                      </a:r>
                      <a:r>
                        <a:rPr lang="en-US" dirty="0"/>
                        <a:t>Replay Attacks</a:t>
                      </a:r>
                    </a:p>
                  </a:txBody>
                  <a:tcPr/>
                </a:tc>
                <a:tc>
                  <a:txBody>
                    <a:bodyPr/>
                    <a:lstStyle/>
                    <a:p>
                      <a:r>
                        <a:rPr lang="en-US" dirty="0"/>
                        <a:t>None</a:t>
                      </a:r>
                    </a:p>
                  </a:txBody>
                  <a:tcPr/>
                </a:tc>
                <a:tc>
                  <a:txBody>
                    <a:bodyPr/>
                    <a:lstStyle/>
                    <a:p>
                      <a:r>
                        <a:rPr lang="en-US" dirty="0"/>
                        <a:t>IV Sequence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IV Sequence</a:t>
                      </a:r>
                    </a:p>
                  </a:txBody>
                  <a:tcPr/>
                </a:tc>
                <a:extLst>
                  <a:ext uri="{0D108BD9-81ED-4DB2-BD59-A6C34878D82A}">
                    <a16:rowId xmlns:a16="http://schemas.microsoft.com/office/drawing/2014/main" val="3411295819"/>
                  </a:ext>
                </a:extLst>
              </a:tr>
              <a:tr h="185420">
                <a:tc>
                  <a:txBody>
                    <a:bodyPr/>
                    <a:lstStyle/>
                    <a:p>
                      <a:r>
                        <a:rPr lang="en-US" dirty="0"/>
                        <a:t>Key Management</a:t>
                      </a:r>
                    </a:p>
                  </a:txBody>
                  <a:tcPr/>
                </a:tc>
                <a:tc>
                  <a:txBody>
                    <a:bodyPr/>
                    <a:lstStyle/>
                    <a:p>
                      <a:r>
                        <a:rPr lang="en-US" dirty="0"/>
                        <a:t>None</a:t>
                      </a:r>
                    </a:p>
                  </a:txBody>
                  <a:tcPr/>
                </a:tc>
                <a:tc>
                  <a:txBody>
                    <a:bodyPr/>
                    <a:lstStyle/>
                    <a:p>
                      <a:r>
                        <a:rPr lang="en-US" dirty="0"/>
                        <a:t>EAP Based</a:t>
                      </a:r>
                    </a:p>
                  </a:txBody>
                  <a:tcPr/>
                </a:tc>
                <a:tc>
                  <a:txBody>
                    <a:bodyPr/>
                    <a:lstStyle/>
                    <a:p>
                      <a:r>
                        <a:rPr lang="en-US" dirty="0"/>
                        <a:t>EAP Based</a:t>
                      </a:r>
                    </a:p>
                  </a:txBody>
                  <a:tcPr/>
                </a:tc>
                <a:extLst>
                  <a:ext uri="{0D108BD9-81ED-4DB2-BD59-A6C34878D82A}">
                    <a16:rowId xmlns:a16="http://schemas.microsoft.com/office/drawing/2014/main" val="545521122"/>
                  </a:ext>
                </a:extLst>
              </a:tr>
            </a:tbl>
          </a:graphicData>
        </a:graphic>
      </p:graphicFrame>
      <p:sp>
        <p:nvSpPr>
          <p:cNvPr id="6" name="Rectangle 5"/>
          <p:cNvSpPr/>
          <p:nvPr/>
        </p:nvSpPr>
        <p:spPr>
          <a:xfrm>
            <a:off x="8102301" y="2764717"/>
            <a:ext cx="1473798" cy="4087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102301" y="4552278"/>
            <a:ext cx="1473798" cy="74048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8296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The WPA2 has immunity against many types of hacker attacks, like:</a:t>
            </a:r>
          </a:p>
          <a:p>
            <a:pPr lvl="1"/>
            <a:r>
              <a:rPr lang="en-US" dirty="0"/>
              <a:t>Man-in-the-middle.</a:t>
            </a:r>
          </a:p>
          <a:p>
            <a:pPr lvl="1"/>
            <a:r>
              <a:rPr lang="en-US" dirty="0"/>
              <a:t>Authentication forging.</a:t>
            </a:r>
          </a:p>
          <a:p>
            <a:pPr lvl="1"/>
            <a:r>
              <a:rPr lang="en-US" dirty="0"/>
              <a:t>Replay.</a:t>
            </a:r>
          </a:p>
          <a:p>
            <a:pPr lvl="1"/>
            <a:r>
              <a:rPr lang="en-US" dirty="0"/>
              <a:t>Key collision.</a:t>
            </a:r>
          </a:p>
          <a:p>
            <a:pPr lvl="1"/>
            <a:r>
              <a:rPr lang="en-US" dirty="0"/>
              <a:t>Weak keys.</a:t>
            </a:r>
          </a:p>
          <a:p>
            <a:pPr lvl="1"/>
            <a:r>
              <a:rPr lang="en-US" dirty="0"/>
              <a:t>Packet forging.</a:t>
            </a:r>
          </a:p>
          <a:p>
            <a:pPr lvl="1"/>
            <a:r>
              <a:rPr lang="en-US" dirty="0"/>
              <a:t>Brute–force/dictionary attacks.</a:t>
            </a:r>
          </a:p>
        </p:txBody>
      </p:sp>
      <p:sp>
        <p:nvSpPr>
          <p:cNvPr id="3" name="Title 2"/>
          <p:cNvSpPr>
            <a:spLocks noGrp="1"/>
          </p:cNvSpPr>
          <p:nvPr>
            <p:ph type="title"/>
          </p:nvPr>
        </p:nvSpPr>
        <p:spPr/>
        <p:txBody>
          <a:bodyPr/>
          <a:lstStyle/>
          <a:p>
            <a:r>
              <a:rPr lang="en-US" dirty="0"/>
              <a:t>WPA2 Pros</a:t>
            </a:r>
          </a:p>
        </p:txBody>
      </p:sp>
    </p:spTree>
    <p:extLst>
      <p:ext uri="{BB962C8B-B14F-4D97-AF65-F5344CB8AC3E}">
        <p14:creationId xmlns:p14="http://schemas.microsoft.com/office/powerpoint/2010/main" val="2583154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WPA2 adds two enhancements to support fast roaming as follow:</a:t>
            </a:r>
          </a:p>
          <a:p>
            <a:endParaRPr lang="en-US" dirty="0"/>
          </a:p>
          <a:p>
            <a:pPr lvl="1"/>
            <a:r>
              <a:rPr lang="en-US" dirty="0"/>
              <a:t>Allow the client to reconnect to the access points which he has recently been connected to without needing to re-authenticate because of the PMK caching feature.</a:t>
            </a:r>
          </a:p>
          <a:p>
            <a:pPr lvl="1"/>
            <a:endParaRPr lang="en-US" dirty="0"/>
          </a:p>
          <a:p>
            <a:pPr lvl="1"/>
            <a:r>
              <a:rPr lang="en-US" dirty="0"/>
              <a:t>Allow the client to pre-authenticate himself with the access point which he is moving toward while he is still connected to the access point which he is moving away from.</a:t>
            </a:r>
          </a:p>
          <a:p>
            <a:endParaRPr lang="en-US" dirty="0"/>
          </a:p>
        </p:txBody>
      </p:sp>
      <p:sp>
        <p:nvSpPr>
          <p:cNvPr id="3" name="Title 2"/>
          <p:cNvSpPr>
            <a:spLocks noGrp="1"/>
          </p:cNvSpPr>
          <p:nvPr>
            <p:ph type="title"/>
          </p:nvPr>
        </p:nvSpPr>
        <p:spPr/>
        <p:txBody>
          <a:bodyPr/>
          <a:lstStyle/>
          <a:p>
            <a:r>
              <a:rPr lang="en-US" dirty="0"/>
              <a:t>WPA2 Pros (cont.)</a:t>
            </a:r>
          </a:p>
        </p:txBody>
      </p:sp>
    </p:spTree>
    <p:extLst>
      <p:ext uri="{BB962C8B-B14F-4D97-AF65-F5344CB8AC3E}">
        <p14:creationId xmlns:p14="http://schemas.microsoft.com/office/powerpoint/2010/main" val="389218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Like all Wi-Fi security standard, the WPA2 can't stand in front of the physical layer attacks like:</a:t>
            </a:r>
          </a:p>
          <a:p>
            <a:pPr lvl="1"/>
            <a:r>
              <a:rPr lang="en-US" dirty="0"/>
              <a:t>RF jamming.</a:t>
            </a:r>
          </a:p>
          <a:p>
            <a:pPr lvl="1"/>
            <a:r>
              <a:rPr lang="en-US" dirty="0"/>
              <a:t>Data flooding.</a:t>
            </a:r>
          </a:p>
          <a:p>
            <a:pPr lvl="1"/>
            <a:r>
              <a:rPr lang="en-US" dirty="0"/>
              <a:t>Access points failure.</a:t>
            </a:r>
          </a:p>
          <a:p>
            <a:endParaRPr lang="en-US" dirty="0"/>
          </a:p>
        </p:txBody>
      </p:sp>
      <p:sp>
        <p:nvSpPr>
          <p:cNvPr id="3" name="Title 2"/>
          <p:cNvSpPr>
            <a:spLocks noGrp="1"/>
          </p:cNvSpPr>
          <p:nvPr>
            <p:ph type="title"/>
          </p:nvPr>
        </p:nvSpPr>
        <p:spPr/>
        <p:txBody>
          <a:bodyPr/>
          <a:lstStyle/>
          <a:p>
            <a:r>
              <a:rPr lang="en-US" dirty="0"/>
              <a:t>WPA2 Cons</a:t>
            </a:r>
          </a:p>
        </p:txBody>
      </p:sp>
    </p:spTree>
    <p:extLst>
      <p:ext uri="{BB962C8B-B14F-4D97-AF65-F5344CB8AC3E}">
        <p14:creationId xmlns:p14="http://schemas.microsoft.com/office/powerpoint/2010/main" val="1939897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The attacker can get and discover lots of network information by analyzing the unprotected control and management frames.</a:t>
            </a:r>
          </a:p>
          <a:p>
            <a:endParaRPr lang="en-US" dirty="0"/>
          </a:p>
          <a:p>
            <a:r>
              <a:rPr lang="en-US" dirty="0"/>
              <a:t>It is vulnerable for the </a:t>
            </a:r>
            <a:r>
              <a:rPr lang="en-US" dirty="0" err="1"/>
              <a:t>DoS</a:t>
            </a:r>
            <a:r>
              <a:rPr lang="en-US" dirty="0"/>
              <a:t> attack.</a:t>
            </a:r>
          </a:p>
          <a:p>
            <a:endParaRPr lang="en-US" dirty="0"/>
          </a:p>
          <a:p>
            <a:r>
              <a:rPr lang="en-US" dirty="0"/>
              <a:t>It is vulnerable to the MAC addresses spoofing and the mass de-authentication attacks.</a:t>
            </a:r>
          </a:p>
          <a:p>
            <a:endParaRPr lang="en-US" dirty="0"/>
          </a:p>
        </p:txBody>
      </p:sp>
      <p:sp>
        <p:nvSpPr>
          <p:cNvPr id="3" name="Title 2"/>
          <p:cNvSpPr>
            <a:spLocks noGrp="1"/>
          </p:cNvSpPr>
          <p:nvPr>
            <p:ph type="title"/>
          </p:nvPr>
        </p:nvSpPr>
        <p:spPr/>
        <p:txBody>
          <a:bodyPr/>
          <a:lstStyle/>
          <a:p>
            <a:r>
              <a:rPr lang="en-US" dirty="0"/>
              <a:t>WPA2 Cons (cont.)</a:t>
            </a:r>
          </a:p>
        </p:txBody>
      </p:sp>
    </p:spTree>
    <p:extLst>
      <p:ext uri="{BB962C8B-B14F-4D97-AF65-F5344CB8AC3E}">
        <p14:creationId xmlns:p14="http://schemas.microsoft.com/office/powerpoint/2010/main" val="1538105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KRACK is short for Key Reinstallation Attack</a:t>
            </a:r>
          </a:p>
          <a:p>
            <a:endParaRPr lang="en-US" dirty="0"/>
          </a:p>
          <a:p>
            <a:r>
              <a:rPr lang="en-US" dirty="0"/>
              <a:t>The attack uses vulnerabilities in the 4-way handshake of the current WPA- 2 protocol.</a:t>
            </a:r>
          </a:p>
          <a:p>
            <a:endParaRPr lang="en-US" dirty="0"/>
          </a:p>
          <a:p>
            <a:r>
              <a:rPr lang="en-US" dirty="0"/>
              <a:t>Threat level : Pretty bad – All Wi-Fi routers everywhere are vulnerable</a:t>
            </a:r>
          </a:p>
        </p:txBody>
      </p:sp>
      <p:sp>
        <p:nvSpPr>
          <p:cNvPr id="3" name="Title 2"/>
          <p:cNvSpPr>
            <a:spLocks noGrp="1"/>
          </p:cNvSpPr>
          <p:nvPr>
            <p:ph type="title"/>
          </p:nvPr>
        </p:nvSpPr>
        <p:spPr/>
        <p:txBody>
          <a:bodyPr/>
          <a:lstStyle/>
          <a:p>
            <a:r>
              <a:rPr lang="en-US" altLang="zh-CN" dirty="0"/>
              <a:t>The KRACK Attack</a:t>
            </a:r>
            <a:endParaRPr lang="en-US" dirty="0"/>
          </a:p>
        </p:txBody>
      </p:sp>
    </p:spTree>
    <p:extLst>
      <p:ext uri="{BB962C8B-B14F-4D97-AF65-F5344CB8AC3E}">
        <p14:creationId xmlns:p14="http://schemas.microsoft.com/office/powerpoint/2010/main" val="482129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Used to connect to any protected Wi-Fi network</a:t>
            </a:r>
          </a:p>
          <a:p>
            <a:r>
              <a:rPr lang="en-US" dirty="0"/>
              <a:t>Two main purposes:</a:t>
            </a:r>
          </a:p>
          <a:p>
            <a:pPr lvl="1"/>
            <a:r>
              <a:rPr lang="en-US" dirty="0"/>
              <a:t>Mutual authentication</a:t>
            </a:r>
          </a:p>
          <a:p>
            <a:pPr lvl="1"/>
            <a:r>
              <a:rPr lang="en-US" dirty="0"/>
              <a:t>Negotiate fresh PTK: pairwise temporal key</a:t>
            </a:r>
          </a:p>
          <a:p>
            <a:r>
              <a:rPr lang="en-US" dirty="0"/>
              <a:t>Appeared to be secure:</a:t>
            </a:r>
          </a:p>
          <a:p>
            <a:pPr lvl="1"/>
            <a:r>
              <a:rPr lang="en-US" dirty="0"/>
              <a:t>No attacks in over a decade (apart from password guessing)</a:t>
            </a:r>
          </a:p>
          <a:p>
            <a:pPr lvl="1"/>
            <a:r>
              <a:rPr lang="en-US" dirty="0"/>
              <a:t>Proven that negotiated key (PTK) is secret</a:t>
            </a:r>
          </a:p>
          <a:p>
            <a:pPr lvl="1"/>
            <a:r>
              <a:rPr lang="en-US" dirty="0"/>
              <a:t>And encryption protocol proven secure</a:t>
            </a:r>
          </a:p>
          <a:p>
            <a:endParaRPr lang="en-US" dirty="0"/>
          </a:p>
          <a:p>
            <a:endParaRPr lang="en-US" dirty="0"/>
          </a:p>
        </p:txBody>
      </p:sp>
      <p:sp>
        <p:nvSpPr>
          <p:cNvPr id="3" name="Title 2"/>
          <p:cNvSpPr>
            <a:spLocks noGrp="1"/>
          </p:cNvSpPr>
          <p:nvPr>
            <p:ph type="title"/>
          </p:nvPr>
        </p:nvSpPr>
        <p:spPr/>
        <p:txBody>
          <a:bodyPr/>
          <a:lstStyle/>
          <a:p>
            <a:r>
              <a:rPr lang="en-US" dirty="0"/>
              <a:t>The 4-way handshake</a:t>
            </a:r>
            <a:br>
              <a:rPr lang="en-US" dirty="0"/>
            </a:br>
            <a:endParaRPr lang="en-US" dirty="0"/>
          </a:p>
        </p:txBody>
      </p:sp>
    </p:spTree>
    <p:extLst>
      <p:ext uri="{BB962C8B-B14F-4D97-AF65-F5344CB8AC3E}">
        <p14:creationId xmlns:p14="http://schemas.microsoft.com/office/powerpoint/2010/main" val="1194816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4-way handshake (simplified)</a:t>
            </a:r>
          </a:p>
        </p:txBody>
      </p:sp>
      <p:pic>
        <p:nvPicPr>
          <p:cNvPr id="8" name="Picture 7"/>
          <p:cNvPicPr>
            <a:picLocks noChangeAspect="1"/>
          </p:cNvPicPr>
          <p:nvPr/>
        </p:nvPicPr>
        <p:blipFill>
          <a:blip r:embed="rId3"/>
          <a:stretch>
            <a:fillRect/>
          </a:stretch>
        </p:blipFill>
        <p:spPr>
          <a:xfrm>
            <a:off x="638645" y="2209718"/>
            <a:ext cx="1114425" cy="1619250"/>
          </a:xfrm>
          <a:prstGeom prst="rect">
            <a:avLst/>
          </a:prstGeom>
        </p:spPr>
      </p:pic>
      <p:pic>
        <p:nvPicPr>
          <p:cNvPr id="9" name="Picture 8"/>
          <p:cNvPicPr>
            <a:picLocks noChangeAspect="1"/>
          </p:cNvPicPr>
          <p:nvPr/>
        </p:nvPicPr>
        <p:blipFill>
          <a:blip r:embed="rId4"/>
          <a:stretch>
            <a:fillRect/>
          </a:stretch>
        </p:blipFill>
        <p:spPr>
          <a:xfrm>
            <a:off x="8814821" y="2185166"/>
            <a:ext cx="1695450" cy="1581150"/>
          </a:xfrm>
          <a:prstGeom prst="rect">
            <a:avLst/>
          </a:prstGeom>
        </p:spPr>
      </p:pic>
      <p:pic>
        <p:nvPicPr>
          <p:cNvPr id="11" name="Picture 10"/>
          <p:cNvPicPr>
            <a:picLocks noChangeAspect="1"/>
          </p:cNvPicPr>
          <p:nvPr/>
        </p:nvPicPr>
        <p:blipFill>
          <a:blip r:embed="rId5"/>
          <a:stretch>
            <a:fillRect/>
          </a:stretch>
        </p:blipFill>
        <p:spPr>
          <a:xfrm>
            <a:off x="1860423" y="2209719"/>
            <a:ext cx="6918122" cy="726112"/>
          </a:xfrm>
          <a:prstGeom prst="rect">
            <a:avLst/>
          </a:prstGeom>
        </p:spPr>
      </p:pic>
      <p:pic>
        <p:nvPicPr>
          <p:cNvPr id="14" name="Picture 13"/>
          <p:cNvPicPr>
            <a:picLocks noChangeAspect="1"/>
          </p:cNvPicPr>
          <p:nvPr/>
        </p:nvPicPr>
        <p:blipFill>
          <a:blip r:embed="rId6"/>
          <a:stretch>
            <a:fillRect/>
          </a:stretch>
        </p:blipFill>
        <p:spPr>
          <a:xfrm>
            <a:off x="1806747" y="2124836"/>
            <a:ext cx="7008074" cy="2855955"/>
          </a:xfrm>
          <a:prstGeom prst="rect">
            <a:avLst/>
          </a:prstGeom>
        </p:spPr>
      </p:pic>
      <p:sp>
        <p:nvSpPr>
          <p:cNvPr id="15" name="Rounded Rectangle 14"/>
          <p:cNvSpPr/>
          <p:nvPr/>
        </p:nvSpPr>
        <p:spPr>
          <a:xfrm>
            <a:off x="1789346" y="3512420"/>
            <a:ext cx="1792184" cy="557937"/>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6974270" y="4287476"/>
            <a:ext cx="1792184" cy="557937"/>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p:cNvSpPr/>
          <p:nvPr/>
        </p:nvSpPr>
        <p:spPr>
          <a:xfrm>
            <a:off x="2615993" y="5397611"/>
            <a:ext cx="5389581" cy="1097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PTK = Combine(shared secret,</a:t>
            </a:r>
          </a:p>
          <a:p>
            <a:pPr algn="ctr"/>
            <a:r>
              <a:rPr lang="en-US" sz="2400" dirty="0" err="1"/>
              <a:t>ANonce</a:t>
            </a:r>
            <a:r>
              <a:rPr lang="en-US" sz="2400" dirty="0"/>
              <a:t>, </a:t>
            </a:r>
            <a:r>
              <a:rPr lang="en-US" sz="2400" dirty="0" err="1"/>
              <a:t>SNonce</a:t>
            </a:r>
            <a:r>
              <a:rPr lang="en-US" sz="2400" dirty="0"/>
              <a:t>)</a:t>
            </a:r>
          </a:p>
        </p:txBody>
      </p:sp>
      <p:cxnSp>
        <p:nvCxnSpPr>
          <p:cNvPr id="19" name="Straight Arrow Connector 18"/>
          <p:cNvCxnSpPr>
            <a:stCxn id="15" idx="2"/>
            <a:endCxn id="17" idx="0"/>
          </p:cNvCxnSpPr>
          <p:nvPr/>
        </p:nvCxnSpPr>
        <p:spPr>
          <a:xfrm>
            <a:off x="2685438" y="4070357"/>
            <a:ext cx="2625346" cy="132725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6" idx="2"/>
            <a:endCxn id="17" idx="0"/>
          </p:cNvCxnSpPr>
          <p:nvPr/>
        </p:nvCxnSpPr>
        <p:spPr>
          <a:xfrm flipH="1">
            <a:off x="5310784" y="4845413"/>
            <a:ext cx="2559578" cy="5521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17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up)">
                                      <p:cBhvr>
                                        <p:cTn id="11" dur="500"/>
                                        <p:tgtEl>
                                          <p:spTgt spid="15"/>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up)">
                                      <p:cBhvr>
                                        <p:cTn id="14" dur="500"/>
                                        <p:tgtEl>
                                          <p:spTgt spid="16"/>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up)">
                                      <p:cBhvr>
                                        <p:cTn id="17" dur="500"/>
                                        <p:tgtEl>
                                          <p:spTgt spid="17"/>
                                        </p:tgtEl>
                                      </p:cBhvr>
                                    </p:animEffect>
                                  </p:childTnLst>
                                </p:cTn>
                              </p:par>
                              <p:par>
                                <p:cTn id="18" presetID="22" presetClass="entr" presetSubtype="1"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up)">
                                      <p:cBhvr>
                                        <p:cTn id="20" dur="500"/>
                                        <p:tgtEl>
                                          <p:spTgt spid="19"/>
                                        </p:tgtEl>
                                      </p:cBhvr>
                                    </p:animEffect>
                                  </p:childTnLst>
                                </p:cTn>
                              </p:par>
                              <p:par>
                                <p:cTn id="21" presetID="22" presetClass="entr" presetSubtype="1"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up)">
                                      <p:cBhvr>
                                        <p:cTn id="2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stretch>
            <a:fillRect/>
          </a:stretch>
        </p:blipFill>
        <p:spPr>
          <a:xfrm>
            <a:off x="1799285" y="2175227"/>
            <a:ext cx="7025475" cy="3717647"/>
          </a:xfrm>
          <a:prstGeom prst="rect">
            <a:avLst/>
          </a:prstGeom>
        </p:spPr>
      </p:pic>
      <p:sp>
        <p:nvSpPr>
          <p:cNvPr id="3" name="Title 2"/>
          <p:cNvSpPr>
            <a:spLocks noGrp="1"/>
          </p:cNvSpPr>
          <p:nvPr>
            <p:ph type="title"/>
          </p:nvPr>
        </p:nvSpPr>
        <p:spPr/>
        <p:txBody>
          <a:bodyPr/>
          <a:lstStyle/>
          <a:p>
            <a:r>
              <a:rPr lang="en-US" dirty="0"/>
              <a:t>4-way handshake (simplified)</a:t>
            </a:r>
          </a:p>
        </p:txBody>
      </p:sp>
      <p:pic>
        <p:nvPicPr>
          <p:cNvPr id="4" name="Picture 3"/>
          <p:cNvPicPr>
            <a:picLocks noChangeAspect="1"/>
          </p:cNvPicPr>
          <p:nvPr/>
        </p:nvPicPr>
        <p:blipFill>
          <a:blip r:embed="rId3"/>
          <a:stretch>
            <a:fillRect/>
          </a:stretch>
        </p:blipFill>
        <p:spPr>
          <a:xfrm>
            <a:off x="638645" y="2209718"/>
            <a:ext cx="1114425" cy="1619250"/>
          </a:xfrm>
          <a:prstGeom prst="rect">
            <a:avLst/>
          </a:prstGeom>
        </p:spPr>
      </p:pic>
      <p:pic>
        <p:nvPicPr>
          <p:cNvPr id="5" name="Picture 4"/>
          <p:cNvPicPr>
            <a:picLocks noChangeAspect="1"/>
          </p:cNvPicPr>
          <p:nvPr/>
        </p:nvPicPr>
        <p:blipFill>
          <a:blip r:embed="rId4"/>
          <a:stretch>
            <a:fillRect/>
          </a:stretch>
        </p:blipFill>
        <p:spPr>
          <a:xfrm>
            <a:off x="8814821" y="2185166"/>
            <a:ext cx="1695450" cy="1581150"/>
          </a:xfrm>
          <a:prstGeom prst="rect">
            <a:avLst/>
          </a:prstGeom>
        </p:spPr>
      </p:pic>
      <p:pic>
        <p:nvPicPr>
          <p:cNvPr id="16" name="Picture 15"/>
          <p:cNvPicPr>
            <a:picLocks noChangeAspect="1"/>
          </p:cNvPicPr>
          <p:nvPr/>
        </p:nvPicPr>
        <p:blipFill>
          <a:blip r:embed="rId5"/>
          <a:stretch>
            <a:fillRect/>
          </a:stretch>
        </p:blipFill>
        <p:spPr>
          <a:xfrm>
            <a:off x="1761505" y="2199779"/>
            <a:ext cx="7055978" cy="4125146"/>
          </a:xfrm>
          <a:prstGeom prst="rect">
            <a:avLst/>
          </a:prstGeom>
        </p:spPr>
      </p:pic>
      <p:sp>
        <p:nvSpPr>
          <p:cNvPr id="2" name="Rounded Rectangle 1"/>
          <p:cNvSpPr/>
          <p:nvPr/>
        </p:nvSpPr>
        <p:spPr>
          <a:xfrm>
            <a:off x="1729408" y="5705060"/>
            <a:ext cx="1739348" cy="639489"/>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088073" y="5712290"/>
            <a:ext cx="1739348" cy="639489"/>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3564256" y="3965713"/>
            <a:ext cx="3750943" cy="112312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PTK is installed</a:t>
            </a:r>
          </a:p>
        </p:txBody>
      </p:sp>
    </p:spTree>
    <p:extLst>
      <p:ext uri="{BB962C8B-B14F-4D97-AF65-F5344CB8AC3E}">
        <p14:creationId xmlns:p14="http://schemas.microsoft.com/office/powerpoint/2010/main" val="271714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up)">
                                      <p:cBhvr>
                                        <p:cTn id="14" dur="500"/>
                                        <p:tgtEl>
                                          <p:spTgt spid="12"/>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The Key Reinstallation Attack on WPA2</a:t>
            </a:r>
          </a:p>
        </p:txBody>
      </p:sp>
      <p:pic>
        <p:nvPicPr>
          <p:cNvPr id="5" name="Picture 4"/>
          <p:cNvPicPr>
            <a:picLocks noChangeAspect="1"/>
          </p:cNvPicPr>
          <p:nvPr/>
        </p:nvPicPr>
        <p:blipFill>
          <a:blip r:embed="rId2"/>
          <a:stretch>
            <a:fillRect/>
          </a:stretch>
        </p:blipFill>
        <p:spPr>
          <a:xfrm>
            <a:off x="638645" y="2209718"/>
            <a:ext cx="1114425" cy="1619250"/>
          </a:xfrm>
          <a:prstGeom prst="rect">
            <a:avLst/>
          </a:prstGeom>
        </p:spPr>
      </p:pic>
      <p:pic>
        <p:nvPicPr>
          <p:cNvPr id="6" name="Picture 5"/>
          <p:cNvPicPr>
            <a:picLocks noChangeAspect="1"/>
          </p:cNvPicPr>
          <p:nvPr/>
        </p:nvPicPr>
        <p:blipFill>
          <a:blip r:embed="rId3"/>
          <a:stretch>
            <a:fillRect/>
          </a:stretch>
        </p:blipFill>
        <p:spPr>
          <a:xfrm>
            <a:off x="8814821" y="2185166"/>
            <a:ext cx="1695450" cy="1581150"/>
          </a:xfrm>
          <a:prstGeom prst="rect">
            <a:avLst/>
          </a:prstGeom>
        </p:spPr>
      </p:pic>
      <p:pic>
        <p:nvPicPr>
          <p:cNvPr id="10" name="Picture 9"/>
          <p:cNvPicPr>
            <a:picLocks noChangeAspect="1"/>
          </p:cNvPicPr>
          <p:nvPr/>
        </p:nvPicPr>
        <p:blipFill>
          <a:blip r:embed="rId4"/>
          <a:stretch>
            <a:fillRect/>
          </a:stretch>
        </p:blipFill>
        <p:spPr>
          <a:xfrm>
            <a:off x="1763855" y="2090831"/>
            <a:ext cx="7000082" cy="4733737"/>
          </a:xfrm>
          <a:prstGeom prst="rect">
            <a:avLst/>
          </a:prstGeom>
        </p:spPr>
      </p:pic>
      <p:sp>
        <p:nvSpPr>
          <p:cNvPr id="9" name="Rounded Rectangle 8"/>
          <p:cNvSpPr/>
          <p:nvPr/>
        </p:nvSpPr>
        <p:spPr>
          <a:xfrm>
            <a:off x="2543058" y="6185079"/>
            <a:ext cx="5441675" cy="639489"/>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6399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Frame encryption (simplified) </a:t>
            </a:r>
          </a:p>
        </p:txBody>
      </p:sp>
      <p:pic>
        <p:nvPicPr>
          <p:cNvPr id="4" name="Picture 3"/>
          <p:cNvPicPr>
            <a:picLocks noChangeAspect="1"/>
          </p:cNvPicPr>
          <p:nvPr/>
        </p:nvPicPr>
        <p:blipFill>
          <a:blip r:embed="rId2"/>
          <a:stretch>
            <a:fillRect/>
          </a:stretch>
        </p:blipFill>
        <p:spPr>
          <a:xfrm>
            <a:off x="566928" y="2185166"/>
            <a:ext cx="10809011" cy="4056362"/>
          </a:xfrm>
          <a:prstGeom prst="rect">
            <a:avLst/>
          </a:prstGeom>
        </p:spPr>
      </p:pic>
      <p:sp>
        <p:nvSpPr>
          <p:cNvPr id="5" name="Rectangle 4"/>
          <p:cNvSpPr/>
          <p:nvPr/>
        </p:nvSpPr>
        <p:spPr>
          <a:xfrm>
            <a:off x="2511287" y="5918362"/>
            <a:ext cx="6096000" cy="369332"/>
          </a:xfrm>
          <a:prstGeom prst="rect">
            <a:avLst/>
          </a:prstGeom>
        </p:spPr>
        <p:txBody>
          <a:bodyPr>
            <a:spAutoFit/>
          </a:bodyPr>
          <a:lstStyle/>
          <a:p>
            <a:endParaRPr lang="en-US" dirty="0"/>
          </a:p>
        </p:txBody>
      </p:sp>
      <p:sp>
        <p:nvSpPr>
          <p:cNvPr id="6" name="Rounded Rectangle 5"/>
          <p:cNvSpPr/>
          <p:nvPr/>
        </p:nvSpPr>
        <p:spPr>
          <a:xfrm>
            <a:off x="1509488" y="5977672"/>
            <a:ext cx="8431695" cy="6426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Nonce reuse implies keystream reuse (in all WPA2 ciphers)</a:t>
            </a:r>
          </a:p>
        </p:txBody>
      </p:sp>
    </p:spTree>
    <p:extLst>
      <p:ext uri="{BB962C8B-B14F-4D97-AF65-F5344CB8AC3E}">
        <p14:creationId xmlns:p14="http://schemas.microsoft.com/office/powerpoint/2010/main" val="1049243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4-way handshake (simplified) </a:t>
            </a:r>
          </a:p>
        </p:txBody>
      </p:sp>
      <p:pic>
        <p:nvPicPr>
          <p:cNvPr id="4" name="Picture 3"/>
          <p:cNvPicPr>
            <a:picLocks noChangeAspect="1"/>
          </p:cNvPicPr>
          <p:nvPr/>
        </p:nvPicPr>
        <p:blipFill>
          <a:blip r:embed="rId2"/>
          <a:stretch>
            <a:fillRect/>
          </a:stretch>
        </p:blipFill>
        <p:spPr>
          <a:xfrm>
            <a:off x="638645" y="2209718"/>
            <a:ext cx="1114425" cy="1619250"/>
          </a:xfrm>
          <a:prstGeom prst="rect">
            <a:avLst/>
          </a:prstGeom>
        </p:spPr>
      </p:pic>
      <p:pic>
        <p:nvPicPr>
          <p:cNvPr id="5" name="Picture 4"/>
          <p:cNvPicPr>
            <a:picLocks noChangeAspect="1"/>
          </p:cNvPicPr>
          <p:nvPr/>
        </p:nvPicPr>
        <p:blipFill>
          <a:blip r:embed="rId3"/>
          <a:stretch>
            <a:fillRect/>
          </a:stretch>
        </p:blipFill>
        <p:spPr>
          <a:xfrm>
            <a:off x="8814821" y="2185166"/>
            <a:ext cx="1695450" cy="1581150"/>
          </a:xfrm>
          <a:prstGeom prst="rect">
            <a:avLst/>
          </a:prstGeom>
        </p:spPr>
      </p:pic>
      <p:pic>
        <p:nvPicPr>
          <p:cNvPr id="6" name="Picture 5"/>
          <p:cNvPicPr>
            <a:picLocks noChangeAspect="1"/>
          </p:cNvPicPr>
          <p:nvPr/>
        </p:nvPicPr>
        <p:blipFill>
          <a:blip r:embed="rId4"/>
          <a:stretch>
            <a:fillRect/>
          </a:stretch>
        </p:blipFill>
        <p:spPr>
          <a:xfrm>
            <a:off x="1763855" y="2090831"/>
            <a:ext cx="7000082" cy="4733737"/>
          </a:xfrm>
          <a:prstGeom prst="rect">
            <a:avLst/>
          </a:prstGeom>
        </p:spPr>
      </p:pic>
      <p:sp>
        <p:nvSpPr>
          <p:cNvPr id="7" name="Rounded Rectangle 6"/>
          <p:cNvSpPr/>
          <p:nvPr/>
        </p:nvSpPr>
        <p:spPr>
          <a:xfrm>
            <a:off x="1729408" y="5635487"/>
            <a:ext cx="1739348" cy="639489"/>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7088073" y="5642717"/>
            <a:ext cx="1739348" cy="639489"/>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568166" y="4148647"/>
            <a:ext cx="5389581" cy="10972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Installing PTK initializes nonce to zero</a:t>
            </a:r>
          </a:p>
        </p:txBody>
      </p:sp>
    </p:spTree>
    <p:extLst>
      <p:ext uri="{BB962C8B-B14F-4D97-AF65-F5344CB8AC3E}">
        <p14:creationId xmlns:p14="http://schemas.microsoft.com/office/powerpoint/2010/main" val="62591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500"/>
                                        <p:tgtEl>
                                          <p:spTgt spid="8"/>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up)">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2914804" y="2185166"/>
            <a:ext cx="4938188" cy="1944793"/>
          </a:xfrm>
          <a:prstGeom prst="rect">
            <a:avLst/>
          </a:prstGeom>
        </p:spPr>
      </p:pic>
      <p:sp>
        <p:nvSpPr>
          <p:cNvPr id="3" name="Title 2"/>
          <p:cNvSpPr>
            <a:spLocks noGrp="1"/>
          </p:cNvSpPr>
          <p:nvPr>
            <p:ph type="title"/>
          </p:nvPr>
        </p:nvSpPr>
        <p:spPr/>
        <p:txBody>
          <a:bodyPr/>
          <a:lstStyle/>
          <a:p>
            <a:r>
              <a:rPr lang="en-US" dirty="0"/>
              <a:t>Reinstallation Attack</a:t>
            </a:r>
          </a:p>
        </p:txBody>
      </p:sp>
      <p:pic>
        <p:nvPicPr>
          <p:cNvPr id="6" name="Picture 5"/>
          <p:cNvPicPr>
            <a:picLocks noChangeAspect="1"/>
          </p:cNvPicPr>
          <p:nvPr/>
        </p:nvPicPr>
        <p:blipFill>
          <a:blip r:embed="rId3"/>
          <a:stretch>
            <a:fillRect/>
          </a:stretch>
        </p:blipFill>
        <p:spPr>
          <a:xfrm>
            <a:off x="1507219" y="1841971"/>
            <a:ext cx="1114425" cy="1619250"/>
          </a:xfrm>
          <a:prstGeom prst="rect">
            <a:avLst/>
          </a:prstGeom>
        </p:spPr>
      </p:pic>
      <p:pic>
        <p:nvPicPr>
          <p:cNvPr id="7" name="Picture 6"/>
          <p:cNvPicPr>
            <a:picLocks noChangeAspect="1"/>
          </p:cNvPicPr>
          <p:nvPr/>
        </p:nvPicPr>
        <p:blipFill>
          <a:blip r:embed="rId4"/>
          <a:stretch>
            <a:fillRect/>
          </a:stretch>
        </p:blipFill>
        <p:spPr>
          <a:xfrm>
            <a:off x="7967096" y="1750950"/>
            <a:ext cx="1695450" cy="1581150"/>
          </a:xfrm>
          <a:prstGeom prst="rect">
            <a:avLst/>
          </a:prstGeom>
        </p:spPr>
      </p:pic>
      <p:pic>
        <p:nvPicPr>
          <p:cNvPr id="5" name="Picture 4"/>
          <p:cNvPicPr>
            <a:picLocks noChangeAspect="1"/>
          </p:cNvPicPr>
          <p:nvPr/>
        </p:nvPicPr>
        <p:blipFill>
          <a:blip r:embed="rId5"/>
          <a:stretch>
            <a:fillRect/>
          </a:stretch>
        </p:blipFill>
        <p:spPr>
          <a:xfrm>
            <a:off x="4676361" y="1094402"/>
            <a:ext cx="1555474" cy="1313097"/>
          </a:xfrm>
          <a:prstGeom prst="rect">
            <a:avLst/>
          </a:prstGeom>
        </p:spPr>
      </p:pic>
    </p:spTree>
    <p:extLst>
      <p:ext uri="{BB962C8B-B14F-4D97-AF65-F5344CB8AC3E}">
        <p14:creationId xmlns:p14="http://schemas.microsoft.com/office/powerpoint/2010/main" val="15539385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Reinstallation Attack</a:t>
            </a:r>
          </a:p>
        </p:txBody>
      </p:sp>
      <p:pic>
        <p:nvPicPr>
          <p:cNvPr id="4" name="Picture 3"/>
          <p:cNvPicPr>
            <a:picLocks noChangeAspect="1"/>
          </p:cNvPicPr>
          <p:nvPr/>
        </p:nvPicPr>
        <p:blipFill>
          <a:blip r:embed="rId2"/>
          <a:stretch>
            <a:fillRect/>
          </a:stretch>
        </p:blipFill>
        <p:spPr>
          <a:xfrm>
            <a:off x="2910947" y="2185166"/>
            <a:ext cx="4942045" cy="2824849"/>
          </a:xfrm>
          <a:prstGeom prst="rect">
            <a:avLst/>
          </a:prstGeom>
        </p:spPr>
      </p:pic>
      <p:pic>
        <p:nvPicPr>
          <p:cNvPr id="5" name="Picture 4"/>
          <p:cNvPicPr>
            <a:picLocks noChangeAspect="1"/>
          </p:cNvPicPr>
          <p:nvPr/>
        </p:nvPicPr>
        <p:blipFill>
          <a:blip r:embed="rId3"/>
          <a:stretch>
            <a:fillRect/>
          </a:stretch>
        </p:blipFill>
        <p:spPr>
          <a:xfrm>
            <a:off x="1507219" y="1841971"/>
            <a:ext cx="1114425" cy="1619250"/>
          </a:xfrm>
          <a:prstGeom prst="rect">
            <a:avLst/>
          </a:prstGeom>
        </p:spPr>
      </p:pic>
      <p:pic>
        <p:nvPicPr>
          <p:cNvPr id="6" name="Picture 5"/>
          <p:cNvPicPr>
            <a:picLocks noChangeAspect="1"/>
          </p:cNvPicPr>
          <p:nvPr/>
        </p:nvPicPr>
        <p:blipFill>
          <a:blip r:embed="rId4"/>
          <a:stretch>
            <a:fillRect/>
          </a:stretch>
        </p:blipFill>
        <p:spPr>
          <a:xfrm>
            <a:off x="7967096" y="1750950"/>
            <a:ext cx="1695450" cy="1581150"/>
          </a:xfrm>
          <a:prstGeom prst="rect">
            <a:avLst/>
          </a:prstGeom>
        </p:spPr>
      </p:pic>
      <p:pic>
        <p:nvPicPr>
          <p:cNvPr id="7" name="Picture 6"/>
          <p:cNvPicPr>
            <a:picLocks noChangeAspect="1"/>
          </p:cNvPicPr>
          <p:nvPr/>
        </p:nvPicPr>
        <p:blipFill>
          <a:blip r:embed="rId5"/>
          <a:stretch>
            <a:fillRect/>
          </a:stretch>
        </p:blipFill>
        <p:spPr>
          <a:xfrm>
            <a:off x="4676361" y="1094402"/>
            <a:ext cx="1555474" cy="1313097"/>
          </a:xfrm>
          <a:prstGeom prst="rect">
            <a:avLst/>
          </a:prstGeom>
        </p:spPr>
      </p:pic>
      <p:sp>
        <p:nvSpPr>
          <p:cNvPr id="8" name="Rounded Rectangle 7"/>
          <p:cNvSpPr/>
          <p:nvPr/>
        </p:nvSpPr>
        <p:spPr>
          <a:xfrm>
            <a:off x="5595730" y="4104861"/>
            <a:ext cx="2126974" cy="7156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Block MSG4</a:t>
            </a:r>
          </a:p>
        </p:txBody>
      </p:sp>
    </p:spTree>
    <p:extLst>
      <p:ext uri="{BB962C8B-B14F-4D97-AF65-F5344CB8AC3E}">
        <p14:creationId xmlns:p14="http://schemas.microsoft.com/office/powerpoint/2010/main" val="15280482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stretch>
            <a:fillRect/>
          </a:stretch>
        </p:blipFill>
        <p:spPr>
          <a:xfrm>
            <a:off x="2862842" y="2127122"/>
            <a:ext cx="5122918" cy="3887039"/>
          </a:xfrm>
          <a:prstGeom prst="rect">
            <a:avLst/>
          </a:prstGeom>
        </p:spPr>
      </p:pic>
      <p:sp>
        <p:nvSpPr>
          <p:cNvPr id="3" name="Title 2"/>
          <p:cNvSpPr>
            <a:spLocks noGrp="1"/>
          </p:cNvSpPr>
          <p:nvPr>
            <p:ph type="title"/>
          </p:nvPr>
        </p:nvSpPr>
        <p:spPr/>
        <p:txBody>
          <a:bodyPr/>
          <a:lstStyle/>
          <a:p>
            <a:r>
              <a:rPr lang="en-US" dirty="0"/>
              <a:t>Reinstallation Attack</a:t>
            </a:r>
          </a:p>
        </p:txBody>
      </p:sp>
      <p:pic>
        <p:nvPicPr>
          <p:cNvPr id="4" name="Picture 3"/>
          <p:cNvPicPr>
            <a:picLocks noChangeAspect="1"/>
          </p:cNvPicPr>
          <p:nvPr/>
        </p:nvPicPr>
        <p:blipFill>
          <a:blip r:embed="rId3"/>
          <a:stretch>
            <a:fillRect/>
          </a:stretch>
        </p:blipFill>
        <p:spPr>
          <a:xfrm>
            <a:off x="1507219" y="1841971"/>
            <a:ext cx="1114425" cy="1619250"/>
          </a:xfrm>
          <a:prstGeom prst="rect">
            <a:avLst/>
          </a:prstGeom>
        </p:spPr>
      </p:pic>
      <p:pic>
        <p:nvPicPr>
          <p:cNvPr id="5" name="Picture 4"/>
          <p:cNvPicPr>
            <a:picLocks noChangeAspect="1"/>
          </p:cNvPicPr>
          <p:nvPr/>
        </p:nvPicPr>
        <p:blipFill>
          <a:blip r:embed="rId4"/>
          <a:stretch>
            <a:fillRect/>
          </a:stretch>
        </p:blipFill>
        <p:spPr>
          <a:xfrm>
            <a:off x="7967096" y="1750950"/>
            <a:ext cx="1695450" cy="1581150"/>
          </a:xfrm>
          <a:prstGeom prst="rect">
            <a:avLst/>
          </a:prstGeom>
        </p:spPr>
      </p:pic>
      <p:pic>
        <p:nvPicPr>
          <p:cNvPr id="6" name="Picture 5"/>
          <p:cNvPicPr>
            <a:picLocks noChangeAspect="1"/>
          </p:cNvPicPr>
          <p:nvPr/>
        </p:nvPicPr>
        <p:blipFill>
          <a:blip r:embed="rId5"/>
          <a:stretch>
            <a:fillRect/>
          </a:stretch>
        </p:blipFill>
        <p:spPr>
          <a:xfrm>
            <a:off x="4676361" y="1094402"/>
            <a:ext cx="1555474" cy="1313097"/>
          </a:xfrm>
          <a:prstGeom prst="rect">
            <a:avLst/>
          </a:prstGeom>
        </p:spPr>
      </p:pic>
      <p:sp>
        <p:nvSpPr>
          <p:cNvPr id="8" name="Rounded Rectangle 7"/>
          <p:cNvSpPr/>
          <p:nvPr/>
        </p:nvSpPr>
        <p:spPr>
          <a:xfrm>
            <a:off x="2812774" y="4442791"/>
            <a:ext cx="1212574" cy="437322"/>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3279913" y="5340626"/>
            <a:ext cx="1918252" cy="437322"/>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2735748" y="2589231"/>
            <a:ext cx="5389581" cy="5506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Because PTK has been installed</a:t>
            </a:r>
            <a:endParaRPr lang="en-US" sz="2400" dirty="0"/>
          </a:p>
        </p:txBody>
      </p:sp>
      <p:sp>
        <p:nvSpPr>
          <p:cNvPr id="11" name="Rounded Rectangle 10"/>
          <p:cNvSpPr/>
          <p:nvPr/>
        </p:nvSpPr>
        <p:spPr>
          <a:xfrm>
            <a:off x="2735747" y="3246931"/>
            <a:ext cx="5389581" cy="5338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Msg4 is now encrypted</a:t>
            </a:r>
          </a:p>
        </p:txBody>
      </p:sp>
    </p:spTree>
    <p:extLst>
      <p:ext uri="{BB962C8B-B14F-4D97-AF65-F5344CB8AC3E}">
        <p14:creationId xmlns:p14="http://schemas.microsoft.com/office/powerpoint/2010/main" val="100635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up)">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stretch>
            <a:fillRect/>
          </a:stretch>
        </p:blipFill>
        <p:spPr>
          <a:xfrm>
            <a:off x="2835582" y="2134378"/>
            <a:ext cx="5115722" cy="4228199"/>
          </a:xfrm>
          <a:prstGeom prst="rect">
            <a:avLst/>
          </a:prstGeom>
        </p:spPr>
      </p:pic>
      <p:sp>
        <p:nvSpPr>
          <p:cNvPr id="3" name="Title 2"/>
          <p:cNvSpPr>
            <a:spLocks noGrp="1"/>
          </p:cNvSpPr>
          <p:nvPr>
            <p:ph type="title"/>
          </p:nvPr>
        </p:nvSpPr>
        <p:spPr/>
        <p:txBody>
          <a:bodyPr/>
          <a:lstStyle/>
          <a:p>
            <a:r>
              <a:rPr lang="en-US" dirty="0"/>
              <a:t>Reinstallation Attack</a:t>
            </a:r>
          </a:p>
        </p:txBody>
      </p:sp>
      <p:pic>
        <p:nvPicPr>
          <p:cNvPr id="4" name="Picture 3"/>
          <p:cNvPicPr>
            <a:picLocks noChangeAspect="1"/>
          </p:cNvPicPr>
          <p:nvPr/>
        </p:nvPicPr>
        <p:blipFill>
          <a:blip r:embed="rId3"/>
          <a:stretch>
            <a:fillRect/>
          </a:stretch>
        </p:blipFill>
        <p:spPr>
          <a:xfrm>
            <a:off x="1507219" y="1841971"/>
            <a:ext cx="1114425" cy="1619250"/>
          </a:xfrm>
          <a:prstGeom prst="rect">
            <a:avLst/>
          </a:prstGeom>
        </p:spPr>
      </p:pic>
      <p:pic>
        <p:nvPicPr>
          <p:cNvPr id="5" name="Picture 4"/>
          <p:cNvPicPr>
            <a:picLocks noChangeAspect="1"/>
          </p:cNvPicPr>
          <p:nvPr/>
        </p:nvPicPr>
        <p:blipFill>
          <a:blip r:embed="rId4"/>
          <a:stretch>
            <a:fillRect/>
          </a:stretch>
        </p:blipFill>
        <p:spPr>
          <a:xfrm>
            <a:off x="7967096" y="1750950"/>
            <a:ext cx="1695450" cy="1581150"/>
          </a:xfrm>
          <a:prstGeom prst="rect">
            <a:avLst/>
          </a:prstGeom>
        </p:spPr>
      </p:pic>
      <p:pic>
        <p:nvPicPr>
          <p:cNvPr id="6" name="Picture 5"/>
          <p:cNvPicPr>
            <a:picLocks noChangeAspect="1"/>
          </p:cNvPicPr>
          <p:nvPr/>
        </p:nvPicPr>
        <p:blipFill>
          <a:blip r:embed="rId5"/>
          <a:stretch>
            <a:fillRect/>
          </a:stretch>
        </p:blipFill>
        <p:spPr>
          <a:xfrm>
            <a:off x="4676361" y="1094402"/>
            <a:ext cx="1555474" cy="1313097"/>
          </a:xfrm>
          <a:prstGeom prst="rect">
            <a:avLst/>
          </a:prstGeom>
        </p:spPr>
      </p:pic>
      <p:grpSp>
        <p:nvGrpSpPr>
          <p:cNvPr id="12" name="Group 11"/>
          <p:cNvGrpSpPr/>
          <p:nvPr/>
        </p:nvGrpSpPr>
        <p:grpSpPr>
          <a:xfrm>
            <a:off x="2758108" y="5486400"/>
            <a:ext cx="6318428" cy="1100908"/>
            <a:chOff x="2758108" y="5486400"/>
            <a:chExt cx="6318428" cy="1100908"/>
          </a:xfrm>
        </p:grpSpPr>
        <p:sp>
          <p:nvSpPr>
            <p:cNvPr id="8" name="Rounded Rectangle 7"/>
            <p:cNvSpPr/>
            <p:nvPr/>
          </p:nvSpPr>
          <p:spPr>
            <a:xfrm>
              <a:off x="2758108" y="5774635"/>
              <a:ext cx="2201517" cy="524438"/>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824728" y="5486400"/>
              <a:ext cx="3251808" cy="11009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Key Reinstallation!</a:t>
              </a:r>
            </a:p>
            <a:p>
              <a:pPr algn="ctr"/>
              <a:r>
                <a:rPr lang="en-US" sz="2400" dirty="0">
                  <a:solidFill>
                    <a:srgbClr val="FFC000"/>
                  </a:solidFill>
                </a:rPr>
                <a:t>Nonce is reset</a:t>
              </a:r>
            </a:p>
          </p:txBody>
        </p:sp>
        <p:cxnSp>
          <p:nvCxnSpPr>
            <p:cNvPr id="11" name="Straight Arrow Connector 10"/>
            <p:cNvCxnSpPr>
              <a:stCxn id="8" idx="3"/>
            </p:cNvCxnSpPr>
            <p:nvPr/>
          </p:nvCxnSpPr>
          <p:spPr>
            <a:xfrm>
              <a:off x="4959625" y="6036854"/>
              <a:ext cx="865103" cy="0"/>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0557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a:stretch>
            <a:fillRect/>
          </a:stretch>
        </p:blipFill>
        <p:spPr>
          <a:xfrm>
            <a:off x="2963197" y="2165289"/>
            <a:ext cx="4942045" cy="4692712"/>
          </a:xfrm>
          <a:prstGeom prst="rect">
            <a:avLst/>
          </a:prstGeom>
        </p:spPr>
      </p:pic>
      <p:sp>
        <p:nvSpPr>
          <p:cNvPr id="14" name="Title 2"/>
          <p:cNvSpPr>
            <a:spLocks noGrp="1"/>
          </p:cNvSpPr>
          <p:nvPr>
            <p:ph type="title"/>
          </p:nvPr>
        </p:nvSpPr>
        <p:spPr>
          <a:xfrm>
            <a:off x="566928" y="1316736"/>
            <a:ext cx="10515600" cy="868430"/>
          </a:xfrm>
        </p:spPr>
        <p:txBody>
          <a:bodyPr/>
          <a:lstStyle/>
          <a:p>
            <a:r>
              <a:rPr lang="en-US" dirty="0"/>
              <a:t>Reinstallation Attack</a:t>
            </a:r>
          </a:p>
        </p:txBody>
      </p:sp>
      <p:pic>
        <p:nvPicPr>
          <p:cNvPr id="15" name="Picture 14"/>
          <p:cNvPicPr>
            <a:picLocks noChangeAspect="1"/>
          </p:cNvPicPr>
          <p:nvPr/>
        </p:nvPicPr>
        <p:blipFill>
          <a:blip r:embed="rId3"/>
          <a:stretch>
            <a:fillRect/>
          </a:stretch>
        </p:blipFill>
        <p:spPr>
          <a:xfrm>
            <a:off x="1507219" y="1841971"/>
            <a:ext cx="1114425" cy="1619250"/>
          </a:xfrm>
          <a:prstGeom prst="rect">
            <a:avLst/>
          </a:prstGeom>
        </p:spPr>
      </p:pic>
      <p:pic>
        <p:nvPicPr>
          <p:cNvPr id="16" name="Picture 15"/>
          <p:cNvPicPr>
            <a:picLocks noChangeAspect="1"/>
          </p:cNvPicPr>
          <p:nvPr/>
        </p:nvPicPr>
        <p:blipFill>
          <a:blip r:embed="rId4"/>
          <a:stretch>
            <a:fillRect/>
          </a:stretch>
        </p:blipFill>
        <p:spPr>
          <a:xfrm>
            <a:off x="7967096" y="1750950"/>
            <a:ext cx="1695450" cy="1581150"/>
          </a:xfrm>
          <a:prstGeom prst="rect">
            <a:avLst/>
          </a:prstGeom>
        </p:spPr>
      </p:pic>
      <p:pic>
        <p:nvPicPr>
          <p:cNvPr id="17" name="Picture 16"/>
          <p:cNvPicPr>
            <a:picLocks noChangeAspect="1"/>
          </p:cNvPicPr>
          <p:nvPr/>
        </p:nvPicPr>
        <p:blipFill>
          <a:blip r:embed="rId5"/>
          <a:stretch>
            <a:fillRect/>
          </a:stretch>
        </p:blipFill>
        <p:spPr>
          <a:xfrm>
            <a:off x="4676361" y="1094402"/>
            <a:ext cx="1555474" cy="1313097"/>
          </a:xfrm>
          <a:prstGeom prst="rect">
            <a:avLst/>
          </a:prstGeom>
        </p:spPr>
      </p:pic>
      <p:sp>
        <p:nvSpPr>
          <p:cNvPr id="19" name="Rounded Rectangle 18"/>
          <p:cNvSpPr/>
          <p:nvPr/>
        </p:nvSpPr>
        <p:spPr>
          <a:xfrm>
            <a:off x="3026464" y="6279195"/>
            <a:ext cx="2201517" cy="524438"/>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5824728" y="5486400"/>
            <a:ext cx="3251808" cy="11009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Same nonce is used</a:t>
            </a:r>
            <a:endParaRPr lang="en-US" sz="2400" dirty="0">
              <a:solidFill>
                <a:srgbClr val="FFC000"/>
              </a:solidFill>
            </a:endParaRPr>
          </a:p>
        </p:txBody>
      </p:sp>
      <p:cxnSp>
        <p:nvCxnSpPr>
          <p:cNvPr id="21" name="Straight Arrow Connector 20"/>
          <p:cNvCxnSpPr>
            <a:stCxn id="19" idx="3"/>
            <a:endCxn id="20" idx="1"/>
          </p:cNvCxnSpPr>
          <p:nvPr/>
        </p:nvCxnSpPr>
        <p:spPr>
          <a:xfrm flipV="1">
            <a:off x="5227981" y="6036854"/>
            <a:ext cx="596747" cy="504560"/>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3026464" y="5224181"/>
            <a:ext cx="2201517" cy="524438"/>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p:cNvCxnSpPr>
            <a:stCxn id="22" idx="3"/>
            <a:endCxn id="20" idx="1"/>
          </p:cNvCxnSpPr>
          <p:nvPr/>
        </p:nvCxnSpPr>
        <p:spPr>
          <a:xfrm>
            <a:off x="5227981" y="5486400"/>
            <a:ext cx="596747" cy="550454"/>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167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0" dur="500"/>
                                        <p:tgtEl>
                                          <p:spTgt spid="20"/>
                                        </p:tgtEl>
                                      </p:cBhvr>
                                    </p:animEffect>
                                  </p:childTnLst>
                                </p:cTn>
                              </p:par>
                              <p:par>
                                <p:cTn id="11" presetID="22" presetClass="entr" presetSubtype="8"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wipe(left)">
                                      <p:cBhvr>
                                        <p:cTn id="13" dur="500"/>
                                        <p:tgtEl>
                                          <p:spTgt spid="21"/>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par>
                                <p:cTn id="17" presetID="22" presetClass="entr" presetSubtype="8"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Reinstallation Attack</a:t>
            </a:r>
          </a:p>
        </p:txBody>
      </p:sp>
      <p:pic>
        <p:nvPicPr>
          <p:cNvPr id="4" name="Picture 3"/>
          <p:cNvPicPr>
            <a:picLocks noChangeAspect="1"/>
          </p:cNvPicPr>
          <p:nvPr/>
        </p:nvPicPr>
        <p:blipFill>
          <a:blip r:embed="rId2"/>
          <a:stretch>
            <a:fillRect/>
          </a:stretch>
        </p:blipFill>
        <p:spPr>
          <a:xfrm>
            <a:off x="2963197" y="2165289"/>
            <a:ext cx="4942045" cy="4692712"/>
          </a:xfrm>
          <a:prstGeom prst="rect">
            <a:avLst/>
          </a:prstGeom>
        </p:spPr>
      </p:pic>
      <p:pic>
        <p:nvPicPr>
          <p:cNvPr id="5" name="Picture 4"/>
          <p:cNvPicPr>
            <a:picLocks noChangeAspect="1"/>
          </p:cNvPicPr>
          <p:nvPr/>
        </p:nvPicPr>
        <p:blipFill>
          <a:blip r:embed="rId3"/>
          <a:stretch>
            <a:fillRect/>
          </a:stretch>
        </p:blipFill>
        <p:spPr>
          <a:xfrm>
            <a:off x="1507219" y="1841971"/>
            <a:ext cx="1114425" cy="1619250"/>
          </a:xfrm>
          <a:prstGeom prst="rect">
            <a:avLst/>
          </a:prstGeom>
        </p:spPr>
      </p:pic>
      <p:pic>
        <p:nvPicPr>
          <p:cNvPr id="6" name="Picture 5"/>
          <p:cNvPicPr>
            <a:picLocks noChangeAspect="1"/>
          </p:cNvPicPr>
          <p:nvPr/>
        </p:nvPicPr>
        <p:blipFill>
          <a:blip r:embed="rId4"/>
          <a:stretch>
            <a:fillRect/>
          </a:stretch>
        </p:blipFill>
        <p:spPr>
          <a:xfrm>
            <a:off x="7967096" y="1750950"/>
            <a:ext cx="1695450" cy="1581150"/>
          </a:xfrm>
          <a:prstGeom prst="rect">
            <a:avLst/>
          </a:prstGeom>
        </p:spPr>
      </p:pic>
      <p:pic>
        <p:nvPicPr>
          <p:cNvPr id="7" name="Picture 6"/>
          <p:cNvPicPr>
            <a:picLocks noChangeAspect="1"/>
          </p:cNvPicPr>
          <p:nvPr/>
        </p:nvPicPr>
        <p:blipFill>
          <a:blip r:embed="rId5"/>
          <a:stretch>
            <a:fillRect/>
          </a:stretch>
        </p:blipFill>
        <p:spPr>
          <a:xfrm>
            <a:off x="4676361" y="1094402"/>
            <a:ext cx="1555474" cy="1313097"/>
          </a:xfrm>
          <a:prstGeom prst="rect">
            <a:avLst/>
          </a:prstGeom>
        </p:spPr>
      </p:pic>
      <p:sp>
        <p:nvSpPr>
          <p:cNvPr id="8" name="Rounded Rectangle 7"/>
          <p:cNvSpPr/>
          <p:nvPr/>
        </p:nvSpPr>
        <p:spPr>
          <a:xfrm>
            <a:off x="3026464" y="6279195"/>
            <a:ext cx="2201517" cy="524438"/>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3026464" y="5342753"/>
            <a:ext cx="2201517" cy="405865"/>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3026464" y="3997145"/>
            <a:ext cx="2201517" cy="405890"/>
          </a:xfrm>
          <a:prstGeom prst="roundRect">
            <a:avLst/>
          </a:prstGeom>
          <a:noFill/>
          <a:ln w="571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Or 10"/>
          <p:cNvSpPr/>
          <p:nvPr/>
        </p:nvSpPr>
        <p:spPr>
          <a:xfrm>
            <a:off x="3943348" y="4693630"/>
            <a:ext cx="367748" cy="358529"/>
          </a:xfrm>
          <a:prstGeom prst="flowChartOr">
            <a:avLst/>
          </a:prstGeom>
          <a:noFill/>
          <a:ln w="571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a:stCxn id="10" idx="2"/>
            <a:endCxn id="11" idx="0"/>
          </p:cNvCxnSpPr>
          <p:nvPr/>
        </p:nvCxnSpPr>
        <p:spPr>
          <a:xfrm flipH="1">
            <a:off x="4127222" y="4403035"/>
            <a:ext cx="1" cy="290595"/>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0"/>
            <a:endCxn id="11" idx="4"/>
          </p:cNvCxnSpPr>
          <p:nvPr/>
        </p:nvCxnSpPr>
        <p:spPr>
          <a:xfrm flipH="1" flipV="1">
            <a:off x="4127222" y="5052159"/>
            <a:ext cx="1" cy="290594"/>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1" idx="6"/>
          </p:cNvCxnSpPr>
          <p:nvPr/>
        </p:nvCxnSpPr>
        <p:spPr>
          <a:xfrm>
            <a:off x="4311096" y="4872895"/>
            <a:ext cx="1513632" cy="0"/>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5824728" y="4597667"/>
            <a:ext cx="2142368" cy="5504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Keystream</a:t>
            </a:r>
            <a:endParaRPr lang="en-US" sz="2400" dirty="0">
              <a:solidFill>
                <a:srgbClr val="FFC000"/>
              </a:solidFill>
            </a:endParaRPr>
          </a:p>
        </p:txBody>
      </p:sp>
      <p:sp>
        <p:nvSpPr>
          <p:cNvPr id="25" name="Flowchart: Or 24"/>
          <p:cNvSpPr/>
          <p:nvPr/>
        </p:nvSpPr>
        <p:spPr>
          <a:xfrm>
            <a:off x="6712038" y="6370219"/>
            <a:ext cx="367748" cy="358529"/>
          </a:xfrm>
          <a:prstGeom prst="flowChartOr">
            <a:avLst/>
          </a:prstGeom>
          <a:noFill/>
          <a:ln w="571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p:cNvCxnSpPr>
            <a:stCxn id="24" idx="2"/>
            <a:endCxn id="25" idx="0"/>
          </p:cNvCxnSpPr>
          <p:nvPr/>
        </p:nvCxnSpPr>
        <p:spPr>
          <a:xfrm>
            <a:off x="6895912" y="5148121"/>
            <a:ext cx="0" cy="1222098"/>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3"/>
            <a:endCxn id="25" idx="2"/>
          </p:cNvCxnSpPr>
          <p:nvPr/>
        </p:nvCxnSpPr>
        <p:spPr>
          <a:xfrm>
            <a:off x="5227981" y="6541414"/>
            <a:ext cx="1484057" cy="8070"/>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5" idx="6"/>
          </p:cNvCxnSpPr>
          <p:nvPr/>
        </p:nvCxnSpPr>
        <p:spPr>
          <a:xfrm>
            <a:off x="7079786" y="6549484"/>
            <a:ext cx="613101" cy="0"/>
          </a:xfrm>
          <a:prstGeom prst="straightConnector1">
            <a:avLst/>
          </a:prstGeom>
          <a:ln w="57150">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Rounded Rectangle 35"/>
          <p:cNvSpPr/>
          <p:nvPr/>
        </p:nvSpPr>
        <p:spPr>
          <a:xfrm>
            <a:off x="7692887" y="6253179"/>
            <a:ext cx="2585432" cy="550454"/>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rPr>
              <a:t>Decrypted Data</a:t>
            </a:r>
            <a:endParaRPr lang="en-US" sz="2400" dirty="0">
              <a:solidFill>
                <a:schemeClr val="bg1"/>
              </a:solidFill>
            </a:endParaRPr>
          </a:p>
        </p:txBody>
      </p:sp>
    </p:spTree>
    <p:extLst>
      <p:ext uri="{BB962C8B-B14F-4D97-AF65-F5344CB8AC3E}">
        <p14:creationId xmlns:p14="http://schemas.microsoft.com/office/powerpoint/2010/main" val="892951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1"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up)">
                                      <p:cBhvr>
                                        <p:cTn id="10" dur="500"/>
                                        <p:tgtEl>
                                          <p:spTgt spid="12"/>
                                        </p:tgtEl>
                                      </p:cBhvr>
                                    </p:animEffect>
                                  </p:childTnLst>
                                </p:cTn>
                              </p:par>
                              <p:par>
                                <p:cTn id="11" presetID="22" presetClass="entr" presetSubtype="4"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8"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left)">
                                      <p:cBhvr>
                                        <p:cTn id="16" dur="500"/>
                                        <p:tgtEl>
                                          <p:spTgt spid="20"/>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left)">
                                      <p:cBhvr>
                                        <p:cTn id="28" dur="500"/>
                                        <p:tgtEl>
                                          <p:spTgt spid="25"/>
                                        </p:tgtEl>
                                      </p:cBhvr>
                                    </p:animEffect>
                                  </p:childTnLst>
                                </p:cTn>
                              </p:par>
                              <p:par>
                                <p:cTn id="29" presetID="22" presetClass="entr" presetSubtype="1"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wipe(up)">
                                      <p:cBhvr>
                                        <p:cTn id="31" dur="500"/>
                                        <p:tgtEl>
                                          <p:spTgt spid="26"/>
                                        </p:tgtEl>
                                      </p:cBhvr>
                                    </p:animEffect>
                                  </p:childTnLst>
                                </p:cTn>
                              </p:par>
                              <p:par>
                                <p:cTn id="32" presetID="22" presetClass="entr" presetSubtype="8"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left)">
                                      <p:cBhvr>
                                        <p:cTn id="34" dur="500"/>
                                        <p:tgtEl>
                                          <p:spTgt spid="27"/>
                                        </p:tgtEl>
                                      </p:cBhvr>
                                    </p:animEffect>
                                  </p:childTnLst>
                                </p:cTn>
                              </p:par>
                              <p:par>
                                <p:cTn id="35" presetID="22" presetClass="entr" presetSubtype="8"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left)">
                                      <p:cBhvr>
                                        <p:cTn id="37" dur="500"/>
                                        <p:tgtEl>
                                          <p:spTgt spid="2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wipe(left)">
                                      <p:cBhvr>
                                        <p:cTn id="4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24" grpId="0" animBg="1"/>
      <p:bldP spid="25" grpId="0" animBg="1"/>
      <p:bldP spid="3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Limitations of formal proofs:</a:t>
            </a:r>
          </a:p>
          <a:p>
            <a:pPr lvl="1"/>
            <a:r>
              <a:rPr lang="en-US" dirty="0"/>
              <a:t>WPA 4-way handshake has proven to be secure</a:t>
            </a:r>
          </a:p>
          <a:p>
            <a:pPr lvl="1"/>
            <a:r>
              <a:rPr lang="en-US" dirty="0"/>
              <a:t>Encryption ciphers have been mathematically proven to be secure</a:t>
            </a:r>
          </a:p>
          <a:p>
            <a:pPr lvl="1"/>
            <a:r>
              <a:rPr lang="en-US" dirty="0"/>
              <a:t>Combination is not proven secure</a:t>
            </a:r>
          </a:p>
          <a:p>
            <a:endParaRPr lang="en-US" dirty="0"/>
          </a:p>
          <a:p>
            <a:r>
              <a:rPr lang="en-US" dirty="0"/>
              <a:t>Enterprise PMK was just as vulnerable as Personal pre-shared keys. </a:t>
            </a:r>
          </a:p>
          <a:p>
            <a:pPr lvl="1"/>
            <a:r>
              <a:rPr lang="en-US" dirty="0"/>
              <a:t>Creates a false sense of security. </a:t>
            </a:r>
          </a:p>
          <a:p>
            <a:pPr lvl="1"/>
            <a:endParaRPr lang="en-US" dirty="0"/>
          </a:p>
          <a:p>
            <a:r>
              <a:rPr lang="en-US" dirty="0"/>
              <a:t>Abstract model ≠ real code</a:t>
            </a:r>
          </a:p>
          <a:p>
            <a:pPr lvl="1"/>
            <a:r>
              <a:rPr lang="en-US" dirty="0"/>
              <a:t>Must assure code matches specification</a:t>
            </a:r>
          </a:p>
        </p:txBody>
      </p:sp>
      <p:sp>
        <p:nvSpPr>
          <p:cNvPr id="3" name="Title 2"/>
          <p:cNvSpPr>
            <a:spLocks noGrp="1"/>
          </p:cNvSpPr>
          <p:nvPr>
            <p:ph type="title"/>
          </p:nvPr>
        </p:nvSpPr>
        <p:spPr/>
        <p:txBody>
          <a:bodyPr/>
          <a:lstStyle/>
          <a:p>
            <a:r>
              <a:rPr lang="en-US" dirty="0"/>
              <a:t>Key Takeaway</a:t>
            </a:r>
          </a:p>
        </p:txBody>
      </p:sp>
    </p:spTree>
    <p:extLst>
      <p:ext uri="{BB962C8B-B14F-4D97-AF65-F5344CB8AC3E}">
        <p14:creationId xmlns:p14="http://schemas.microsoft.com/office/powerpoint/2010/main" val="2969121014"/>
      </p:ext>
    </p:extLst>
  </p:cSld>
  <p:clrMapOvr>
    <a:masterClrMapping/>
  </p:clrMapOvr>
</p:sld>
</file>

<file path=ppt/theme/theme1.xml><?xml version="1.0" encoding="utf-8"?>
<a:theme xmlns:a="http://schemas.openxmlformats.org/drawingml/2006/main" name="UB Powerpoint Template">
  <a:themeElements>
    <a:clrScheme name="Custom 1">
      <a:dk1>
        <a:srgbClr val="000000"/>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_Template_WIDE" id="{320877F5-9057-5044-9670-55C377C33490}" vid="{043CC7DF-15AC-0F49-A0D1-304573C219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2954</TotalTime>
  <Words>1738</Words>
  <Application>Microsoft Office PowerPoint</Application>
  <PresentationFormat>宽屏</PresentationFormat>
  <Paragraphs>255</Paragraphs>
  <Slides>40</Slides>
  <Notes>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40</vt:i4>
      </vt:variant>
    </vt:vector>
  </HeadingPairs>
  <TitlesOfParts>
    <vt:vector size="44" baseType="lpstr">
      <vt:lpstr>LucidaGrande</vt:lpstr>
      <vt:lpstr>Arial</vt:lpstr>
      <vt:lpstr>Times New Roman</vt:lpstr>
      <vt:lpstr>UB Powerpoint Template</vt:lpstr>
      <vt:lpstr>Wireless network and IoT security</vt:lpstr>
      <vt:lpstr>Wi-Fi Protected Access 2 (WPA2)</vt:lpstr>
      <vt:lpstr>Wi-Fi Protected Access 2 (WPA2)</vt:lpstr>
      <vt:lpstr>WPA2 Phases of Operation</vt:lpstr>
      <vt:lpstr>Phase 1: Discovery</vt:lpstr>
      <vt:lpstr>Capability Discovery</vt:lpstr>
      <vt:lpstr>Open System Authentication</vt:lpstr>
      <vt:lpstr>Association</vt:lpstr>
      <vt:lpstr>Phase 2: Authentication</vt:lpstr>
      <vt:lpstr>Authentication Steps</vt:lpstr>
      <vt:lpstr>EAP Exchange Process</vt:lpstr>
      <vt:lpstr>Phase 3 Key Management</vt:lpstr>
      <vt:lpstr>Four-Way Handshake</vt:lpstr>
      <vt:lpstr>Four-Way Handshake</vt:lpstr>
      <vt:lpstr>Pairwise Key Hierarchies </vt:lpstr>
      <vt:lpstr>64 bytes Pairwise Transient Key </vt:lpstr>
      <vt:lpstr>WPA2 Encryption</vt:lpstr>
      <vt:lpstr>Counter Mode Encryption</vt:lpstr>
      <vt:lpstr>Cipher Block Chaining (CBC) - MAC</vt:lpstr>
      <vt:lpstr>Counter-Mode/CBC-MAC Protocol (CCMP)</vt:lpstr>
      <vt:lpstr>AES – CCMP Features</vt:lpstr>
      <vt:lpstr>Encryption Method Comparison </vt:lpstr>
      <vt:lpstr>WPA2 Pros</vt:lpstr>
      <vt:lpstr>WPA2 Pros (cont.)</vt:lpstr>
      <vt:lpstr>WPA2 Cons</vt:lpstr>
      <vt:lpstr>WPA2 Cons (cont.)</vt:lpstr>
      <vt:lpstr>The KRACK Attack</vt:lpstr>
      <vt:lpstr>The 4-way handshake </vt:lpstr>
      <vt:lpstr>4-way handshake (simplified)</vt:lpstr>
      <vt:lpstr>4-way handshake (simplified)</vt:lpstr>
      <vt:lpstr>The Key Reinstallation Attack on WPA2</vt:lpstr>
      <vt:lpstr>Frame encryption (simplified) </vt:lpstr>
      <vt:lpstr>4-way handshake (simplified) </vt:lpstr>
      <vt:lpstr>Reinstallation Attack</vt:lpstr>
      <vt:lpstr>Reinstallation Attack</vt:lpstr>
      <vt:lpstr>Reinstallation Attack</vt:lpstr>
      <vt:lpstr>Reinstallation Attack</vt:lpstr>
      <vt:lpstr>Reinstallation Attack</vt:lpstr>
      <vt:lpstr>Reinstallation Attack</vt:lpstr>
      <vt:lpstr>Key Takeaway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Powerpoint Template</dc:title>
  <dc:subject/>
  <dc:creator>Microsoft Office User</dc:creator>
  <cp:keywords/>
  <dc:description/>
  <cp:lastModifiedBy>巴 钟杰</cp:lastModifiedBy>
  <cp:revision>257</cp:revision>
  <cp:lastPrinted>2016-07-18T17:32:49Z</cp:lastPrinted>
  <dcterms:created xsi:type="dcterms:W3CDTF">2016-06-28T14:05:07Z</dcterms:created>
  <dcterms:modified xsi:type="dcterms:W3CDTF">2022-05-12T01:40:01Z</dcterms:modified>
  <cp:category/>
</cp:coreProperties>
</file>