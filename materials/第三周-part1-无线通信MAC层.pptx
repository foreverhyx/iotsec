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358" r:id="rId3"/>
    <p:sldId id="336" r:id="rId4"/>
    <p:sldId id="337" r:id="rId5"/>
    <p:sldId id="338" r:id="rId6"/>
    <p:sldId id="278" r:id="rId7"/>
    <p:sldId id="304" r:id="rId8"/>
    <p:sldId id="339" r:id="rId9"/>
    <p:sldId id="340" r:id="rId10"/>
    <p:sldId id="281" r:id="rId11"/>
    <p:sldId id="341" r:id="rId12"/>
    <p:sldId id="282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293" r:id="rId25"/>
    <p:sldId id="353" r:id="rId26"/>
    <p:sldId id="354" r:id="rId27"/>
    <p:sldId id="296" r:id="rId28"/>
    <p:sldId id="355" r:id="rId29"/>
    <p:sldId id="298" r:id="rId30"/>
    <p:sldId id="301" r:id="rId31"/>
    <p:sldId id="356" r:id="rId32"/>
    <p:sldId id="357" r:id="rId33"/>
    <p:sldId id="359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256" autoAdjust="0"/>
  </p:normalViewPr>
  <p:slideViewPr>
    <p:cSldViewPr snapToGrid="0">
      <p:cViewPr varScale="1">
        <p:scale>
          <a:sx n="94" d="100"/>
          <a:sy n="94" d="100"/>
        </p:scale>
        <p:origin x="11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DFACBE-FDA0-4ADC-A7FC-FD38921FE6F6}" type="datetimeFigureOut">
              <a:rPr lang="zh-CN" altLang="en-US" smtClean="0"/>
              <a:t>2023/5/19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D5145-4429-41B6-8C76-79E7C0A9BA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92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322656-8894-1544-92AA-01B3CF5E61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055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复用针对资源，多址针对用户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D5145-4429-41B6-8C76-79E7C0A9BA6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174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用户每次必须等到下一个时间片才能开始发送数据，每次传送的数据必须少于或者等于一个频道的一个时间分段。这样很大的减少了传输频道的冲突。从而避免了用户发送数据的随意性，减少了数据产生冲突的可能性，提高了信道的利用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8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CC3D1F"/>
                </a:solidFill>
              </a:rPr>
              <a:t>DIFS</a:t>
            </a:r>
            <a:r>
              <a:rPr lang="en-US" altLang="zh-CN"/>
              <a:t>:</a:t>
            </a:r>
            <a:r>
              <a:rPr lang="zh-CN" altLang="en-US">
                <a:solidFill>
                  <a:srgbClr val="CC3D1F"/>
                </a:solidFill>
              </a:rPr>
              <a:t> </a:t>
            </a:r>
            <a:r>
              <a:rPr lang="en-US" altLang="zh-CN"/>
              <a:t>Distributed Inter-frame Spacing </a:t>
            </a:r>
            <a:r>
              <a:rPr lang="zh-CN" altLang="en-US" sz="16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分布式帧间间隙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23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SIFS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称为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Short inter-frame space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，即短帧间间隔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918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80000"/>
              </a:lnSpc>
            </a:pPr>
            <a:r>
              <a:rPr lang="zh-CN" altLang="en-US" dirty="0"/>
              <a:t>如果成功收到数据帧</a:t>
            </a:r>
            <a:endParaRPr lang="en-US" altLang="zh-CN" dirty="0"/>
          </a:p>
          <a:p>
            <a:pPr lvl="2">
              <a:lnSpc>
                <a:spcPct val="8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SIFS</a:t>
            </a:r>
            <a:r>
              <a:rPr lang="zh-CN" altLang="en-US" dirty="0"/>
              <a:t>后返回</a:t>
            </a:r>
            <a:r>
              <a:rPr lang="en-US" altLang="zh-CN" dirty="0"/>
              <a:t>ACK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221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红的表示退让时间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D5145-4429-41B6-8C76-79E7C0A9BA6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018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收到</a:t>
            </a:r>
            <a:r>
              <a:rPr lang="en-US" altLang="zh-CN" dirty="0"/>
              <a:t>CTS</a:t>
            </a:r>
            <a:r>
              <a:rPr lang="zh-CN" altLang="en-US" dirty="0"/>
              <a:t>的</a:t>
            </a:r>
            <a:r>
              <a:rPr lang="en-US" altLang="zh-CN" dirty="0"/>
              <a:t>C</a:t>
            </a:r>
            <a:r>
              <a:rPr lang="zh-CN" altLang="en-US" dirty="0"/>
              <a:t>，知道有节点在发送，所以等待。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暴露终端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没有收到</a:t>
            </a:r>
            <a:r>
              <a:rPr lang="en-US" altLang="zh-CN" dirty="0"/>
              <a:t>CTS</a:t>
            </a:r>
            <a:r>
              <a:rPr lang="zh-CN" altLang="en-US" dirty="0"/>
              <a:t>，证明离</a:t>
            </a:r>
            <a:r>
              <a:rPr lang="en-US" altLang="zh-CN" dirty="0"/>
              <a:t>A</a:t>
            </a:r>
            <a:r>
              <a:rPr lang="zh-CN" altLang="en-US"/>
              <a:t>比较远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D5145-4429-41B6-8C76-79E7C0A9BA6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275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50000"/>
              </a:lnSpc>
              <a:buNone/>
              <a:defRPr sz="2400" b="0" i="0">
                <a:solidFill>
                  <a:srgbClr val="000000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 and Instructor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2" descr="“computer science zhejiang university logo”的图片搜索结果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5237766"/>
            <a:ext cx="1890203" cy="94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689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10515600" cy="384810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Clr>
                <a:srgbClr val="005BBB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>
              <a:lnSpc>
                <a:spcPct val="100000"/>
              </a:lnSpc>
              <a:buClr>
                <a:srgbClr val="005BBB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10412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0000"/>
              <a:buFont typeface="Arial" charset="0"/>
              <a:buChar char="•"/>
              <a:tabLst/>
              <a:defRPr sz="2400" b="0" i="0" spc="-5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089" indent="-342900"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b="0" baseline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977252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662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889820" y="5795302"/>
            <a:ext cx="1302179" cy="10626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566928" y="2320111"/>
            <a:ext cx="105156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255504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56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2"/>
          </a:solidFill>
          <a:latin typeface="+mj-lt"/>
          <a:ea typeface="Georgia" charset="0"/>
          <a:cs typeface="Georgia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4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2pPr>
      <a:lvl3pPr marL="1143000" marR="0" indent="-228600" algn="l" defTabSz="914400" rtl="0" eaLnBrk="1" fontAlgn="auto" latinLnBrk="0" hangingPunct="1">
        <a:lnSpc>
          <a:spcPts val="2300"/>
        </a:lnSpc>
        <a:spcBef>
          <a:spcPts val="500"/>
        </a:spcBef>
        <a:spcAft>
          <a:spcPts val="0"/>
        </a:spcAft>
        <a:buClr>
          <a:srgbClr val="005BBB"/>
        </a:buClr>
        <a:buSzTx/>
        <a:buFont typeface="LucidaGrande" charset="0"/>
        <a:buChar char="-"/>
        <a:tabLst/>
        <a:defRPr sz="20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 dirty="0">
                <a:solidFill>
                  <a:schemeClr val="tx1"/>
                </a:solidFill>
              </a:rPr>
              <a:t>第三周：</a:t>
            </a:r>
            <a:r>
              <a:rPr lang="zh-CN" altLang="en-US" sz="2000">
                <a:solidFill>
                  <a:schemeClr val="tx1"/>
                </a:solidFill>
              </a:rPr>
              <a:t>无线基础与</a:t>
            </a:r>
            <a:r>
              <a:rPr lang="zh-CN" altLang="en-US" sz="2000" dirty="0">
                <a:solidFill>
                  <a:schemeClr val="tx1"/>
                </a:solidFill>
              </a:rPr>
              <a:t>蜂窝网络安全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4800" dirty="0"/>
              <a:t>Wireless network and IoT security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252218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C774704-F3A3-435F-A34D-6431B9791478}"/>
              </a:ext>
            </a:extLst>
          </p:cNvPr>
          <p:cNvSpPr/>
          <p:nvPr/>
        </p:nvSpPr>
        <p:spPr>
          <a:xfrm>
            <a:off x="1480457" y="2844225"/>
            <a:ext cx="9601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005BBB"/>
                </a:solidFill>
              </a:rPr>
              <a:t>介质访问控制</a:t>
            </a:r>
            <a:r>
              <a:rPr lang="en-US" altLang="zh-CN" sz="3200" dirty="0">
                <a:solidFill>
                  <a:srgbClr val="005BBB"/>
                </a:solidFill>
              </a:rPr>
              <a:t>(</a:t>
            </a:r>
            <a:r>
              <a:rPr lang="en-US" altLang="en-US" sz="3200" dirty="0">
                <a:solidFill>
                  <a:srgbClr val="005BBB"/>
                </a:solidFill>
              </a:rPr>
              <a:t>Medium Access Control, MAC) </a:t>
            </a:r>
            <a:r>
              <a:rPr lang="zh-CN" altLang="en-US" sz="3200" dirty="0">
                <a:solidFill>
                  <a:srgbClr val="005BBB"/>
                </a:solidFill>
              </a:rPr>
              <a:t>协议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8792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729" y="4568289"/>
            <a:ext cx="3288144" cy="2188111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/>
              <a:t>多址接入信道</a:t>
            </a:r>
            <a:endParaRPr lang="en-US" altLang="en-US"/>
          </a:p>
          <a:p>
            <a:pPr lvl="1"/>
            <a:r>
              <a:rPr lang="zh-CN" altLang="en-US"/>
              <a:t>每个节点通过（与其他节点）共享的通道与</a:t>
            </a:r>
            <a:r>
              <a:rPr lang="en-US" altLang="zh-CN"/>
              <a:t>AP/BS</a:t>
            </a:r>
            <a:r>
              <a:rPr lang="zh-CN" altLang="en-US"/>
              <a:t>进行通信</a:t>
            </a:r>
            <a:endParaRPr lang="en-US" altLang="en-US"/>
          </a:p>
          <a:p>
            <a:pPr lvl="1"/>
            <a:r>
              <a:rPr lang="zh-CN" altLang="en-US"/>
              <a:t>一个节点的传输可以被其他节点所接收</a:t>
            </a:r>
          </a:p>
          <a:p>
            <a:pPr lvl="1"/>
            <a:r>
              <a:rPr lang="zh-CN" altLang="en-US"/>
              <a:t>节点之间同时进行两个或多个传输：干扰</a:t>
            </a:r>
            <a:endParaRPr lang="en-US" altLang="en-US" dirty="0"/>
          </a:p>
          <a:p>
            <a:pPr lvl="1"/>
            <a:endParaRPr lang="en-US" altLang="en-US" dirty="0"/>
          </a:p>
          <a:p>
            <a:r>
              <a:rPr lang="zh-CN" altLang="en-US"/>
              <a:t>多址接入协议</a:t>
            </a:r>
            <a:endParaRPr lang="en-US" altLang="en-US"/>
          </a:p>
          <a:p>
            <a:pPr lvl="1"/>
            <a:r>
              <a:rPr lang="zh-CN" altLang="en-US"/>
              <a:t>决定节点如何共享信道的分布式算法，即决定节点何时可以发射</a:t>
            </a:r>
            <a:endParaRPr lang="en-US" altLang="zh-CN"/>
          </a:p>
          <a:p>
            <a:pPr lvl="1"/>
            <a:r>
              <a:rPr lang="zh-CN" altLang="en-US"/>
              <a:t>关于信道共享的协商本身要求对信道的使用</a:t>
            </a:r>
            <a:r>
              <a:rPr lang="en-US" altLang="zh-CN"/>
              <a:t>!</a:t>
            </a: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介质访问控制</a:t>
            </a:r>
            <a:r>
              <a:rPr lang="en-US" altLang="zh-CN" dirty="0"/>
              <a:t>(</a:t>
            </a:r>
            <a:r>
              <a:rPr lang="en-US" altLang="en-US" dirty="0"/>
              <a:t>Medium Access Control, MAC) </a:t>
            </a:r>
            <a:r>
              <a:rPr lang="zh-CN" altLang="en-US" dirty="0"/>
              <a:t>协议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400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587" y="4350326"/>
            <a:ext cx="3787510" cy="201078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/>
              <a:t>速率为</a:t>
            </a:r>
            <a:r>
              <a:rPr lang="en-US" altLang="zh-CN"/>
              <a:t>R bps</a:t>
            </a:r>
            <a:r>
              <a:rPr lang="zh-CN" altLang="en-US"/>
              <a:t>的广播信道</a:t>
            </a:r>
            <a:endParaRPr lang="en-US"/>
          </a:p>
          <a:p>
            <a:pPr lvl="1"/>
            <a:endParaRPr lang="en-US"/>
          </a:p>
          <a:p>
            <a:pPr lvl="1"/>
            <a:r>
              <a:rPr lang="zh-CN" altLang="en-US"/>
              <a:t>当仅有一个节点想传输时，能够以</a:t>
            </a:r>
            <a:r>
              <a:rPr lang="en-US" altLang="zh-CN"/>
              <a:t>R bps</a:t>
            </a:r>
            <a:r>
              <a:rPr lang="zh-CN" altLang="en-US"/>
              <a:t>的速率传输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zh-CN" altLang="en-US"/>
              <a:t>当</a:t>
            </a:r>
            <a:r>
              <a:rPr lang="en-US" altLang="zh-CN"/>
              <a:t>M</a:t>
            </a:r>
            <a:r>
              <a:rPr lang="zh-CN" altLang="en-US"/>
              <a:t>个节点想传输时，每个节点以平均</a:t>
            </a:r>
            <a:r>
              <a:rPr lang="en-US" altLang="zh-CN"/>
              <a:t>R/M bps</a:t>
            </a:r>
            <a:r>
              <a:rPr lang="zh-CN" altLang="en-US"/>
              <a:t>的速率传输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zh-CN" altLang="en-US"/>
              <a:t>完全去中心化</a:t>
            </a:r>
            <a:r>
              <a:rPr lang="en-US"/>
              <a:t>:</a:t>
            </a:r>
            <a:endParaRPr lang="en-US" dirty="0"/>
          </a:p>
          <a:p>
            <a:pPr lvl="2"/>
            <a:r>
              <a:rPr lang="zh-CN" altLang="en-US"/>
              <a:t>不需要特殊节点来协调通信</a:t>
            </a:r>
            <a:endParaRPr lang="en-US" dirty="0"/>
          </a:p>
          <a:p>
            <a:pPr lvl="2"/>
            <a:r>
              <a:rPr lang="zh-CN" altLang="en-US"/>
              <a:t>不需要对时钟、时间槽做同步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理想的多址接入协议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614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/>
              <a:t>信道分割</a:t>
            </a:r>
            <a:endParaRPr lang="en-US" altLang="zh-CN"/>
          </a:p>
          <a:p>
            <a:pPr lvl="1"/>
            <a:r>
              <a:rPr lang="zh-CN" altLang="en-US"/>
              <a:t>把信道切分为更小的部分（时间槽，频率，码片）</a:t>
            </a:r>
            <a:endParaRPr lang="en-US" dirty="0"/>
          </a:p>
          <a:p>
            <a:pPr lvl="1"/>
            <a:r>
              <a:rPr lang="zh-CN" altLang="en-US"/>
              <a:t>把一小部分分配给单个节点独家使用</a:t>
            </a:r>
            <a:endParaRPr lang="en-US" altLang="zh-CN"/>
          </a:p>
          <a:p>
            <a:pPr lvl="1"/>
            <a:endParaRPr lang="en-US" dirty="0"/>
          </a:p>
          <a:p>
            <a:r>
              <a:rPr lang="zh-CN" altLang="en-US"/>
              <a:t>随机访问</a:t>
            </a:r>
            <a:endParaRPr lang="en-US" altLang="zh-CN"/>
          </a:p>
          <a:p>
            <a:pPr lvl="1"/>
            <a:r>
              <a:rPr lang="zh-CN" altLang="en-US"/>
              <a:t>信道没有被分割，允许碰撞</a:t>
            </a:r>
            <a:r>
              <a:rPr lang="en-US"/>
              <a:t> </a:t>
            </a:r>
          </a:p>
          <a:p>
            <a:pPr lvl="1"/>
            <a:r>
              <a:rPr lang="zh-CN" altLang="en-US"/>
              <a:t>从碰撞中“恢复”</a:t>
            </a:r>
            <a:endParaRPr lang="en-US" altLang="zh-CN"/>
          </a:p>
          <a:p>
            <a:pPr lvl="1"/>
            <a:endParaRPr lang="en-US" dirty="0"/>
          </a:p>
          <a:p>
            <a:r>
              <a:rPr lang="zh-CN" altLang="en-US"/>
              <a:t>轮流</a:t>
            </a:r>
            <a:endParaRPr lang="en-US" altLang="zh-CN"/>
          </a:p>
          <a:p>
            <a:pPr lvl="1"/>
            <a:r>
              <a:rPr lang="zh-CN" altLang="en-US"/>
              <a:t>严格协调共享访问以避免碰撞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介质访问控制协议：分类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207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信道分割的</a:t>
            </a:r>
            <a:r>
              <a:rPr lang="en-US" altLang="en-US"/>
              <a:t>MA</a:t>
            </a:r>
            <a:r>
              <a:rPr lang="en-US" altLang="zh-CN"/>
              <a:t>C</a:t>
            </a:r>
            <a:r>
              <a:rPr lang="zh-CN" altLang="en-US"/>
              <a:t>协议</a:t>
            </a:r>
            <a:endParaRPr lang="en-US" dirty="0"/>
          </a:p>
        </p:txBody>
      </p:sp>
      <p:sp>
        <p:nvSpPr>
          <p:cNvPr id="105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10515600" cy="3848100"/>
          </a:xfrm>
        </p:spPr>
        <p:txBody>
          <a:bodyPr/>
          <a:lstStyle/>
          <a:p>
            <a:r>
              <a:rPr lang="zh-CN" altLang="en-US"/>
              <a:t>频分多址（</a:t>
            </a:r>
            <a:r>
              <a:rPr lang="en-US" altLang="en-US"/>
              <a:t>FDMA</a:t>
            </a:r>
            <a:r>
              <a:rPr lang="en-US" altLang="en-US" dirty="0"/>
              <a:t>: frequency division multiple </a:t>
            </a:r>
            <a:r>
              <a:rPr lang="en-US" altLang="en-US"/>
              <a:t>access </a:t>
            </a:r>
            <a:r>
              <a:rPr lang="zh-CN" altLang="en-US"/>
              <a:t>）</a:t>
            </a:r>
            <a:endParaRPr lang="en-US" altLang="en-US" dirty="0"/>
          </a:p>
          <a:p>
            <a:r>
              <a:rPr lang="zh-CN" altLang="en-US"/>
              <a:t>时分多址（</a:t>
            </a:r>
            <a:r>
              <a:rPr lang="en-US" altLang="en-US"/>
              <a:t>TDMA</a:t>
            </a:r>
            <a:r>
              <a:rPr lang="en-US" altLang="en-US" dirty="0"/>
              <a:t>: time division </a:t>
            </a:r>
            <a:r>
              <a:rPr lang="en-US" altLang="en-US"/>
              <a:t>multiple access</a:t>
            </a:r>
            <a:r>
              <a:rPr lang="zh-CN" altLang="en-US"/>
              <a:t>）</a:t>
            </a:r>
            <a:endParaRPr lang="en-US" altLang="en-US" dirty="0"/>
          </a:p>
          <a:p>
            <a:r>
              <a:rPr lang="zh-CN" altLang="en-US"/>
              <a:t>码分多址（</a:t>
            </a:r>
            <a:r>
              <a:rPr lang="en-US" altLang="en-US"/>
              <a:t>CDMA</a:t>
            </a:r>
            <a:r>
              <a:rPr lang="en-US" altLang="en-US" dirty="0"/>
              <a:t>: code division </a:t>
            </a:r>
            <a:r>
              <a:rPr lang="en-US" altLang="en-US"/>
              <a:t>multiple access</a:t>
            </a:r>
            <a:r>
              <a:rPr lang="zh-CN" altLang="en-US"/>
              <a:t>）</a:t>
            </a:r>
            <a:endParaRPr lang="en-US" altLang="en-US" dirty="0"/>
          </a:p>
        </p:txBody>
      </p:sp>
      <p:grpSp>
        <p:nvGrpSpPr>
          <p:cNvPr id="109" name="Group 108"/>
          <p:cNvGrpSpPr/>
          <p:nvPr/>
        </p:nvGrpSpPr>
        <p:grpSpPr>
          <a:xfrm>
            <a:off x="1309878" y="4109466"/>
            <a:ext cx="9029700" cy="2244086"/>
            <a:chOff x="1309878" y="4275487"/>
            <a:chExt cx="9029700" cy="2244086"/>
          </a:xfrm>
        </p:grpSpPr>
        <p:pic>
          <p:nvPicPr>
            <p:cNvPr id="104" name="Picture 10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09878" y="4624098"/>
              <a:ext cx="9029700" cy="1895475"/>
            </a:xfrm>
            <a:prstGeom prst="rect">
              <a:avLst/>
            </a:prstGeom>
          </p:spPr>
        </p:pic>
        <p:sp>
          <p:nvSpPr>
            <p:cNvPr id="106" name="Rectangle 105"/>
            <p:cNvSpPr/>
            <p:nvPr/>
          </p:nvSpPr>
          <p:spPr>
            <a:xfrm>
              <a:off x="5405382" y="4275487"/>
              <a:ext cx="8386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TDMA</a:t>
              </a:r>
              <a:endParaRPr lang="en-US" dirty="0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416217" y="4275487"/>
              <a:ext cx="8386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FDMA</a:t>
              </a:r>
              <a:endParaRPr lang="en-US" dirty="0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8512218" y="4275487"/>
              <a:ext cx="86433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CDMA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44611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/>
              <a:t>时分多址（</a:t>
            </a:r>
            <a:r>
              <a:rPr lang="en-US"/>
              <a:t>TDMA</a:t>
            </a:r>
            <a:r>
              <a:rPr lang="en-US" dirty="0"/>
              <a:t>: time division multiple </a:t>
            </a:r>
            <a:r>
              <a:rPr lang="en-US"/>
              <a:t>access </a:t>
            </a:r>
            <a:r>
              <a:rPr lang="zh-CN" altLang="en-US"/>
              <a:t>）</a:t>
            </a:r>
            <a:endParaRPr lang="en-US" dirty="0"/>
          </a:p>
          <a:p>
            <a:pPr lvl="1"/>
            <a:r>
              <a:rPr lang="zh-CN" altLang="en-US"/>
              <a:t>轮流访问信道</a:t>
            </a:r>
            <a:endParaRPr lang="en-US" dirty="0"/>
          </a:p>
          <a:p>
            <a:pPr lvl="1"/>
            <a:r>
              <a:rPr lang="zh-CN" altLang="en-US"/>
              <a:t>每个节点在每轮都有固定长度的时间槽</a:t>
            </a:r>
            <a:endParaRPr lang="en-US" dirty="0"/>
          </a:p>
          <a:p>
            <a:pPr lvl="1"/>
            <a:r>
              <a:rPr lang="zh-CN" altLang="en-US"/>
              <a:t>未使用的时间槽被闲置</a:t>
            </a:r>
            <a:endParaRPr lang="en-US" dirty="0"/>
          </a:p>
          <a:p>
            <a:pPr lvl="1"/>
            <a:r>
              <a:rPr lang="zh-CN" altLang="en-US"/>
              <a:t>例如</a:t>
            </a:r>
            <a:r>
              <a:rPr lang="en-US"/>
              <a:t>: 6</a:t>
            </a:r>
            <a:r>
              <a:rPr lang="zh-CN" altLang="en-US"/>
              <a:t>个节点的局域网</a:t>
            </a:r>
            <a:r>
              <a:rPr lang="en-US"/>
              <a:t>, </a:t>
            </a:r>
            <a:r>
              <a:rPr lang="zh-CN" altLang="en-US"/>
              <a:t>节点</a:t>
            </a:r>
            <a:r>
              <a:rPr lang="en-US" altLang="zh-CN"/>
              <a:t>1,3,4</a:t>
            </a:r>
            <a:r>
              <a:rPr lang="zh-CN" altLang="en-US"/>
              <a:t>有数据包</a:t>
            </a:r>
            <a:r>
              <a:rPr lang="en-US"/>
              <a:t>, </a:t>
            </a:r>
            <a:r>
              <a:rPr lang="zh-CN" altLang="en-US"/>
              <a:t>节点</a:t>
            </a:r>
            <a:r>
              <a:rPr lang="en-US"/>
              <a:t>2,5,6</a:t>
            </a:r>
            <a:r>
              <a:rPr lang="zh-CN" altLang="en-US"/>
              <a:t>的时间槽被闲置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zh-CN" altLang="en-US"/>
              <a:t>信道划分为</a:t>
            </a:r>
            <a:r>
              <a:rPr lang="en-US" altLang="zh-CN"/>
              <a:t>N</a:t>
            </a:r>
            <a:r>
              <a:rPr lang="zh-CN" altLang="en-US"/>
              <a:t>个时间槽，每个用户一个；在低占空比用户和轻负载时效率低下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信道划分的</a:t>
            </a:r>
            <a:r>
              <a:rPr lang="en-US" altLang="zh-CN"/>
              <a:t>MAC</a:t>
            </a:r>
            <a:r>
              <a:rPr lang="zh-CN" altLang="en-US"/>
              <a:t>协议：时分多址</a:t>
            </a:r>
            <a:endParaRPr lang="en-US" dirty="0"/>
          </a:p>
        </p:txBody>
      </p:sp>
      <p:grpSp>
        <p:nvGrpSpPr>
          <p:cNvPr id="31" name="Group 30"/>
          <p:cNvGrpSpPr/>
          <p:nvPr/>
        </p:nvGrpSpPr>
        <p:grpSpPr>
          <a:xfrm>
            <a:off x="1457325" y="4352059"/>
            <a:ext cx="5872480" cy="660547"/>
            <a:chOff x="1457325" y="5832455"/>
            <a:chExt cx="5872480" cy="66054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1457325" y="6492240"/>
              <a:ext cx="587248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475613" y="5925312"/>
              <a:ext cx="0" cy="56692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2012061" y="6156960"/>
              <a:ext cx="0" cy="33528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554605" y="6156960"/>
              <a:ext cx="0" cy="33528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091053" y="6156960"/>
              <a:ext cx="0" cy="33528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615309" y="6156960"/>
              <a:ext cx="0" cy="33528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151757" y="6156960"/>
              <a:ext cx="0" cy="33528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4694301" y="5925312"/>
              <a:ext cx="0" cy="56692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230749" y="6156960"/>
              <a:ext cx="0" cy="33528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1499998" y="6156960"/>
              <a:ext cx="481582" cy="303276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586103" y="6157722"/>
              <a:ext cx="474471" cy="303276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117852" y="6156959"/>
              <a:ext cx="474471" cy="303276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725796" y="6157722"/>
              <a:ext cx="474471" cy="303276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5755005" y="6157722"/>
              <a:ext cx="0" cy="33528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6291453" y="6157722"/>
              <a:ext cx="0" cy="33528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/>
            <p:cNvSpPr/>
            <p:nvPr/>
          </p:nvSpPr>
          <p:spPr>
            <a:xfrm>
              <a:off x="5785994" y="6157722"/>
              <a:ext cx="474471" cy="303276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>
              <a:off x="1457325" y="6033516"/>
              <a:ext cx="3236976" cy="0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755392" y="5832455"/>
              <a:ext cx="73800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Frame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8210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/>
              <a:t>频分多址（</a:t>
            </a:r>
            <a:r>
              <a:rPr lang="en-US"/>
              <a:t>FDMA</a:t>
            </a:r>
            <a:r>
              <a:rPr lang="en-US" dirty="0"/>
              <a:t>: frequency division multiple </a:t>
            </a:r>
            <a:r>
              <a:rPr lang="en-US"/>
              <a:t>access </a:t>
            </a:r>
            <a:r>
              <a:rPr lang="zh-CN" altLang="en-US"/>
              <a:t>）</a:t>
            </a:r>
            <a:endParaRPr lang="en-US" dirty="0"/>
          </a:p>
          <a:p>
            <a:pPr lvl="1"/>
            <a:r>
              <a:rPr lang="zh-CN" altLang="en-US"/>
              <a:t>信道频谱被划分为多个频段</a:t>
            </a:r>
            <a:endParaRPr lang="en-US" altLang="zh-CN"/>
          </a:p>
          <a:p>
            <a:pPr lvl="1"/>
            <a:r>
              <a:rPr lang="zh-CN" altLang="en-US"/>
              <a:t>每个节点被分配一个固定的频段</a:t>
            </a:r>
            <a:endParaRPr lang="en-US" altLang="zh-CN"/>
          </a:p>
          <a:p>
            <a:pPr lvl="1"/>
            <a:r>
              <a:rPr lang="zh-CN" altLang="en-US"/>
              <a:t>频段内未使用的时间被闲置</a:t>
            </a:r>
            <a:endParaRPr lang="en-US" altLang="zh-CN"/>
          </a:p>
          <a:p>
            <a:pPr lvl="1"/>
            <a:r>
              <a:rPr lang="zh-CN" altLang="en-US"/>
              <a:t>例如</a:t>
            </a:r>
            <a:r>
              <a:rPr lang="en-US" altLang="zh-CN"/>
              <a:t>: 6</a:t>
            </a:r>
            <a:r>
              <a:rPr lang="zh-CN" altLang="en-US"/>
              <a:t>个节点的局域网</a:t>
            </a:r>
            <a:r>
              <a:rPr lang="en-US" altLang="zh-CN"/>
              <a:t>, </a:t>
            </a:r>
            <a:r>
              <a:rPr lang="zh-CN" altLang="en-US"/>
              <a:t>节点</a:t>
            </a:r>
            <a:r>
              <a:rPr lang="en-US" altLang="zh-CN"/>
              <a:t>1,3,4</a:t>
            </a:r>
            <a:r>
              <a:rPr lang="zh-CN" altLang="en-US"/>
              <a:t>有数据包</a:t>
            </a:r>
            <a:r>
              <a:rPr lang="en-US"/>
              <a:t>, </a:t>
            </a:r>
            <a:r>
              <a:rPr lang="zh-CN" altLang="en-US"/>
              <a:t>节点</a:t>
            </a:r>
            <a:r>
              <a:rPr lang="en-US"/>
              <a:t> 2,5,6 </a:t>
            </a:r>
            <a:r>
              <a:rPr lang="zh-CN" altLang="en-US"/>
              <a:t>的频段被闲置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信道划分的</a:t>
            </a:r>
            <a:r>
              <a:rPr lang="en-US" altLang="zh-CN"/>
              <a:t>MAC</a:t>
            </a:r>
            <a:r>
              <a:rPr lang="zh-CN" altLang="en-US"/>
              <a:t>协议：频分多址</a:t>
            </a:r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3720762" y="4248150"/>
            <a:ext cx="4207931" cy="2424113"/>
            <a:chOff x="936770" y="4248150"/>
            <a:chExt cx="4207931" cy="2424113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1384445" y="4421188"/>
              <a:ext cx="627062" cy="22510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V="1">
              <a:off x="1382857" y="5526088"/>
              <a:ext cx="622300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1378095" y="5918200"/>
              <a:ext cx="631825" cy="6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V="1">
              <a:off x="1382857" y="6303963"/>
              <a:ext cx="627063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V="1">
              <a:off x="1378095" y="5140325"/>
              <a:ext cx="631825" cy="6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1382857" y="4754563"/>
              <a:ext cx="631825" cy="6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" name="Group 10"/>
            <p:cNvGrpSpPr>
              <a:grpSpLocks/>
            </p:cNvGrpSpPr>
            <p:nvPr/>
          </p:nvGrpSpPr>
          <p:grpSpPr bwMode="auto">
            <a:xfrm>
              <a:off x="2103582" y="4575175"/>
              <a:ext cx="3041118" cy="119063"/>
              <a:chOff x="1884" y="2826"/>
              <a:chExt cx="1404" cy="75"/>
            </a:xfrm>
          </p:grpSpPr>
          <p:sp>
            <p:nvSpPr>
              <p:cNvPr id="12" name="Line 11"/>
              <p:cNvSpPr>
                <a:spLocks noChangeShapeType="1"/>
              </p:cNvSpPr>
              <p:nvPr/>
            </p:nvSpPr>
            <p:spPr bwMode="auto">
              <a:xfrm>
                <a:off x="1884" y="2901"/>
                <a:ext cx="14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Freeform 12"/>
              <p:cNvSpPr>
                <a:spLocks/>
              </p:cNvSpPr>
              <p:nvPr/>
            </p:nvSpPr>
            <p:spPr bwMode="auto">
              <a:xfrm>
                <a:off x="1977" y="2826"/>
                <a:ext cx="1089" cy="72"/>
              </a:xfrm>
              <a:custGeom>
                <a:avLst/>
                <a:gdLst>
                  <a:gd name="T0" fmla="*/ 0 w 1089"/>
                  <a:gd name="T1" fmla="*/ 72 h 72"/>
                  <a:gd name="T2" fmla="*/ 0 w 1089"/>
                  <a:gd name="T3" fmla="*/ 3 h 72"/>
                  <a:gd name="T4" fmla="*/ 1089 w 1089"/>
                  <a:gd name="T5" fmla="*/ 0 h 72"/>
                  <a:gd name="T6" fmla="*/ 1089 w 1089"/>
                  <a:gd name="T7" fmla="*/ 72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89"/>
                  <a:gd name="T13" fmla="*/ 0 h 72"/>
                  <a:gd name="T14" fmla="*/ 1089 w 1089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89" h="72">
                    <a:moveTo>
                      <a:pt x="0" y="72"/>
                    </a:moveTo>
                    <a:lnTo>
                      <a:pt x="0" y="3"/>
                    </a:lnTo>
                    <a:lnTo>
                      <a:pt x="1089" y="0"/>
                    </a:lnTo>
                    <a:lnTo>
                      <a:pt x="1089" y="72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2103583" y="5097463"/>
              <a:ext cx="30411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V="1">
              <a:off x="2103582" y="5500688"/>
              <a:ext cx="30411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2344013" y="5376863"/>
              <a:ext cx="2358816" cy="114300"/>
            </a:xfrm>
            <a:custGeom>
              <a:avLst/>
              <a:gdLst>
                <a:gd name="T0" fmla="*/ 0 w 1089"/>
                <a:gd name="T1" fmla="*/ 72 h 72"/>
                <a:gd name="T2" fmla="*/ 0 w 1089"/>
                <a:gd name="T3" fmla="*/ 3 h 72"/>
                <a:gd name="T4" fmla="*/ 1089 w 1089"/>
                <a:gd name="T5" fmla="*/ 0 h 72"/>
                <a:gd name="T6" fmla="*/ 1089 w 1089"/>
                <a:gd name="T7" fmla="*/ 72 h 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9"/>
                <a:gd name="T13" fmla="*/ 0 h 72"/>
                <a:gd name="T14" fmla="*/ 1089 w 1089"/>
                <a:gd name="T15" fmla="*/ 72 h 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9" h="72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2103582" y="5895975"/>
              <a:ext cx="3041118" cy="79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2393832" y="5781675"/>
              <a:ext cx="2358816" cy="114300"/>
            </a:xfrm>
            <a:custGeom>
              <a:avLst/>
              <a:gdLst>
                <a:gd name="T0" fmla="*/ 0 w 1089"/>
                <a:gd name="T1" fmla="*/ 72 h 72"/>
                <a:gd name="T2" fmla="*/ 0 w 1089"/>
                <a:gd name="T3" fmla="*/ 3 h 72"/>
                <a:gd name="T4" fmla="*/ 1089 w 1089"/>
                <a:gd name="T5" fmla="*/ 0 h 72"/>
                <a:gd name="T6" fmla="*/ 1089 w 1089"/>
                <a:gd name="T7" fmla="*/ 72 h 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9"/>
                <a:gd name="T13" fmla="*/ 0 h 72"/>
                <a:gd name="T14" fmla="*/ 1089 w 1089"/>
                <a:gd name="T15" fmla="*/ 72 h 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9" h="72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2103582" y="6312913"/>
              <a:ext cx="3041118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2103582" y="6637338"/>
              <a:ext cx="304111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 rot="16200000">
              <a:off x="150163" y="5269707"/>
              <a:ext cx="193992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frequency bands</a:t>
              </a:r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 rot="67766">
              <a:off x="4089545" y="4248150"/>
              <a:ext cx="65881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time</a:t>
              </a: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78E417AF-6962-42E6-85E0-CDDD26859466}"/>
              </a:ext>
            </a:extLst>
          </p:cNvPr>
          <p:cNvSpPr txBox="1"/>
          <p:nvPr/>
        </p:nvSpPr>
        <p:spPr>
          <a:xfrm>
            <a:off x="4309049" y="4404280"/>
            <a:ext cx="3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D649F9D-F20A-41D2-9866-05DEA1994CC3}"/>
              </a:ext>
            </a:extLst>
          </p:cNvPr>
          <p:cNvSpPr txBox="1"/>
          <p:nvPr/>
        </p:nvSpPr>
        <p:spPr>
          <a:xfrm>
            <a:off x="4323383" y="4760913"/>
            <a:ext cx="3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C388829-BFE4-4F7B-9A2C-30C683B89AFE}"/>
              </a:ext>
            </a:extLst>
          </p:cNvPr>
          <p:cNvSpPr txBox="1"/>
          <p:nvPr/>
        </p:nvSpPr>
        <p:spPr>
          <a:xfrm>
            <a:off x="4323383" y="5155168"/>
            <a:ext cx="3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9D1BDD6-905D-48BF-B4CE-F19FB84BD6F1}"/>
              </a:ext>
            </a:extLst>
          </p:cNvPr>
          <p:cNvSpPr txBox="1"/>
          <p:nvPr/>
        </p:nvSpPr>
        <p:spPr>
          <a:xfrm>
            <a:off x="4328363" y="5548868"/>
            <a:ext cx="3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D0CB169-2D1C-4F97-BADF-04868020BC10}"/>
              </a:ext>
            </a:extLst>
          </p:cNvPr>
          <p:cNvSpPr txBox="1"/>
          <p:nvPr/>
        </p:nvSpPr>
        <p:spPr>
          <a:xfrm>
            <a:off x="4329527" y="5939871"/>
            <a:ext cx="3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88BCA64-CB79-45A3-97D1-3324153F7938}"/>
              </a:ext>
            </a:extLst>
          </p:cNvPr>
          <p:cNvSpPr txBox="1"/>
          <p:nvPr/>
        </p:nvSpPr>
        <p:spPr>
          <a:xfrm>
            <a:off x="4335877" y="6319838"/>
            <a:ext cx="3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226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/>
              <a:t>码分多址（</a:t>
            </a:r>
            <a:r>
              <a:rPr lang="en-US"/>
              <a:t>CDMA: Code </a:t>
            </a:r>
            <a:r>
              <a:rPr lang="en-US" dirty="0"/>
              <a:t>Division Multiple Access) </a:t>
            </a:r>
          </a:p>
          <a:p>
            <a:pPr lvl="1"/>
            <a:r>
              <a:rPr lang="zh-CN" altLang="en-US"/>
              <a:t>每个用户分配独立的地址码</a:t>
            </a:r>
            <a:endParaRPr lang="en-US" dirty="0"/>
          </a:p>
          <a:p>
            <a:pPr lvl="1"/>
            <a:r>
              <a:rPr lang="zh-CN" altLang="en-US"/>
              <a:t>主要用于无线广播信道（如蜂窝网络，卫星等）</a:t>
            </a:r>
            <a:endParaRPr lang="en-US" dirty="0"/>
          </a:p>
          <a:p>
            <a:pPr lvl="1"/>
            <a:r>
              <a:rPr lang="zh-CN" altLang="en-US"/>
              <a:t>所有用户共享同一频段，但每个用户拥有属于自己的码片序列（即地址码）来编码数据</a:t>
            </a:r>
            <a:endParaRPr lang="en-US" dirty="0"/>
          </a:p>
          <a:p>
            <a:pPr lvl="1"/>
            <a:r>
              <a:rPr lang="zh-CN" altLang="en-US"/>
              <a:t>编码后的信号</a:t>
            </a:r>
            <a:r>
              <a:rPr lang="en-US"/>
              <a:t>= (</a:t>
            </a:r>
            <a:r>
              <a:rPr lang="zh-CN" altLang="en-US"/>
              <a:t>原始数据</a:t>
            </a:r>
            <a:r>
              <a:rPr lang="en-US"/>
              <a:t>) X (</a:t>
            </a:r>
            <a:r>
              <a:rPr lang="zh-CN" altLang="en-US"/>
              <a:t>码片序列</a:t>
            </a:r>
            <a:r>
              <a:rPr lang="en-US"/>
              <a:t>)</a:t>
            </a:r>
            <a:endParaRPr lang="en-US" dirty="0"/>
          </a:p>
          <a:p>
            <a:pPr lvl="1"/>
            <a:r>
              <a:rPr lang="zh-CN" altLang="en-US"/>
              <a:t>解码</a:t>
            </a:r>
            <a:r>
              <a:rPr lang="en-US"/>
              <a:t>: </a:t>
            </a:r>
            <a:r>
              <a:rPr lang="zh-CN" altLang="en-US"/>
              <a:t>编码后的信号与码片序列的内积</a:t>
            </a:r>
            <a:endParaRPr lang="en-US" dirty="0"/>
          </a:p>
          <a:p>
            <a:pPr lvl="1"/>
            <a:r>
              <a:rPr lang="zh-CN" altLang="en-US"/>
              <a:t>允许多个用户 </a:t>
            </a:r>
            <a:r>
              <a:rPr lang="en-US" altLang="zh-CN"/>
              <a:t>"</a:t>
            </a:r>
            <a:r>
              <a:rPr lang="zh-CN" altLang="en-US"/>
              <a:t>共存</a:t>
            </a:r>
            <a:r>
              <a:rPr lang="en-US" altLang="zh-CN"/>
              <a:t>"</a:t>
            </a:r>
            <a:r>
              <a:rPr lang="zh-CN" altLang="en-US"/>
              <a:t>，以最小的干扰同时传输（如果编码是 </a:t>
            </a:r>
            <a:r>
              <a:rPr lang="en-US" altLang="zh-CN"/>
              <a:t>"</a:t>
            </a:r>
            <a:r>
              <a:rPr lang="zh-CN" altLang="en-US"/>
              <a:t>正交 </a:t>
            </a:r>
            <a:r>
              <a:rPr lang="en-US" altLang="zh-CN"/>
              <a:t>"</a:t>
            </a:r>
            <a:r>
              <a:rPr lang="zh-CN" altLang="en-US"/>
              <a:t>的）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信道划分的</a:t>
            </a:r>
            <a:r>
              <a:rPr lang="en-US" altLang="zh-CN"/>
              <a:t>MAC</a:t>
            </a:r>
            <a:r>
              <a:rPr lang="zh-CN" altLang="en-US"/>
              <a:t>协议：码分多址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753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由中心化的协调节点分配</a:t>
            </a:r>
            <a:endParaRPr lang="en-US" altLang="zh-CN" dirty="0"/>
          </a:p>
          <a:p>
            <a:pPr lvl="1"/>
            <a:r>
              <a:rPr lang="en-US" dirty="0"/>
              <a:t>IEEE 802.11 </a:t>
            </a:r>
            <a:r>
              <a:rPr lang="zh-CN" altLang="en-US" dirty="0"/>
              <a:t>架构模式</a:t>
            </a:r>
            <a:endParaRPr lang="en-US" dirty="0"/>
          </a:p>
          <a:p>
            <a:pPr lvl="1"/>
            <a:r>
              <a:rPr lang="zh-CN" altLang="en-US" dirty="0"/>
              <a:t>蜂窝网络</a:t>
            </a:r>
            <a:endParaRPr lang="en-US" altLang="zh-CN" dirty="0"/>
          </a:p>
          <a:p>
            <a:pPr lvl="1"/>
            <a:r>
              <a:rPr lang="zh-CN" altLang="en-US" dirty="0"/>
              <a:t>电缆调制解调器 </a:t>
            </a:r>
            <a:r>
              <a:rPr lang="en-US" altLang="zh-CN" dirty="0"/>
              <a:t>(</a:t>
            </a:r>
            <a:r>
              <a:rPr lang="en-US" dirty="0"/>
              <a:t>Cable Modem)</a:t>
            </a:r>
          </a:p>
          <a:p>
            <a:endParaRPr lang="en-US" dirty="0"/>
          </a:p>
          <a:p>
            <a:r>
              <a:rPr lang="zh-CN" altLang="en-US" dirty="0"/>
              <a:t>分布式共识协议</a:t>
            </a:r>
            <a:endParaRPr lang="en-US" altLang="zh-CN" dirty="0"/>
          </a:p>
          <a:p>
            <a:pPr lvl="1"/>
            <a:r>
              <a:rPr lang="zh-CN" altLang="en-US" dirty="0"/>
              <a:t>节点广播它们要使用的时间</a:t>
            </a:r>
            <a:r>
              <a:rPr lang="en-US" altLang="zh-CN" dirty="0"/>
              <a:t>/</a:t>
            </a:r>
            <a:r>
              <a:rPr lang="zh-CN" altLang="en-US" dirty="0"/>
              <a:t>频率</a:t>
            </a:r>
            <a:r>
              <a:rPr lang="en-US" altLang="zh-CN" dirty="0"/>
              <a:t>/</a:t>
            </a:r>
            <a:r>
              <a:rPr lang="zh-CN" altLang="en-US" dirty="0"/>
              <a:t>代码以及持续时间的多少</a:t>
            </a:r>
            <a:endParaRPr lang="en-US" altLang="zh-CN" dirty="0"/>
          </a:p>
          <a:p>
            <a:pPr lvl="1"/>
            <a:r>
              <a:rPr lang="zh-CN" altLang="en-US" dirty="0"/>
              <a:t>在一个单独的控制信道进行</a:t>
            </a:r>
            <a:endParaRPr lang="en-US" dirty="0"/>
          </a:p>
          <a:p>
            <a:pPr lvl="1"/>
            <a:r>
              <a:rPr lang="zh-CN" altLang="en-US" dirty="0"/>
              <a:t>通常用于</a:t>
            </a:r>
            <a:r>
              <a:rPr lang="en-US" dirty="0"/>
              <a:t>ad-hoc</a:t>
            </a:r>
            <a:r>
              <a:rPr lang="zh-CN" altLang="en-US" dirty="0"/>
              <a:t>网络</a:t>
            </a:r>
            <a:r>
              <a:rPr lang="en-US" altLang="zh-CN" dirty="0"/>
              <a:t>/</a:t>
            </a:r>
            <a:r>
              <a:rPr lang="en-US" dirty="0"/>
              <a:t>MANET.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信道分割的控制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748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/>
              <a:t>当节点有数据包要发送时</a:t>
            </a:r>
            <a:endParaRPr lang="en-US" dirty="0"/>
          </a:p>
          <a:p>
            <a:pPr lvl="1"/>
            <a:r>
              <a:rPr lang="zh-CN" altLang="en-US"/>
              <a:t>以全信道速率传输（</a:t>
            </a:r>
            <a:r>
              <a:rPr lang="en-US" altLang="zh-CN"/>
              <a:t>R bps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zh-CN" altLang="en-US"/>
              <a:t>节点间没有预先的协商</a:t>
            </a:r>
            <a:endParaRPr lang="en-US" altLang="zh-CN"/>
          </a:p>
          <a:p>
            <a:pPr lvl="1"/>
            <a:endParaRPr lang="en-US" dirty="0"/>
          </a:p>
          <a:p>
            <a:r>
              <a:rPr lang="zh-CN" altLang="en-US"/>
              <a:t>两个或多个传输的节点 </a:t>
            </a:r>
            <a:r>
              <a:rPr lang="en-US"/>
              <a:t>-&gt; “</a:t>
            </a:r>
            <a:r>
              <a:rPr lang="zh-CN" altLang="en-US"/>
              <a:t>碰撞</a:t>
            </a:r>
            <a:r>
              <a:rPr lang="en-US"/>
              <a:t>”</a:t>
            </a:r>
            <a:endParaRPr lang="en-US" dirty="0"/>
          </a:p>
          <a:p>
            <a:pPr lvl="1"/>
            <a:endParaRPr lang="en-US" dirty="0"/>
          </a:p>
          <a:p>
            <a:r>
              <a:rPr lang="zh-CN" altLang="en-US"/>
              <a:t>随机访问</a:t>
            </a:r>
            <a:r>
              <a:rPr lang="en-US" altLang="zh-CN"/>
              <a:t>MAC</a:t>
            </a:r>
            <a:r>
              <a:rPr lang="zh-CN" altLang="en-US"/>
              <a:t>协议规定</a:t>
            </a:r>
            <a:r>
              <a:rPr lang="en-US"/>
              <a:t>: </a:t>
            </a:r>
            <a:endParaRPr lang="en-US" dirty="0"/>
          </a:p>
          <a:p>
            <a:pPr lvl="1"/>
            <a:r>
              <a:rPr lang="zh-CN" altLang="en-US"/>
              <a:t>如何检测碰撞</a:t>
            </a:r>
            <a:endParaRPr lang="en-US" altLang="zh-CN"/>
          </a:p>
          <a:p>
            <a:pPr lvl="1"/>
            <a:r>
              <a:rPr lang="zh-CN" altLang="en-US"/>
              <a:t>如何从碰撞中恢复</a:t>
            </a:r>
            <a:r>
              <a:rPr lang="en-US"/>
              <a:t> </a:t>
            </a:r>
            <a:r>
              <a:rPr lang="zh-CN" altLang="en-US"/>
              <a:t>（如：通过延迟的重新传输</a:t>
            </a:r>
            <a:r>
              <a:rPr lang="en-US"/>
              <a:t>)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随机访问协议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805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ALOHA</a:t>
            </a:r>
          </a:p>
          <a:p>
            <a:r>
              <a:rPr lang="zh-CN" altLang="en-US"/>
              <a:t>时隙</a:t>
            </a:r>
            <a:r>
              <a:rPr lang="en-US" altLang="zh-CN"/>
              <a:t>ALOHA</a:t>
            </a:r>
            <a:r>
              <a:rPr lang="zh-CN" altLang="en-US"/>
              <a:t>（</a:t>
            </a:r>
            <a:r>
              <a:rPr lang="en-US"/>
              <a:t>Slotted </a:t>
            </a:r>
            <a:r>
              <a:rPr lang="en-US" altLang="en-US"/>
              <a:t>ALOHA</a:t>
            </a:r>
            <a:r>
              <a:rPr lang="zh-CN" altLang="en-US"/>
              <a:t>）</a:t>
            </a:r>
            <a:endParaRPr lang="en-US" dirty="0"/>
          </a:p>
          <a:p>
            <a:r>
              <a:rPr lang="zh-CN" altLang="en-US"/>
              <a:t>载波监听多路访问（</a:t>
            </a:r>
            <a:r>
              <a:rPr lang="en-US" altLang="en-US"/>
              <a:t>CSMA: Carrier </a:t>
            </a:r>
            <a:r>
              <a:rPr lang="en-US" altLang="en-US" dirty="0"/>
              <a:t>Sense </a:t>
            </a:r>
            <a:r>
              <a:rPr lang="en-US" altLang="en-US"/>
              <a:t>Multiple Access</a:t>
            </a:r>
            <a:r>
              <a:rPr lang="zh-CN" altLang="en-US"/>
              <a:t>）</a:t>
            </a:r>
            <a:endParaRPr lang="en-US" altLang="en-US" dirty="0"/>
          </a:p>
          <a:p>
            <a:r>
              <a:rPr lang="zh-CN" altLang="en-US"/>
              <a:t>基于冲突检测的载波监听多路访问（</a:t>
            </a:r>
            <a:r>
              <a:rPr lang="en-US" altLang="en-US"/>
              <a:t>CSMA/CD: CSMA </a:t>
            </a:r>
            <a:r>
              <a:rPr lang="en-US" altLang="en-US" dirty="0"/>
              <a:t>with </a:t>
            </a:r>
            <a:r>
              <a:rPr lang="en-US" altLang="en-US"/>
              <a:t>Collision Detection</a:t>
            </a:r>
            <a:r>
              <a:rPr lang="zh-CN" altLang="en-US"/>
              <a:t>）</a:t>
            </a:r>
            <a:endParaRPr lang="en-US" dirty="0"/>
          </a:p>
          <a:p>
            <a:r>
              <a:rPr lang="zh-CN" altLang="en-US"/>
              <a:t>基于冲突避免的载波监听多路访问（</a:t>
            </a:r>
            <a:r>
              <a:rPr lang="en-US"/>
              <a:t>CSMA/CA: CSMA </a:t>
            </a:r>
            <a:r>
              <a:rPr lang="en-US" dirty="0"/>
              <a:t>with </a:t>
            </a:r>
            <a:r>
              <a:rPr lang="en-US"/>
              <a:t>Collision Avoidance</a:t>
            </a:r>
            <a:r>
              <a:rPr lang="zh-CN" altLang="en-US"/>
              <a:t>）</a:t>
            </a:r>
            <a:endParaRPr lang="en-US" dirty="0"/>
          </a:p>
          <a:p>
            <a:r>
              <a:rPr lang="zh-CN" altLang="en-US"/>
              <a:t>带有</a:t>
            </a:r>
            <a:r>
              <a:rPr lang="en-US" altLang="zh-CN"/>
              <a:t>RTS/CTS</a:t>
            </a:r>
            <a:r>
              <a:rPr lang="zh-CN" altLang="en-US"/>
              <a:t>的</a:t>
            </a:r>
            <a:r>
              <a:rPr lang="en-US" altLang="en-US"/>
              <a:t>CSMA/CA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随机访问</a:t>
            </a:r>
            <a:r>
              <a:rPr lang="en-US" altLang="zh-CN"/>
              <a:t>MAC</a:t>
            </a:r>
            <a:r>
              <a:rPr lang="zh-CN" altLang="en-US"/>
              <a:t>协议的例子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503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/>
              <a:t>每当一个节点有数据时，它就会发送</a:t>
            </a:r>
            <a:endParaRPr lang="en-US" altLang="en-US" dirty="0"/>
          </a:p>
          <a:p>
            <a:pPr lvl="1"/>
            <a:r>
              <a:rPr lang="zh-CN" altLang="en-US"/>
              <a:t>发送方通过监听目的站的广播，判断传输是否成功或遭遇碰撞。</a:t>
            </a:r>
          </a:p>
          <a:p>
            <a:pPr lvl="1"/>
            <a:r>
              <a:rPr lang="zh-CN" altLang="en-US"/>
              <a:t>如果发生碰撞，发送方在某个随机时间后重新发送</a:t>
            </a:r>
            <a:endParaRPr lang="en-US" altLang="en-US" dirty="0"/>
          </a:p>
          <a:p>
            <a:r>
              <a:rPr lang="zh-CN" altLang="en-US"/>
              <a:t>最高吞吐量约</a:t>
            </a:r>
            <a:r>
              <a:rPr lang="en-US" altLang="en-US"/>
              <a:t>18</a:t>
            </a:r>
            <a:r>
              <a:rPr lang="en-US" altLang="en-US" dirty="0"/>
              <a:t>%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ALOHA</a:t>
            </a:r>
            <a:endParaRPr 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1676400" y="4165747"/>
            <a:ext cx="8839200" cy="2620962"/>
            <a:chOff x="1828800" y="3749675"/>
            <a:chExt cx="8839200" cy="2620962"/>
          </a:xfrm>
        </p:grpSpPr>
        <p:sp>
          <p:nvSpPr>
            <p:cNvPr id="4" name="Line 3"/>
            <p:cNvSpPr>
              <a:spLocks noChangeShapeType="1"/>
            </p:cNvSpPr>
            <p:nvPr/>
          </p:nvSpPr>
          <p:spPr bwMode="auto">
            <a:xfrm>
              <a:off x="2057400" y="5670550"/>
              <a:ext cx="762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2362200" y="5203825"/>
              <a:ext cx="914400" cy="4667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6" name="Text Box 5" descr="Wide upward diagonal"/>
            <p:cNvSpPr txBox="1">
              <a:spLocks noChangeArrowheads="1"/>
            </p:cNvSpPr>
            <p:nvPr/>
          </p:nvSpPr>
          <p:spPr bwMode="auto">
            <a:xfrm>
              <a:off x="3962400" y="5203825"/>
              <a:ext cx="914400" cy="466725"/>
            </a:xfrm>
            <a:prstGeom prst="rect">
              <a:avLst/>
            </a:prstGeom>
            <a:pattFill prst="wdUpDiag">
              <a:fgClr>
                <a:srgbClr val="99FFCC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7" name="Text Box 6" descr="Wide downward diagonal"/>
            <p:cNvSpPr txBox="1">
              <a:spLocks noChangeArrowheads="1"/>
            </p:cNvSpPr>
            <p:nvPr/>
          </p:nvSpPr>
          <p:spPr bwMode="auto">
            <a:xfrm>
              <a:off x="4724400" y="5203825"/>
              <a:ext cx="914400" cy="466725"/>
            </a:xfrm>
            <a:prstGeom prst="rect">
              <a:avLst/>
            </a:prstGeom>
            <a:pattFill prst="wdDnDiag">
              <a:fgClr>
                <a:srgbClr val="FFCCF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6248400" y="5203825"/>
              <a:ext cx="914400" cy="4667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8153400" y="5203825"/>
              <a:ext cx="914400" cy="46672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9677400" y="5426075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folHlink"/>
                  </a:solidFill>
                  <a:latin typeface="Times New Roman" pitchFamily="18" charset="0"/>
                </a:rPr>
                <a:t>Time</a:t>
              </a: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3962400" y="5730875"/>
              <a:ext cx="1600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Collision</a:t>
              </a: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6096000" y="4511675"/>
              <a:ext cx="17526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>
                  <a:solidFill>
                    <a:srgbClr val="FF00FF"/>
                  </a:solidFill>
                  <a:latin typeface="Times New Roman" pitchFamily="18" charset="0"/>
                </a:rPr>
                <a:t>Retransmission</a:t>
              </a:r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8077200" y="4511675"/>
              <a:ext cx="17526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>
                  <a:solidFill>
                    <a:srgbClr val="FF00FF"/>
                  </a:solidFill>
                  <a:latin typeface="Times New Roman" pitchFamily="18" charset="0"/>
                </a:rPr>
                <a:t>Retransmission</a:t>
              </a: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1828800" y="3841750"/>
              <a:ext cx="1524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800">
                  <a:solidFill>
                    <a:schemeClr val="folHlink"/>
                  </a:solidFill>
                  <a:latin typeface="Times New Roman" pitchFamily="18" charset="0"/>
                </a:rPr>
                <a:t>Node 1 Packet</a:t>
              </a:r>
            </a:p>
          </p:txBody>
        </p:sp>
        <p:sp>
          <p:nvSpPr>
            <p:cNvPr id="15" name="Arc 17"/>
            <p:cNvSpPr>
              <a:spLocks/>
            </p:cNvSpPr>
            <p:nvPr/>
          </p:nvSpPr>
          <p:spPr bwMode="auto">
            <a:xfrm>
              <a:off x="5181600" y="4664075"/>
              <a:ext cx="1066800" cy="427038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8 w 43200"/>
                <a:gd name="T1" fmla="*/ 22706 h 22706"/>
                <a:gd name="T2" fmla="*/ 43200 w 43200"/>
                <a:gd name="T3" fmla="*/ 21600 h 22706"/>
                <a:gd name="T4" fmla="*/ 21600 w 43200"/>
                <a:gd name="T5" fmla="*/ 21600 h 22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270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70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Arc 18"/>
            <p:cNvSpPr>
              <a:spLocks/>
            </p:cNvSpPr>
            <p:nvPr/>
          </p:nvSpPr>
          <p:spPr bwMode="auto">
            <a:xfrm>
              <a:off x="4419600" y="4284663"/>
              <a:ext cx="3735388" cy="796925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8 w 43200"/>
                <a:gd name="T1" fmla="*/ 22706 h 23736"/>
                <a:gd name="T2" fmla="*/ 43094 w 43200"/>
                <a:gd name="T3" fmla="*/ 23736 h 23736"/>
                <a:gd name="T4" fmla="*/ 21600 w 43200"/>
                <a:gd name="T5" fmla="*/ 21600 h 23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373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13"/>
                    <a:pt x="43164" y="23026"/>
                    <a:pt x="43094" y="23736"/>
                  </a:cubicBezTo>
                </a:path>
                <a:path w="43200" h="2373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13"/>
                    <a:pt x="43164" y="23026"/>
                    <a:pt x="43094" y="2373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22"/>
            <p:cNvSpPr>
              <a:spLocks noChangeArrowheads="1"/>
            </p:cNvSpPr>
            <p:nvPr/>
          </p:nvSpPr>
          <p:spPr bwMode="auto">
            <a:xfrm>
              <a:off x="4724400" y="5213350"/>
              <a:ext cx="1524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AutoShape 23"/>
            <p:cNvSpPr>
              <a:spLocks noChangeArrowheads="1"/>
            </p:cNvSpPr>
            <p:nvPr/>
          </p:nvSpPr>
          <p:spPr bwMode="auto">
            <a:xfrm>
              <a:off x="4572000" y="5213350"/>
              <a:ext cx="457200" cy="457200"/>
            </a:xfrm>
            <a:prstGeom prst="irregularSeal1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Arc 24"/>
            <p:cNvSpPr>
              <a:spLocks/>
            </p:cNvSpPr>
            <p:nvPr/>
          </p:nvSpPr>
          <p:spPr bwMode="auto">
            <a:xfrm>
              <a:off x="5486400" y="4148138"/>
              <a:ext cx="304800" cy="684212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17364 w 43200"/>
                <a:gd name="T3" fmla="*/ 420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1303"/>
                    <a:pt x="7267" y="2438"/>
                    <a:pt x="17363" y="419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1303"/>
                    <a:pt x="7267" y="2438"/>
                    <a:pt x="17363" y="41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Text Box 25"/>
            <p:cNvSpPr txBox="1">
              <a:spLocks noChangeArrowheads="1"/>
            </p:cNvSpPr>
            <p:nvPr/>
          </p:nvSpPr>
          <p:spPr bwMode="auto">
            <a:xfrm>
              <a:off x="5486400" y="3749675"/>
              <a:ext cx="29718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folHlink"/>
                  </a:solidFill>
                  <a:latin typeface="Times New Roman" pitchFamily="18" charset="0"/>
                </a:rPr>
                <a:t>Waiting a random time</a:t>
              </a:r>
            </a:p>
          </p:txBody>
        </p:sp>
        <p:sp>
          <p:nvSpPr>
            <p:cNvPr id="21" name="Line 26"/>
            <p:cNvSpPr>
              <a:spLocks noChangeShapeType="1"/>
            </p:cNvSpPr>
            <p:nvPr/>
          </p:nvSpPr>
          <p:spPr bwMode="auto">
            <a:xfrm>
              <a:off x="2667000" y="4375150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27"/>
            <p:cNvSpPr txBox="1">
              <a:spLocks noChangeArrowheads="1"/>
            </p:cNvSpPr>
            <p:nvPr/>
          </p:nvSpPr>
          <p:spPr bwMode="auto">
            <a:xfrm>
              <a:off x="2983300" y="4298950"/>
              <a:ext cx="1524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800" dirty="0">
                  <a:solidFill>
                    <a:schemeClr val="folHlink"/>
                  </a:solidFill>
                  <a:latin typeface="Times New Roman" pitchFamily="18" charset="0"/>
                </a:rPr>
                <a:t>Node 2 Packet</a:t>
              </a:r>
            </a:p>
          </p:txBody>
        </p:sp>
        <p:sp>
          <p:nvSpPr>
            <p:cNvPr id="23" name="Line 28"/>
            <p:cNvSpPr>
              <a:spLocks noChangeShapeType="1"/>
            </p:cNvSpPr>
            <p:nvPr/>
          </p:nvSpPr>
          <p:spPr bwMode="auto">
            <a:xfrm>
              <a:off x="3733801" y="4679950"/>
              <a:ext cx="380999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Box 29"/>
            <p:cNvSpPr txBox="1">
              <a:spLocks noChangeArrowheads="1"/>
            </p:cNvSpPr>
            <p:nvPr/>
          </p:nvSpPr>
          <p:spPr bwMode="auto">
            <a:xfrm>
              <a:off x="5448300" y="6003924"/>
              <a:ext cx="1524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800" dirty="0">
                  <a:solidFill>
                    <a:schemeClr val="folHlink"/>
                  </a:solidFill>
                  <a:latin typeface="Times New Roman" pitchFamily="18" charset="0"/>
                </a:rPr>
                <a:t>Node 3 Packet</a:t>
              </a:r>
            </a:p>
          </p:txBody>
        </p:sp>
        <p:sp>
          <p:nvSpPr>
            <p:cNvPr id="25" name="Line 30"/>
            <p:cNvSpPr>
              <a:spLocks noChangeShapeType="1"/>
            </p:cNvSpPr>
            <p:nvPr/>
          </p:nvSpPr>
          <p:spPr bwMode="auto">
            <a:xfrm flipH="1" flipV="1">
              <a:off x="5486400" y="5746750"/>
              <a:ext cx="498764" cy="2867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4565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/>
              <a:t>时间被划分为同等大小的时间段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zh-CN" altLang="en-US"/>
              <a:t>节点仅在时间槽之初开始传输帧</a:t>
            </a:r>
          </a:p>
          <a:p>
            <a:pPr>
              <a:lnSpc>
                <a:spcPct val="90000"/>
              </a:lnSpc>
            </a:pPr>
            <a:r>
              <a:rPr lang="zh-CN" altLang="en-US"/>
              <a:t>节点之间是同步的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zh-CN" altLang="en-US"/>
              <a:t>如果</a:t>
            </a:r>
            <a:r>
              <a:rPr lang="en-US" altLang="zh-CN"/>
              <a:t>2</a:t>
            </a:r>
            <a:r>
              <a:rPr lang="zh-CN" altLang="en-US"/>
              <a:t>个或更多的节点在同一时隙中传输，所有节点都会检测到碰撞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时隙</a:t>
            </a:r>
            <a:r>
              <a:rPr lang="en-US" altLang="zh-CN"/>
              <a:t>ALOHA</a:t>
            </a:r>
            <a:r>
              <a:rPr lang="zh-CN" altLang="en-US"/>
              <a:t>（</a:t>
            </a:r>
            <a:r>
              <a:rPr lang="en-US" altLang="en-US"/>
              <a:t>Slotted ALOHA</a:t>
            </a:r>
            <a:r>
              <a:rPr lang="zh-CN" altLang="en-US"/>
              <a:t>）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1651000" y="3965358"/>
            <a:ext cx="8458200" cy="2713038"/>
            <a:chOff x="1651000" y="3721677"/>
            <a:chExt cx="8458200" cy="2713038"/>
          </a:xfrm>
        </p:grpSpPr>
        <p:grpSp>
          <p:nvGrpSpPr>
            <p:cNvPr id="4" name="Group 3"/>
            <p:cNvGrpSpPr/>
            <p:nvPr/>
          </p:nvGrpSpPr>
          <p:grpSpPr>
            <a:xfrm>
              <a:off x="2111664" y="4956353"/>
              <a:ext cx="2743200" cy="1081089"/>
              <a:chOff x="5765800" y="4176135"/>
              <a:chExt cx="2743200" cy="2153010"/>
            </a:xfrm>
          </p:grpSpPr>
          <p:sp>
            <p:nvSpPr>
              <p:cNvPr id="5" name="Line 26"/>
              <p:cNvSpPr>
                <a:spLocks noChangeShapeType="1"/>
              </p:cNvSpPr>
              <p:nvPr/>
            </p:nvSpPr>
            <p:spPr bwMode="auto">
              <a:xfrm>
                <a:off x="5765800" y="4193165"/>
                <a:ext cx="0" cy="21351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Line 26"/>
              <p:cNvSpPr>
                <a:spLocks noChangeShapeType="1"/>
              </p:cNvSpPr>
              <p:nvPr/>
            </p:nvSpPr>
            <p:spPr bwMode="auto">
              <a:xfrm>
                <a:off x="6680200" y="4193958"/>
                <a:ext cx="0" cy="21351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Line 26"/>
              <p:cNvSpPr>
                <a:spLocks noChangeShapeType="1"/>
              </p:cNvSpPr>
              <p:nvPr/>
            </p:nvSpPr>
            <p:spPr bwMode="auto">
              <a:xfrm>
                <a:off x="7594600" y="4176135"/>
                <a:ext cx="0" cy="21351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Line 26"/>
              <p:cNvSpPr>
                <a:spLocks noChangeShapeType="1"/>
              </p:cNvSpPr>
              <p:nvPr/>
            </p:nvSpPr>
            <p:spPr bwMode="auto">
              <a:xfrm>
                <a:off x="8509000" y="4176135"/>
                <a:ext cx="0" cy="21351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Line 3"/>
            <p:cNvSpPr>
              <a:spLocks noChangeShapeType="1"/>
            </p:cNvSpPr>
            <p:nvPr/>
          </p:nvSpPr>
          <p:spPr bwMode="auto">
            <a:xfrm>
              <a:off x="1651000" y="5566352"/>
              <a:ext cx="762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2108200" y="5099627"/>
              <a:ext cx="914400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>
              <a:off x="3937000" y="5099627"/>
              <a:ext cx="914400" cy="466725"/>
            </a:xfrm>
            <a:prstGeom prst="rect">
              <a:avLst/>
            </a:prstGeom>
            <a:solidFill>
              <a:srgbClr val="3399FF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Times New Roman" pitchFamily="18" charset="0"/>
                </a:rPr>
                <a:t>2&amp;3</a:t>
              </a:r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5765800" y="5099627"/>
              <a:ext cx="914400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9271000" y="532187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folHlink"/>
                  </a:solidFill>
                  <a:latin typeface="Times New Roman" pitchFamily="18" charset="0"/>
                </a:rPr>
                <a:t>Time</a:t>
              </a: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3556000" y="5931477"/>
              <a:ext cx="1600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Collision</a:t>
              </a:r>
            </a:p>
          </p:txBody>
        </p:sp>
        <p:sp>
          <p:nvSpPr>
            <p:cNvPr id="15" name="AutoShape 11"/>
            <p:cNvSpPr>
              <a:spLocks noChangeArrowheads="1"/>
            </p:cNvSpPr>
            <p:nvPr/>
          </p:nvSpPr>
          <p:spPr bwMode="auto">
            <a:xfrm>
              <a:off x="3708400" y="5109152"/>
              <a:ext cx="381000" cy="457200"/>
            </a:xfrm>
            <a:prstGeom prst="irregularSeal1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5613400" y="4559877"/>
              <a:ext cx="17526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>
                  <a:solidFill>
                    <a:srgbClr val="FF00FF"/>
                  </a:solidFill>
                  <a:latin typeface="Times New Roman" pitchFamily="18" charset="0"/>
                </a:rPr>
                <a:t>Retransmission</a:t>
              </a: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7518400" y="4559877"/>
              <a:ext cx="17526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>
                  <a:solidFill>
                    <a:srgbClr val="FF00FF"/>
                  </a:solidFill>
                  <a:latin typeface="Times New Roman" pitchFamily="18" charset="0"/>
                </a:rPr>
                <a:t>Retransmission</a:t>
              </a:r>
            </a:p>
          </p:txBody>
        </p:sp>
        <p:sp>
          <p:nvSpPr>
            <p:cNvPr id="18" name="Arc 15"/>
            <p:cNvSpPr>
              <a:spLocks/>
            </p:cNvSpPr>
            <p:nvPr/>
          </p:nvSpPr>
          <p:spPr bwMode="auto">
            <a:xfrm>
              <a:off x="4241800" y="4651952"/>
              <a:ext cx="1524000" cy="33496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8 w 43200"/>
                <a:gd name="T1" fmla="*/ 22706 h 22706"/>
                <a:gd name="T2" fmla="*/ 43200 w 43200"/>
                <a:gd name="T3" fmla="*/ 21600 h 22706"/>
                <a:gd name="T4" fmla="*/ 21600 w 43200"/>
                <a:gd name="T5" fmla="*/ 21600 h 22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270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70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Arc 16"/>
            <p:cNvSpPr>
              <a:spLocks/>
            </p:cNvSpPr>
            <p:nvPr/>
          </p:nvSpPr>
          <p:spPr bwMode="auto">
            <a:xfrm>
              <a:off x="4089400" y="4270952"/>
              <a:ext cx="3505200" cy="76200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8 w 43200"/>
                <a:gd name="T1" fmla="*/ 22706 h 23736"/>
                <a:gd name="T2" fmla="*/ 43094 w 43200"/>
                <a:gd name="T3" fmla="*/ 23736 h 23736"/>
                <a:gd name="T4" fmla="*/ 21600 w 43200"/>
                <a:gd name="T5" fmla="*/ 21600 h 23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373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13"/>
                    <a:pt x="43164" y="23026"/>
                    <a:pt x="43094" y="23736"/>
                  </a:cubicBezTo>
                </a:path>
                <a:path w="43200" h="2373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313"/>
                    <a:pt x="43164" y="23026"/>
                    <a:pt x="43094" y="2373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7594600" y="5099627"/>
              <a:ext cx="914400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1" name="Line 30"/>
            <p:cNvSpPr>
              <a:spLocks noChangeShapeType="1"/>
            </p:cNvSpPr>
            <p:nvPr/>
          </p:nvSpPr>
          <p:spPr bwMode="auto">
            <a:xfrm>
              <a:off x="2108200" y="5718752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31"/>
            <p:cNvSpPr txBox="1">
              <a:spLocks noChangeArrowheads="1"/>
            </p:cNvSpPr>
            <p:nvPr/>
          </p:nvSpPr>
          <p:spPr bwMode="auto">
            <a:xfrm>
              <a:off x="2641600" y="6037840"/>
              <a:ext cx="762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>
                  <a:solidFill>
                    <a:schemeClr val="folHlink"/>
                  </a:solidFill>
                  <a:latin typeface="Times New Roman" pitchFamily="18" charset="0"/>
                </a:rPr>
                <a:t>Slot</a:t>
              </a:r>
            </a:p>
          </p:txBody>
        </p:sp>
        <p:sp>
          <p:nvSpPr>
            <p:cNvPr id="23" name="Line 33"/>
            <p:cNvSpPr>
              <a:spLocks noChangeShapeType="1"/>
            </p:cNvSpPr>
            <p:nvPr/>
          </p:nvSpPr>
          <p:spPr bwMode="auto">
            <a:xfrm>
              <a:off x="3022600" y="5718752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34"/>
            <p:cNvSpPr>
              <a:spLocks noChangeShapeType="1"/>
            </p:cNvSpPr>
            <p:nvPr/>
          </p:nvSpPr>
          <p:spPr bwMode="auto">
            <a:xfrm flipH="1" flipV="1">
              <a:off x="2641600" y="5794952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35"/>
            <p:cNvSpPr>
              <a:spLocks noChangeShapeType="1"/>
            </p:cNvSpPr>
            <p:nvPr/>
          </p:nvSpPr>
          <p:spPr bwMode="auto">
            <a:xfrm flipV="1">
              <a:off x="3098800" y="5794952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Box 36"/>
            <p:cNvSpPr txBox="1">
              <a:spLocks noChangeArrowheads="1"/>
            </p:cNvSpPr>
            <p:nvPr/>
          </p:nvSpPr>
          <p:spPr bwMode="auto">
            <a:xfrm>
              <a:off x="1651000" y="3721677"/>
              <a:ext cx="15240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800">
                  <a:solidFill>
                    <a:schemeClr val="folHlink"/>
                  </a:solidFill>
                  <a:latin typeface="Times New Roman" pitchFamily="18" charset="0"/>
                </a:rPr>
                <a:t>Node 1 Packet</a:t>
              </a:r>
            </a:p>
          </p:txBody>
        </p:sp>
        <p:sp>
          <p:nvSpPr>
            <p:cNvPr id="27" name="Line 37"/>
            <p:cNvSpPr>
              <a:spLocks noChangeShapeType="1"/>
            </p:cNvSpPr>
            <p:nvPr/>
          </p:nvSpPr>
          <p:spPr bwMode="auto">
            <a:xfrm>
              <a:off x="2260600" y="4102677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Box 38"/>
            <p:cNvSpPr txBox="1">
              <a:spLocks noChangeArrowheads="1"/>
            </p:cNvSpPr>
            <p:nvPr/>
          </p:nvSpPr>
          <p:spPr bwMode="auto">
            <a:xfrm>
              <a:off x="2565400" y="4193165"/>
              <a:ext cx="220980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800">
                  <a:solidFill>
                    <a:schemeClr val="folHlink"/>
                  </a:solidFill>
                  <a:latin typeface="Times New Roman" pitchFamily="18" charset="0"/>
                </a:rPr>
                <a:t>Nodes 2 &amp; 3 Packets</a:t>
              </a:r>
            </a:p>
          </p:txBody>
        </p:sp>
        <p:sp>
          <p:nvSpPr>
            <p:cNvPr id="29" name="Line 39"/>
            <p:cNvSpPr>
              <a:spLocks noChangeShapeType="1"/>
            </p:cNvSpPr>
            <p:nvPr/>
          </p:nvSpPr>
          <p:spPr bwMode="auto">
            <a:xfrm>
              <a:off x="3708400" y="4636077"/>
              <a:ext cx="304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5765800" y="4956751"/>
              <a:ext cx="2743200" cy="1081089"/>
              <a:chOff x="5765800" y="4176135"/>
              <a:chExt cx="2743200" cy="2153010"/>
            </a:xfrm>
          </p:grpSpPr>
          <p:sp>
            <p:nvSpPr>
              <p:cNvPr id="31" name="Line 26"/>
              <p:cNvSpPr>
                <a:spLocks noChangeShapeType="1"/>
              </p:cNvSpPr>
              <p:nvPr/>
            </p:nvSpPr>
            <p:spPr bwMode="auto">
              <a:xfrm>
                <a:off x="5765800" y="4193165"/>
                <a:ext cx="0" cy="21351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26"/>
              <p:cNvSpPr>
                <a:spLocks noChangeShapeType="1"/>
              </p:cNvSpPr>
              <p:nvPr/>
            </p:nvSpPr>
            <p:spPr bwMode="auto">
              <a:xfrm>
                <a:off x="6680200" y="4193958"/>
                <a:ext cx="0" cy="21351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Line 26"/>
              <p:cNvSpPr>
                <a:spLocks noChangeShapeType="1"/>
              </p:cNvSpPr>
              <p:nvPr/>
            </p:nvSpPr>
            <p:spPr bwMode="auto">
              <a:xfrm>
                <a:off x="7594600" y="4176135"/>
                <a:ext cx="0" cy="21351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26"/>
              <p:cNvSpPr>
                <a:spLocks noChangeShapeType="1"/>
              </p:cNvSpPr>
              <p:nvPr/>
            </p:nvSpPr>
            <p:spPr bwMode="auto">
              <a:xfrm>
                <a:off x="8509000" y="4176135"/>
                <a:ext cx="0" cy="21351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23038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719328" y="4439919"/>
            <a:ext cx="5366512" cy="20391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/>
              <a:t>优点</a:t>
            </a:r>
            <a:endParaRPr lang="en-US" altLang="zh-CN"/>
          </a:p>
          <a:p>
            <a:pPr lvl="1">
              <a:lnSpc>
                <a:spcPct val="90000"/>
              </a:lnSpc>
            </a:pPr>
            <a:r>
              <a:rPr lang="zh-CN" altLang="en-US"/>
              <a:t>单个活动节点能以信道的全部速率连续传输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zh-CN" altLang="en-US"/>
              <a:t>高度去中心化：只有节点的时间槽需要保持同步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时隙</a:t>
            </a:r>
            <a:r>
              <a:rPr lang="en-US" altLang="zh-CN"/>
              <a:t>ALOHA</a:t>
            </a:r>
            <a:r>
              <a:rPr lang="zh-CN" altLang="en-US"/>
              <a:t>（</a:t>
            </a:r>
            <a:r>
              <a:rPr lang="en-US" altLang="en-US"/>
              <a:t>Slotted ALOHA</a:t>
            </a:r>
            <a:r>
              <a:rPr lang="zh-CN" altLang="en-US"/>
              <a:t>）</a:t>
            </a:r>
            <a:endParaRPr lang="en-US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6167120" y="4439919"/>
            <a:ext cx="5067808" cy="20391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400" b="0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/>
              <a:t>缺点</a:t>
            </a:r>
            <a:endParaRPr lang="en-US" altLang="en-US" dirty="0"/>
          </a:p>
          <a:p>
            <a:pPr lvl="1"/>
            <a:r>
              <a:rPr lang="zh-CN" altLang="en-US"/>
              <a:t>碰撞，浪费时间槽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/>
            <a:r>
              <a:rPr lang="zh-CN" altLang="en-US"/>
              <a:t>空闲的时间槽</a:t>
            </a:r>
            <a:endParaRPr lang="en-US" altLang="en-US" dirty="0"/>
          </a:p>
          <a:p>
            <a:endParaRPr lang="en-US" dirty="0"/>
          </a:p>
        </p:txBody>
      </p:sp>
      <p:pic>
        <p:nvPicPr>
          <p:cNvPr id="5" name="Picture 5" descr="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435" y="2331721"/>
            <a:ext cx="8180585" cy="1976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8612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7" y="2185416"/>
            <a:ext cx="6979181" cy="3848100"/>
          </a:xfrm>
        </p:spPr>
        <p:txBody>
          <a:bodyPr/>
          <a:lstStyle/>
          <a:p>
            <a:r>
              <a:rPr lang="zh-CN" altLang="en-US"/>
              <a:t>改进</a:t>
            </a:r>
            <a:r>
              <a:rPr lang="en-US" altLang="en-US"/>
              <a:t>: </a:t>
            </a:r>
            <a:endParaRPr lang="en-US" altLang="en-US" dirty="0"/>
          </a:p>
          <a:p>
            <a:pPr lvl="1"/>
            <a:r>
              <a:rPr lang="zh-CN" altLang="en-US"/>
              <a:t>在传输数据包前监听信道</a:t>
            </a:r>
            <a:endParaRPr lang="en-US" altLang="zh-CN"/>
          </a:p>
          <a:p>
            <a:pPr lvl="1"/>
            <a:r>
              <a:rPr lang="zh-CN" altLang="en-US"/>
              <a:t>仅当没有传输的情况下才开始传输</a:t>
            </a:r>
            <a:endParaRPr lang="en-US" altLang="zh-CN"/>
          </a:p>
          <a:p>
            <a:pPr lvl="1"/>
            <a:endParaRPr lang="en-US" altLang="en-US" dirty="0"/>
          </a:p>
          <a:p>
            <a:r>
              <a:rPr lang="en-US" altLang="en-US"/>
              <a:t>CSMA </a:t>
            </a:r>
            <a:r>
              <a:rPr lang="zh-CN" altLang="en-US"/>
              <a:t>碰撞</a:t>
            </a:r>
            <a:endParaRPr lang="en-US" altLang="en-US" dirty="0"/>
          </a:p>
          <a:p>
            <a:pPr lvl="1"/>
            <a:r>
              <a:rPr lang="zh-CN" altLang="en-US"/>
              <a:t>由非零的传播延迟导致</a:t>
            </a:r>
            <a:endParaRPr lang="en-US" altLang="en-US" dirty="0"/>
          </a:p>
          <a:p>
            <a:pPr lvl="1"/>
            <a:r>
              <a:rPr lang="zh-CN" altLang="en-US"/>
              <a:t>即使发生了碰撞，节点仍继续传输，导致信道容量的完全浪费</a:t>
            </a:r>
            <a:r>
              <a:rPr lang="en-US" altLang="en-US"/>
              <a:t> </a:t>
            </a:r>
            <a:endParaRPr lang="en-US" altLang="en-US" dirty="0"/>
          </a:p>
          <a:p>
            <a:pPr lvl="1"/>
            <a:r>
              <a:rPr lang="zh-CN" altLang="en-US"/>
              <a:t>碰撞的概率随着传播延迟而增加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66927" y="1316736"/>
            <a:ext cx="10757799" cy="868430"/>
          </a:xfrm>
        </p:spPr>
        <p:txBody>
          <a:bodyPr/>
          <a:lstStyle/>
          <a:p>
            <a:r>
              <a:rPr lang="zh-CN" altLang="en-US"/>
              <a:t>载波监听多路访问（</a:t>
            </a:r>
            <a:r>
              <a:rPr lang="en-US" altLang="en-US"/>
              <a:t>CSMA: Carrier Sense Multiple Access</a:t>
            </a:r>
            <a:r>
              <a:rPr lang="zh-CN" altLang="en-US"/>
              <a:t>）</a:t>
            </a:r>
            <a:br>
              <a:rPr lang="en-US" altLang="en-US"/>
            </a:br>
            <a:endParaRPr lang="en-US" dirty="0"/>
          </a:p>
        </p:txBody>
      </p:sp>
      <p:pic>
        <p:nvPicPr>
          <p:cNvPr id="31" name="Picture 3" descr="5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418" y="2185416"/>
            <a:ext cx="3688309" cy="434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528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10515600" cy="4215384"/>
          </a:xfrm>
        </p:spPr>
        <p:txBody>
          <a:bodyPr/>
          <a:lstStyle/>
          <a:p>
            <a:r>
              <a:rPr lang="zh-CN" altLang="en-US"/>
              <a:t>改进</a:t>
            </a:r>
            <a:r>
              <a:rPr lang="en-US" altLang="en-US"/>
              <a:t>: </a:t>
            </a:r>
            <a:endParaRPr lang="en-US" altLang="en-US" dirty="0"/>
          </a:p>
          <a:p>
            <a:pPr lvl="1"/>
            <a:r>
              <a:rPr lang="zh-CN" altLang="en-US"/>
              <a:t>如果检测到碰撞，停止正在进行的传输</a:t>
            </a:r>
            <a:endParaRPr lang="en-US" altLang="en-US" dirty="0"/>
          </a:p>
          <a:p>
            <a:r>
              <a:rPr lang="zh-CN" altLang="en-US"/>
              <a:t>碰撞检测（</a:t>
            </a:r>
            <a:r>
              <a:rPr lang="en-US" altLang="zh-CN"/>
              <a:t>CD:</a:t>
            </a:r>
            <a:r>
              <a:rPr lang="zh-CN" altLang="en-US"/>
              <a:t> </a:t>
            </a:r>
            <a:r>
              <a:rPr lang="en-US" altLang="zh-CN"/>
              <a:t>Collision</a:t>
            </a:r>
            <a:r>
              <a:rPr lang="zh-CN" altLang="en-US"/>
              <a:t> </a:t>
            </a:r>
            <a:r>
              <a:rPr lang="en-US" altLang="zh-CN"/>
              <a:t>Detection</a:t>
            </a:r>
            <a:r>
              <a:rPr lang="zh-CN" altLang="en-US"/>
              <a:t>）</a:t>
            </a:r>
            <a:endParaRPr lang="en-US" dirty="0"/>
          </a:p>
          <a:p>
            <a:pPr lvl="1"/>
            <a:r>
              <a:rPr lang="zh-CN" altLang="en-US"/>
              <a:t>检测碰撞的发生</a:t>
            </a:r>
            <a:endParaRPr lang="en-US" altLang="zh-CN"/>
          </a:p>
          <a:p>
            <a:pPr lvl="2"/>
            <a:r>
              <a:rPr lang="zh-CN" altLang="en-US"/>
              <a:t>每个帧的时间应至少是检测碰撞时间的两倍</a:t>
            </a:r>
            <a:r>
              <a:rPr lang="en-US"/>
              <a:t> (2 ·</a:t>
            </a:r>
            <a:r>
              <a:rPr lang="zh-CN" altLang="en-US"/>
              <a:t>最大传播延迟</a:t>
            </a:r>
            <a:r>
              <a:rPr lang="en-US"/>
              <a:t>)</a:t>
            </a:r>
            <a:endParaRPr lang="en-US" dirty="0"/>
          </a:p>
          <a:p>
            <a:pPr lvl="1"/>
            <a:r>
              <a:rPr lang="zh-CN" altLang="en-US"/>
              <a:t>如果发生碰撞，所有的节点都会退后，等待一个随机的时间</a:t>
            </a:r>
            <a:endParaRPr lang="en-US" dirty="0"/>
          </a:p>
          <a:p>
            <a:r>
              <a:rPr lang="zh-CN" altLang="en-US"/>
              <a:t>问题</a:t>
            </a:r>
            <a:r>
              <a:rPr lang="en-US" altLang="zh-CN"/>
              <a:t>:</a:t>
            </a:r>
            <a:endParaRPr lang="en-US" altLang="zh-CN" dirty="0"/>
          </a:p>
          <a:p>
            <a:pPr lvl="1"/>
            <a:r>
              <a:rPr lang="zh-CN" altLang="en-US"/>
              <a:t>碰撞检测（</a:t>
            </a:r>
            <a:r>
              <a:rPr lang="en-US" altLang="zh-CN"/>
              <a:t>"</a:t>
            </a:r>
            <a:r>
              <a:rPr lang="zh-CN" altLang="en-US"/>
              <a:t>边听边说</a:t>
            </a:r>
            <a:r>
              <a:rPr lang="en-US" altLang="zh-CN"/>
              <a:t>"</a:t>
            </a:r>
            <a:r>
              <a:rPr lang="zh-CN" altLang="en-US"/>
              <a:t>）在无线网络中不起作用</a:t>
            </a:r>
            <a:endParaRPr lang="en-US" dirty="0"/>
          </a:p>
          <a:p>
            <a:pPr lvl="1"/>
            <a:r>
              <a:rPr lang="zh-CN" altLang="en-US"/>
              <a:t>碰撞的成本很高（只有在发送了整个数据包而没有收到</a:t>
            </a:r>
            <a:r>
              <a:rPr lang="en-US" altLang="zh-CN"/>
              <a:t>ack</a:t>
            </a:r>
            <a:r>
              <a:rPr lang="zh-CN" altLang="en-US"/>
              <a:t>后才会被发现</a:t>
            </a:r>
            <a:r>
              <a:rPr lang="zh-CN" altLang="en-US" dirty="0"/>
              <a:t>）</a:t>
            </a:r>
            <a:endParaRPr lang="zh-CN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基于冲突检测的载波监听多路访问（</a:t>
            </a:r>
            <a:r>
              <a:rPr lang="en-US" altLang="en-US"/>
              <a:t>CSMA/CD</a:t>
            </a:r>
            <a:r>
              <a:rPr lang="zh-CN" altLang="en-US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35260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/>
              <a:t>改进</a:t>
            </a:r>
            <a:r>
              <a:rPr lang="en-US" altLang="en-US"/>
              <a:t>: </a:t>
            </a:r>
            <a:endParaRPr lang="en-US" altLang="en-US" dirty="0"/>
          </a:p>
          <a:p>
            <a:pPr lvl="1">
              <a:lnSpc>
                <a:spcPct val="110000"/>
              </a:lnSpc>
            </a:pPr>
            <a:r>
              <a:rPr lang="zh-CN" altLang="en-US"/>
              <a:t>当检测到介质空闲时，在传输之前，通过启动（随机）回退（</a:t>
            </a:r>
            <a:r>
              <a:rPr lang="en-US" altLang="zh-CN"/>
              <a:t>backoff</a:t>
            </a:r>
            <a:r>
              <a:rPr lang="zh-CN" altLang="en-US"/>
              <a:t>）定时器，将碰撞的机会降到最低。</a:t>
            </a:r>
          </a:p>
          <a:p>
            <a:pPr>
              <a:lnSpc>
                <a:spcPct val="110000"/>
              </a:lnSpc>
            </a:pPr>
            <a:r>
              <a:rPr lang="zh-CN" altLang="en-US"/>
              <a:t>核心思路</a:t>
            </a:r>
            <a:r>
              <a:rPr lang="en-US"/>
              <a:t>:</a:t>
            </a:r>
            <a:endParaRPr lang="en-US" dirty="0"/>
          </a:p>
          <a:p>
            <a:pPr lvl="1"/>
            <a:r>
              <a:rPr lang="zh-CN" altLang="en-US"/>
              <a:t>使用空闲信道评估（</a:t>
            </a:r>
            <a:r>
              <a:rPr lang="en-US" altLang="zh-CN"/>
              <a:t>Clear Channel Assessment, CCA</a:t>
            </a:r>
            <a:r>
              <a:rPr lang="zh-CN" altLang="en-US"/>
              <a:t>）进行载波监听</a:t>
            </a:r>
            <a:endParaRPr lang="en-US" altLang="zh-CN"/>
          </a:p>
          <a:p>
            <a:pPr lvl="2"/>
            <a:r>
              <a:rPr lang="zh-CN" altLang="en-US"/>
              <a:t>载波存在  </a:t>
            </a:r>
            <a:r>
              <a:rPr lang="en-US"/>
              <a:t>==&gt;  </a:t>
            </a:r>
            <a:r>
              <a:rPr lang="zh-CN" altLang="en-US"/>
              <a:t>不传输</a:t>
            </a:r>
            <a:r>
              <a:rPr lang="en-US"/>
              <a:t> (</a:t>
            </a:r>
            <a:r>
              <a:rPr lang="zh-CN" altLang="en-US"/>
              <a:t>延迟或回退</a:t>
            </a:r>
            <a:r>
              <a:rPr lang="en-US"/>
              <a:t>)</a:t>
            </a:r>
            <a:endParaRPr lang="en-US" dirty="0"/>
          </a:p>
          <a:p>
            <a:pPr lvl="2"/>
            <a:r>
              <a:rPr lang="zh-CN" altLang="en-US"/>
              <a:t>没有载波  </a:t>
            </a:r>
            <a:r>
              <a:rPr lang="en-US"/>
              <a:t>==&gt;  </a:t>
            </a:r>
            <a:r>
              <a:rPr lang="zh-CN" altLang="en-US">
                <a:solidFill>
                  <a:srgbClr val="CC3D1F"/>
                </a:solidFill>
              </a:rPr>
              <a:t>或许</a:t>
            </a:r>
            <a:r>
              <a:rPr lang="zh-CN" altLang="en-US"/>
              <a:t>可以传输</a:t>
            </a:r>
            <a:r>
              <a:rPr lang="en-US"/>
              <a:t> </a:t>
            </a:r>
            <a:r>
              <a:rPr lang="zh-CN" altLang="en-US"/>
              <a:t>（等待</a:t>
            </a:r>
            <a:r>
              <a:rPr lang="en-US" altLang="zh-CN">
                <a:solidFill>
                  <a:srgbClr val="CC3D1F"/>
                </a:solidFill>
              </a:rPr>
              <a:t>DIFS</a:t>
            </a:r>
            <a:r>
              <a:rPr lang="en-US" altLang="zh-CN"/>
              <a:t>:</a:t>
            </a:r>
            <a:r>
              <a:rPr lang="zh-CN" altLang="en-US">
                <a:solidFill>
                  <a:srgbClr val="CC3D1F"/>
                </a:solidFill>
              </a:rPr>
              <a:t> </a:t>
            </a:r>
            <a:r>
              <a:rPr lang="en-US" altLang="zh-CN"/>
              <a:t>Distributed Inter-frame Spacing</a:t>
            </a:r>
            <a:r>
              <a:rPr lang="zh-CN" altLang="en-US"/>
              <a:t>）</a:t>
            </a:r>
            <a:endParaRPr lang="en-US" dirty="0"/>
          </a:p>
          <a:p>
            <a:pPr lvl="1"/>
            <a:r>
              <a:rPr lang="zh-CN" altLang="en-US"/>
              <a:t>碰撞避免（</a:t>
            </a:r>
            <a:r>
              <a:rPr lang="en-US"/>
              <a:t>Collision avoidance, CA</a:t>
            </a:r>
            <a:r>
              <a:rPr lang="zh-CN" altLang="en-US"/>
              <a:t>）</a:t>
            </a:r>
            <a:r>
              <a:rPr lang="en-US"/>
              <a:t> </a:t>
            </a:r>
            <a:endParaRPr lang="en-US" dirty="0"/>
          </a:p>
          <a:p>
            <a:pPr lvl="2">
              <a:lnSpc>
                <a:spcPct val="80000"/>
              </a:lnSpc>
            </a:pPr>
            <a:r>
              <a:rPr lang="zh-CN" altLang="en-US"/>
              <a:t>使用帧间间隙（</a:t>
            </a:r>
            <a:r>
              <a:rPr lang="en-US"/>
              <a:t>Inter-Frame Spaces,</a:t>
            </a:r>
            <a:r>
              <a:rPr lang="zh-CN" altLang="en-US"/>
              <a:t> </a:t>
            </a:r>
            <a:r>
              <a:rPr lang="en-US"/>
              <a:t>IFS</a:t>
            </a:r>
            <a:r>
              <a:rPr lang="en-US" dirty="0"/>
              <a:t>)</a:t>
            </a:r>
          </a:p>
          <a:p>
            <a:pPr lvl="2">
              <a:lnSpc>
                <a:spcPct val="80000"/>
              </a:lnSpc>
            </a:pPr>
            <a:r>
              <a:rPr lang="zh-CN" altLang="en-US"/>
              <a:t>随机回退的机制</a:t>
            </a:r>
            <a:endParaRPr lang="en-US" altLang="zh-CN"/>
          </a:p>
          <a:p>
            <a:pPr lvl="2">
              <a:lnSpc>
                <a:spcPct val="80000"/>
              </a:lnSpc>
            </a:pPr>
            <a:r>
              <a:rPr lang="zh-CN" altLang="en-US"/>
              <a:t>有可能实施不同的固定优先级别（用于</a:t>
            </a:r>
            <a:r>
              <a:rPr lang="en-US"/>
              <a:t>QoS</a:t>
            </a:r>
            <a:r>
              <a:rPr lang="zh-CN" altLang="en-US" dirty="0"/>
              <a:t>）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基于冲突避免的载波监听多路访问（</a:t>
            </a:r>
            <a:r>
              <a:rPr lang="en-US" altLang="zh-CN"/>
              <a:t>CSMA/CA</a:t>
            </a:r>
            <a:r>
              <a:rPr lang="zh-CN" altLang="en-US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81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7348636" cy="38481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dirty="0"/>
              <a:t>发送方</a:t>
            </a:r>
            <a:endParaRPr lang="en-US" dirty="0"/>
          </a:p>
          <a:p>
            <a:pPr marL="914400" lvl="1" indent="-457200">
              <a:lnSpc>
                <a:spcPct val="80000"/>
              </a:lnSpc>
              <a:buFont typeface="+mj-lt"/>
              <a:buAutoNum type="arabicPeriod"/>
            </a:pPr>
            <a:r>
              <a:rPr lang="zh-CN" altLang="en-US" dirty="0"/>
              <a:t>如果持续</a:t>
            </a:r>
            <a:r>
              <a:rPr lang="en-US" altLang="zh-CN" dirty="0">
                <a:solidFill>
                  <a:srgbClr val="CC3D1F"/>
                </a:solidFill>
              </a:rPr>
              <a:t>DIFS</a:t>
            </a:r>
            <a:r>
              <a:rPr lang="zh-CN" altLang="en-US" dirty="0"/>
              <a:t>时间检测到信道空闲</a:t>
            </a:r>
            <a:endParaRPr lang="en-US" dirty="0"/>
          </a:p>
          <a:p>
            <a:pPr lvl="2">
              <a:lnSpc>
                <a:spcPct val="80000"/>
              </a:lnSpc>
            </a:pPr>
            <a:r>
              <a:rPr lang="zh-CN" altLang="en-US" dirty="0"/>
              <a:t>发送整个数据帧</a:t>
            </a:r>
            <a:r>
              <a:rPr lang="en-US" altLang="en-US" dirty="0"/>
              <a:t> </a:t>
            </a:r>
            <a:r>
              <a:rPr lang="zh-CN" altLang="en-US" dirty="0"/>
              <a:t>（没有碰撞检测）</a:t>
            </a:r>
            <a:endParaRPr lang="en-US" altLang="en-US" dirty="0"/>
          </a:p>
          <a:p>
            <a:pPr marL="914400" lvl="1" indent="-457200">
              <a:lnSpc>
                <a:spcPct val="80000"/>
              </a:lnSpc>
              <a:buFont typeface="+mj-lt"/>
              <a:buAutoNum type="arabicPeriod"/>
            </a:pPr>
            <a:r>
              <a:rPr lang="zh-CN" altLang="en-US" dirty="0"/>
              <a:t>如果检测到信道繁忙</a:t>
            </a:r>
            <a:endParaRPr lang="en-US" dirty="0"/>
          </a:p>
          <a:p>
            <a:pPr lvl="2">
              <a:lnSpc>
                <a:spcPct val="80000"/>
              </a:lnSpc>
            </a:pPr>
            <a:r>
              <a:rPr lang="zh-CN" altLang="en-US" dirty="0"/>
              <a:t>开始随机回退一段时间</a:t>
            </a:r>
            <a:endParaRPr lang="en-US" dirty="0"/>
          </a:p>
          <a:p>
            <a:pPr lvl="2">
              <a:lnSpc>
                <a:spcPct val="80000"/>
              </a:lnSpc>
            </a:pPr>
            <a:r>
              <a:rPr lang="zh-CN" altLang="en-US" dirty="0"/>
              <a:t>当信道空闲时定时器才会倒计时</a:t>
            </a:r>
            <a:endParaRPr lang="en-US" altLang="en-US" dirty="0"/>
          </a:p>
          <a:p>
            <a:pPr lvl="2">
              <a:lnSpc>
                <a:spcPct val="80000"/>
              </a:lnSpc>
            </a:pPr>
            <a:r>
              <a:rPr lang="zh-CN" altLang="en-US" dirty="0"/>
              <a:t>定时器到点后发送数据</a:t>
            </a:r>
            <a:endParaRPr lang="en-US" altLang="en-US" dirty="0"/>
          </a:p>
          <a:p>
            <a:pPr lvl="2">
              <a:lnSpc>
                <a:spcPct val="80000"/>
              </a:lnSpc>
            </a:pPr>
            <a:r>
              <a:rPr lang="zh-CN" altLang="en-US" dirty="0"/>
              <a:t>如果没有</a:t>
            </a:r>
            <a:r>
              <a:rPr lang="en-US" altLang="zh-CN" dirty="0"/>
              <a:t>ACK</a:t>
            </a:r>
            <a:r>
              <a:rPr lang="zh-CN" altLang="en-US" dirty="0"/>
              <a:t>，增加随机回退的时间，重复 </a:t>
            </a:r>
            <a:r>
              <a:rPr lang="en-US" altLang="zh-CN" dirty="0"/>
              <a:t>2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zh-CN" altLang="en-US" dirty="0"/>
              <a:t>接收方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zh-CN" altLang="en-US" dirty="0"/>
              <a:t>如果成功收到数据帧</a:t>
            </a:r>
            <a:endParaRPr lang="en-US" altLang="zh-CN" dirty="0"/>
          </a:p>
          <a:p>
            <a:pPr lvl="2">
              <a:lnSpc>
                <a:spcPct val="8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SIFS</a:t>
            </a:r>
            <a:r>
              <a:rPr lang="zh-CN" altLang="en-US" dirty="0"/>
              <a:t>后返回</a:t>
            </a:r>
            <a:r>
              <a:rPr lang="en-US" altLang="zh-CN" dirty="0"/>
              <a:t>ACK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CSMA/</a:t>
            </a:r>
            <a:r>
              <a:rPr lang="en-US" altLang="en-US"/>
              <a:t>CA </a:t>
            </a:r>
            <a:r>
              <a:rPr lang="zh-CN" altLang="en-US"/>
              <a:t>基本流程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636" y="990127"/>
            <a:ext cx="3765892" cy="528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54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CSMA/CA </a:t>
            </a:r>
            <a:r>
              <a:rPr lang="zh-CN" altLang="en-US"/>
              <a:t>示例</a:t>
            </a:r>
            <a:r>
              <a:rPr lang="en-US"/>
              <a:t>(</a:t>
            </a:r>
            <a:r>
              <a:rPr lang="en-US" dirty="0"/>
              <a:t>1)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946633" y="2298112"/>
            <a:ext cx="7792433" cy="4505118"/>
            <a:chOff x="1946633" y="2298112"/>
            <a:chExt cx="7792433" cy="4505118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946633" y="2298112"/>
              <a:ext cx="7756190" cy="4472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9319491" y="6502704"/>
              <a:ext cx="419575" cy="30052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0192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CSMA/CA </a:t>
            </a:r>
            <a:r>
              <a:rPr lang="zh-CN" altLang="en-US"/>
              <a:t>示例</a:t>
            </a:r>
            <a:r>
              <a:rPr lang="en-US"/>
              <a:t>(</a:t>
            </a:r>
            <a:r>
              <a:rPr lang="en-US" dirty="0"/>
              <a:t>2)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46633" y="2298112"/>
            <a:ext cx="7792433" cy="4523590"/>
            <a:chOff x="1946633" y="2298112"/>
            <a:chExt cx="7792433" cy="4523590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46633" y="2298112"/>
              <a:ext cx="7756190" cy="4472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46633" y="2411058"/>
              <a:ext cx="7756190" cy="43469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9319491" y="6521176"/>
              <a:ext cx="419575" cy="30052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8377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CSMA/CA </a:t>
            </a:r>
            <a:r>
              <a:rPr lang="zh-CN" altLang="en-US"/>
              <a:t>示例</a:t>
            </a:r>
            <a:r>
              <a:rPr lang="en-US"/>
              <a:t>(</a:t>
            </a:r>
            <a:r>
              <a:rPr lang="en-US" dirty="0"/>
              <a:t>3)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46633" y="2298112"/>
            <a:ext cx="7756190" cy="4505118"/>
            <a:chOff x="1946633" y="2298112"/>
            <a:chExt cx="7756190" cy="4505118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46633" y="2298112"/>
              <a:ext cx="7756190" cy="4472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46633" y="2411058"/>
              <a:ext cx="7756190" cy="43469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946633" y="2415294"/>
              <a:ext cx="7683702" cy="43554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9283248" y="6502704"/>
              <a:ext cx="419575" cy="30052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 flipV="1">
              <a:off x="9611863" y="6188365"/>
              <a:ext cx="90960" cy="4667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0627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CSMA/CA </a:t>
            </a:r>
            <a:r>
              <a:rPr lang="zh-CN" altLang="en-US"/>
              <a:t>示例</a:t>
            </a:r>
            <a:r>
              <a:rPr lang="en-US"/>
              <a:t>(</a:t>
            </a:r>
            <a:r>
              <a:rPr lang="en-US" dirty="0"/>
              <a:t>4)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46633" y="2298112"/>
            <a:ext cx="7769781" cy="4505118"/>
            <a:chOff x="1946633" y="2298112"/>
            <a:chExt cx="7769781" cy="4505118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946633" y="2298112"/>
              <a:ext cx="7756190" cy="4472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46633" y="2411058"/>
              <a:ext cx="7756190" cy="43469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46633" y="2415294"/>
              <a:ext cx="7683702" cy="43554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946633" y="2427999"/>
              <a:ext cx="7729007" cy="43300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9296839" y="6502704"/>
              <a:ext cx="419575" cy="30052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3996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CSMA/CA </a:t>
            </a:r>
            <a:r>
              <a:rPr lang="zh-CN" altLang="en-US"/>
              <a:t>示例</a:t>
            </a:r>
            <a:r>
              <a:rPr lang="en-US"/>
              <a:t>(</a:t>
            </a:r>
            <a:r>
              <a:rPr lang="en-US" dirty="0"/>
              <a:t>5)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46633" y="2298112"/>
            <a:ext cx="7776577" cy="4483941"/>
            <a:chOff x="1946633" y="2298112"/>
            <a:chExt cx="7776577" cy="4483941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946633" y="2298112"/>
              <a:ext cx="7756190" cy="4472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46633" y="2411058"/>
              <a:ext cx="7756190" cy="43469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46633" y="2415294"/>
              <a:ext cx="7683702" cy="43554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946633" y="2427999"/>
              <a:ext cx="7729007" cy="43300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946633" y="2439294"/>
              <a:ext cx="7715416" cy="4318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9303635" y="6481527"/>
              <a:ext cx="419575" cy="30052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9453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CSMA/CA </a:t>
            </a:r>
            <a:r>
              <a:rPr lang="zh-CN" altLang="en-US"/>
              <a:t>示例</a:t>
            </a:r>
            <a:r>
              <a:rPr lang="en-US"/>
              <a:t>(</a:t>
            </a:r>
            <a:r>
              <a:rPr lang="en-US" dirty="0"/>
              <a:t>6)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46633" y="2298112"/>
            <a:ext cx="7756190" cy="4472646"/>
            <a:chOff x="1946633" y="2298112"/>
            <a:chExt cx="7756190" cy="4472646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946633" y="2298112"/>
              <a:ext cx="7756190" cy="4472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46633" y="2411058"/>
              <a:ext cx="7756190" cy="43469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46633" y="2415294"/>
              <a:ext cx="7683702" cy="43554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946633" y="2427999"/>
              <a:ext cx="7729007" cy="43300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946633" y="2439294"/>
              <a:ext cx="7715416" cy="4318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946633" y="2420941"/>
              <a:ext cx="7756190" cy="4337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9283248" y="6470232"/>
              <a:ext cx="419575" cy="30052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4092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CSMA/CA </a:t>
            </a:r>
            <a:r>
              <a:rPr lang="zh-CN" altLang="en-US"/>
              <a:t>示例</a:t>
            </a:r>
            <a:r>
              <a:rPr lang="en-US"/>
              <a:t>(</a:t>
            </a:r>
            <a:r>
              <a:rPr lang="en-US" dirty="0"/>
              <a:t>7)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46633" y="2298112"/>
            <a:ext cx="7792433" cy="4505118"/>
            <a:chOff x="1946633" y="2298112"/>
            <a:chExt cx="7792433" cy="4505118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946633" y="2298112"/>
              <a:ext cx="7756190" cy="4472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46633" y="2411058"/>
              <a:ext cx="7756190" cy="43469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46633" y="2415294"/>
              <a:ext cx="7683702" cy="43554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946633" y="2427999"/>
              <a:ext cx="7729007" cy="43300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946633" y="2439294"/>
              <a:ext cx="7715416" cy="4318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946633" y="2420941"/>
              <a:ext cx="7756190" cy="4337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946633" y="2443530"/>
              <a:ext cx="7756190" cy="4337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9319491" y="6502704"/>
              <a:ext cx="419575" cy="30052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5547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问题：隐藏的节点（</a:t>
            </a:r>
            <a:r>
              <a:rPr lang="en-US" altLang="zh-CN"/>
              <a:t>Hidden node</a:t>
            </a:r>
            <a:r>
              <a:rPr lang="zh-CN" altLang="en-US"/>
              <a:t>）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2816370" y="2185166"/>
            <a:ext cx="7315200" cy="3673475"/>
            <a:chOff x="609600" y="1279525"/>
            <a:chExt cx="7315200" cy="3673475"/>
          </a:xfrm>
        </p:grpSpPr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609600" y="1279525"/>
              <a:ext cx="4419600" cy="7016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000" b="1"/>
                <a:t>Range of transmission/reception of node A</a:t>
              </a:r>
            </a:p>
          </p:txBody>
        </p:sp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2438400" y="3810000"/>
              <a:ext cx="1074738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 dirty="0"/>
                <a:t>Node A</a:t>
              </a:r>
            </a:p>
          </p:txBody>
        </p:sp>
        <p:pic>
          <p:nvPicPr>
            <p:cNvPr id="6" name="Picture 6" descr="j022359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514600" y="2895600"/>
              <a:ext cx="838200" cy="774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7" descr="j022359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943600" y="2971800"/>
              <a:ext cx="838200" cy="774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8" descr="j022359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267200" y="2895600"/>
              <a:ext cx="838200" cy="774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1371600" y="1676400"/>
              <a:ext cx="3124200" cy="3124200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4800600" y="1828800"/>
              <a:ext cx="3124200" cy="3124200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V="1">
              <a:off x="3048000" y="2286000"/>
              <a:ext cx="1066800" cy="914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3124200" y="2238375"/>
              <a:ext cx="550863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R</a:t>
              </a:r>
              <a:r>
                <a:rPr lang="en-US" sz="2400" b="1" baseline="-25000"/>
                <a:t>A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6477000" y="2238375"/>
              <a:ext cx="550863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R</a:t>
              </a:r>
              <a:r>
                <a:rPr lang="en-US" sz="2400" b="1" baseline="-25000"/>
                <a:t>C</a:t>
              </a: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V="1">
              <a:off x="6477000" y="2286000"/>
              <a:ext cx="914400" cy="990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 rot="-5400000">
              <a:off x="4064794" y="4064794"/>
              <a:ext cx="1074737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/>
                <a:t>Node B</a:t>
              </a: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5867400" y="3886200"/>
              <a:ext cx="1074738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/>
                <a:t>Node C</a:t>
              </a:r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5181600" y="3200400"/>
              <a:ext cx="7620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4953000" y="2590800"/>
              <a:ext cx="1828800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000"/>
                <a:t>transmission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768824" y="4384042"/>
            <a:ext cx="258094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600"/>
              <a:t>节点</a:t>
            </a:r>
            <a:r>
              <a:rPr lang="en-US" altLang="zh-CN" sz="1600"/>
              <a:t>A</a:t>
            </a:r>
            <a:r>
              <a:rPr lang="zh-CN" altLang="en-US" sz="1600"/>
              <a:t>不知道节点</a:t>
            </a:r>
            <a:r>
              <a:rPr lang="en-US" altLang="zh-CN" sz="1600"/>
              <a:t>B</a:t>
            </a:r>
            <a:r>
              <a:rPr lang="zh-CN" altLang="en-US" sz="1600"/>
              <a:t>目前正忙于接收来自节点</a:t>
            </a:r>
            <a:r>
              <a:rPr lang="en-US" altLang="zh-CN" sz="1600"/>
              <a:t>C</a:t>
            </a:r>
            <a:r>
              <a:rPr lang="zh-CN" altLang="en-US" sz="1600"/>
              <a:t>的信息，因此可能开始自己的传输，造成碰撞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9221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问题：显露的节点（</a:t>
            </a:r>
            <a:r>
              <a:rPr lang="en-US"/>
              <a:t>Exposed Node</a:t>
            </a:r>
            <a:r>
              <a:rPr lang="zh-CN" altLang="en-US"/>
              <a:t>）</a:t>
            </a:r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1558273" y="2818825"/>
            <a:ext cx="7170738" cy="3124200"/>
            <a:chOff x="609600" y="1524000"/>
            <a:chExt cx="7170738" cy="3124200"/>
          </a:xfrm>
        </p:grpSpPr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3649663" y="3505200"/>
              <a:ext cx="1074737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/>
                <a:t>Node A</a:t>
              </a:r>
            </a:p>
          </p:txBody>
        </p:sp>
        <p:pic>
          <p:nvPicPr>
            <p:cNvPr id="5" name="Picture 5" descr="j022359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352800" y="2743200"/>
              <a:ext cx="838200" cy="774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6" descr="j022359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781800" y="2819400"/>
              <a:ext cx="838200" cy="774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7" descr="j022359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105400" y="2743200"/>
              <a:ext cx="838200" cy="774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2209800" y="1524000"/>
              <a:ext cx="3124200" cy="3124200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609600" y="1524000"/>
              <a:ext cx="3124200" cy="3124200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V="1">
              <a:off x="3886200" y="2133600"/>
              <a:ext cx="1066800" cy="914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4038600" y="1981200"/>
              <a:ext cx="550863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R</a:t>
              </a:r>
              <a:r>
                <a:rPr lang="en-US" sz="2400" b="1" baseline="-25000"/>
                <a:t>A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1371600" y="1905000"/>
              <a:ext cx="550863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b="1"/>
                <a:t>R</a:t>
              </a:r>
              <a:r>
                <a:rPr lang="en-US" sz="2400" b="1" baseline="-25000"/>
                <a:t>D</a:t>
              </a: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 flipH="1" flipV="1">
              <a:off x="1066800" y="1981200"/>
              <a:ext cx="106680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5249863" y="3565525"/>
              <a:ext cx="1074737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/>
                <a:t>Node B</a:t>
              </a: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6705600" y="3581400"/>
              <a:ext cx="1074738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/>
                <a:t>Node C</a:t>
              </a: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 flipH="1">
              <a:off x="2514600" y="3124200"/>
              <a:ext cx="7620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2209800" y="2438400"/>
              <a:ext cx="1828800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000"/>
                <a:t>transmission</a:t>
              </a:r>
            </a:p>
          </p:txBody>
        </p:sp>
        <p:pic>
          <p:nvPicPr>
            <p:cNvPr id="18" name="Picture 18" descr="j022359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600200" y="2743200"/>
              <a:ext cx="838200" cy="774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1219200" y="3581400"/>
              <a:ext cx="1074738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/>
                <a:t>Node D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6491140" y="2285583"/>
            <a:ext cx="41969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/>
              <a:t>节点</a:t>
            </a:r>
            <a:r>
              <a:rPr lang="en-US" altLang="zh-CN"/>
              <a:t>B</a:t>
            </a:r>
            <a:r>
              <a:rPr lang="zh-CN" altLang="en-US"/>
              <a:t>想向节点</a:t>
            </a:r>
            <a:r>
              <a:rPr lang="en-US" altLang="zh-CN"/>
              <a:t>C</a:t>
            </a:r>
            <a:r>
              <a:rPr lang="zh-CN" altLang="en-US"/>
              <a:t>传输，但错误地认为这将干扰</a:t>
            </a:r>
            <a:r>
              <a:rPr lang="en-US" altLang="zh-CN"/>
              <a:t>A</a:t>
            </a:r>
            <a:r>
              <a:rPr lang="zh-CN" altLang="en-US"/>
              <a:t>向</a:t>
            </a:r>
            <a:r>
              <a:rPr lang="en-US" altLang="zh-CN"/>
              <a:t>D</a:t>
            </a:r>
            <a:r>
              <a:rPr lang="zh-CN" altLang="en-US"/>
              <a:t>的传输，所以</a:t>
            </a:r>
            <a:r>
              <a:rPr lang="en-US" altLang="zh-CN"/>
              <a:t>B</a:t>
            </a:r>
            <a:r>
              <a:rPr lang="zh-CN" altLang="en-US"/>
              <a:t>取消了传输（效率的降低）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3609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000"/>
              <a:t>发送方发送一个请求发送（</a:t>
            </a:r>
            <a:r>
              <a:rPr lang="en-US" altLang="zh-CN" sz="2000"/>
              <a:t>RTS, Request to Send</a:t>
            </a:r>
            <a:r>
              <a:rPr lang="zh-CN" altLang="en-US" sz="2000"/>
              <a:t>），表明它想使用多长时间的介质。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/>
              <a:t>接收方以 </a:t>
            </a:r>
            <a:r>
              <a:rPr lang="en-US" altLang="zh-CN" sz="2000"/>
              <a:t>CTS</a:t>
            </a:r>
            <a:r>
              <a:rPr lang="zh-CN" altLang="en-US" sz="2000"/>
              <a:t>（</a:t>
            </a:r>
            <a:r>
              <a:rPr lang="en-US" altLang="zh-CN" sz="2000"/>
              <a:t>Clear to Send</a:t>
            </a:r>
            <a:r>
              <a:rPr lang="zh-CN" altLang="en-US" sz="2000"/>
              <a:t>）作为回复，呼应预期的传输时间</a:t>
            </a:r>
            <a:endParaRPr lang="en-US" sz="2000" dirty="0"/>
          </a:p>
          <a:p>
            <a:pPr lvl="1"/>
            <a:r>
              <a:rPr lang="zh-CN" altLang="en-US" sz="1800"/>
              <a:t>一定程度上有助于解决隐藏的终端问题</a:t>
            </a:r>
            <a:endParaRPr lang="en-US" sz="180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/>
              <a:t>任何听到</a:t>
            </a:r>
            <a:r>
              <a:rPr lang="en-US" altLang="zh-CN" sz="2000"/>
              <a:t>CTS</a:t>
            </a:r>
            <a:r>
              <a:rPr lang="zh-CN" altLang="en-US" sz="2000"/>
              <a:t>的节点都知道它在接收方附近，应该在该时间段内不进行传输</a:t>
            </a:r>
            <a:endParaRPr lang="en-US" sz="2000"/>
          </a:p>
          <a:p>
            <a:pPr lvl="1"/>
            <a:r>
              <a:rPr lang="zh-CN" altLang="en-US" sz="1800"/>
              <a:t>听到</a:t>
            </a:r>
            <a:r>
              <a:rPr lang="en-US" altLang="zh-CN" sz="1800"/>
              <a:t>RTS</a:t>
            </a:r>
            <a:r>
              <a:rPr lang="zh-CN" altLang="en-US" sz="1800"/>
              <a:t>但没有听到</a:t>
            </a:r>
            <a:r>
              <a:rPr lang="en-US" altLang="zh-CN" sz="1800"/>
              <a:t>CTS</a:t>
            </a:r>
            <a:r>
              <a:rPr lang="zh-CN" altLang="en-US" sz="1800"/>
              <a:t>的节点仍然可以发送</a:t>
            </a:r>
            <a:endParaRPr lang="en-US" sz="1800" dirty="0"/>
          </a:p>
          <a:p>
            <a:pPr lvl="1"/>
            <a:r>
              <a:rPr lang="zh-CN" altLang="en-US" sz="1800"/>
              <a:t>一定程度上有助于解决显露的终端问题</a:t>
            </a:r>
            <a:endParaRPr lang="en-US" sz="180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/>
              <a:t>接收方在成功接收一个帧后向发送方发送</a:t>
            </a:r>
            <a:r>
              <a:rPr lang="en-US" altLang="zh-CN" sz="2000"/>
              <a:t>ACK</a:t>
            </a:r>
            <a:endParaRPr lang="en-US" sz="2000"/>
          </a:p>
          <a:p>
            <a:pPr lvl="1"/>
            <a:r>
              <a:rPr lang="zh-CN" altLang="en-US" sz="1800"/>
              <a:t>所有节点都必须等待接收方的</a:t>
            </a:r>
            <a:r>
              <a:rPr lang="en-US" altLang="zh-CN" sz="1800"/>
              <a:t>ACK</a:t>
            </a:r>
            <a:r>
              <a:rPr lang="zh-CN" altLang="en-US" sz="1800"/>
              <a:t>，然后再尝试发送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带有</a:t>
            </a:r>
            <a:r>
              <a:rPr lang="en-US" altLang="zh-CN"/>
              <a:t>RTS/CTS</a:t>
            </a:r>
            <a:r>
              <a:rPr lang="zh-CN" altLang="en-US"/>
              <a:t>的</a:t>
            </a:r>
            <a:r>
              <a:rPr lang="en-US" altLang="en-US"/>
              <a:t>CSMA/CA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86607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5378450" cy="3848100"/>
          </a:xfrm>
        </p:spPr>
        <p:txBody>
          <a:bodyPr/>
          <a:lstStyle/>
          <a:p>
            <a:r>
              <a:rPr lang="zh-CN" altLang="en-US"/>
              <a:t>避免</a:t>
            </a:r>
            <a:r>
              <a:rPr lang="en-US" altLang="zh-CN"/>
              <a:t>hidden terminal</a:t>
            </a:r>
            <a:r>
              <a:rPr lang="zh-CN" altLang="en-US"/>
              <a:t>的问题</a:t>
            </a:r>
            <a:endParaRPr lang="en-US" altLang="zh-CN"/>
          </a:p>
          <a:p>
            <a:pPr lvl="1"/>
            <a:r>
              <a:rPr lang="en-US"/>
              <a:t>A </a:t>
            </a:r>
            <a:r>
              <a:rPr lang="zh-CN" altLang="en-US"/>
              <a:t>和 </a:t>
            </a:r>
            <a:r>
              <a:rPr lang="en-US"/>
              <a:t>C </a:t>
            </a:r>
            <a:r>
              <a:rPr lang="zh-CN" altLang="en-US"/>
              <a:t>想发给 </a:t>
            </a:r>
            <a:r>
              <a:rPr lang="en-US" altLang="zh-CN"/>
              <a:t>B</a:t>
            </a:r>
          </a:p>
          <a:p>
            <a:pPr lvl="1"/>
            <a:r>
              <a:rPr lang="en-US"/>
              <a:t>A </a:t>
            </a:r>
            <a:r>
              <a:rPr lang="zh-CN" altLang="en-US"/>
              <a:t>率先发送</a:t>
            </a:r>
            <a:r>
              <a:rPr lang="en-US" altLang="zh-CN"/>
              <a:t>RTS</a:t>
            </a:r>
          </a:p>
          <a:p>
            <a:pPr lvl="1"/>
            <a:r>
              <a:rPr lang="zh-CN" altLang="en-US"/>
              <a:t>来自 </a:t>
            </a:r>
            <a:r>
              <a:rPr lang="en-US" altLang="zh-CN"/>
              <a:t>B </a:t>
            </a:r>
            <a:r>
              <a:rPr lang="zh-CN" altLang="en-US"/>
              <a:t>的</a:t>
            </a:r>
            <a:r>
              <a:rPr lang="en-US" altLang="zh-CN"/>
              <a:t>CTS</a:t>
            </a:r>
            <a:endParaRPr lang="en-US" dirty="0"/>
          </a:p>
          <a:p>
            <a:pPr lvl="1"/>
            <a:r>
              <a:rPr lang="en-US"/>
              <a:t>C </a:t>
            </a:r>
            <a:r>
              <a:rPr lang="zh-CN" altLang="en-US"/>
              <a:t>收到后等待</a:t>
            </a:r>
            <a:endParaRPr lang="en-US" altLang="zh-CN"/>
          </a:p>
          <a:p>
            <a:r>
              <a:rPr lang="zh-CN" altLang="en-US"/>
              <a:t>避免</a:t>
            </a:r>
            <a:r>
              <a:rPr lang="en-US" altLang="zh-CN"/>
              <a:t>exposed terminal</a:t>
            </a:r>
            <a:r>
              <a:rPr lang="zh-CN" altLang="en-US"/>
              <a:t>的问题</a:t>
            </a:r>
            <a:endParaRPr lang="en-US"/>
          </a:p>
          <a:p>
            <a:pPr lvl="1"/>
            <a:r>
              <a:rPr lang="en-US" altLang="zh-CN"/>
              <a:t>B</a:t>
            </a:r>
            <a:r>
              <a:rPr lang="zh-CN" altLang="en-US"/>
              <a:t>想发送至</a:t>
            </a:r>
            <a:r>
              <a:rPr lang="en-US" altLang="zh-CN"/>
              <a:t>A</a:t>
            </a:r>
            <a:r>
              <a:rPr lang="zh-CN" altLang="en-US"/>
              <a:t>，</a:t>
            </a:r>
            <a:r>
              <a:rPr lang="en-US" altLang="zh-CN"/>
              <a:t>C</a:t>
            </a:r>
            <a:r>
              <a:rPr lang="zh-CN" altLang="en-US"/>
              <a:t>想发送到另一个终端</a:t>
            </a:r>
          </a:p>
          <a:p>
            <a:pPr lvl="1"/>
            <a:r>
              <a:rPr lang="zh-CN" altLang="en-US"/>
              <a:t>现在</a:t>
            </a:r>
            <a:r>
              <a:rPr lang="en-US" altLang="zh-CN"/>
              <a:t>C</a:t>
            </a:r>
            <a:r>
              <a:rPr lang="zh-CN" altLang="en-US"/>
              <a:t>不需要等待，因为它不能收到</a:t>
            </a:r>
            <a:r>
              <a:rPr lang="en-US" altLang="zh-CN"/>
              <a:t>A</a:t>
            </a:r>
            <a:r>
              <a:rPr lang="zh-CN" altLang="en-US"/>
              <a:t>的</a:t>
            </a:r>
            <a:r>
              <a:rPr lang="en-US" altLang="zh-CN"/>
              <a:t>CTS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带有</a:t>
            </a:r>
            <a:r>
              <a:rPr lang="en-US" altLang="zh-CN"/>
              <a:t>RTS/CTS</a:t>
            </a:r>
            <a:r>
              <a:rPr lang="zh-CN" altLang="en-US"/>
              <a:t>的</a:t>
            </a:r>
            <a:r>
              <a:rPr lang="en-US" altLang="en-US"/>
              <a:t>CSMA/CA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5583428" y="2590924"/>
            <a:ext cx="5184152" cy="1676149"/>
            <a:chOff x="5243703" y="2592098"/>
            <a:chExt cx="5184152" cy="167614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24678" y="2592098"/>
              <a:ext cx="5003177" cy="1676149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3703" y="3428999"/>
              <a:ext cx="361950" cy="504825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>
            <a:off x="5764403" y="4809470"/>
            <a:ext cx="5003177" cy="1630728"/>
            <a:chOff x="5424677" y="4809470"/>
            <a:chExt cx="5003177" cy="163072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24677" y="4809470"/>
              <a:ext cx="5003177" cy="1630728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24677" y="4809470"/>
              <a:ext cx="158792" cy="1943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0498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5082032" cy="38481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zh-CN" altLang="en-US"/>
              <a:t>轮询（</a:t>
            </a:r>
            <a:r>
              <a:rPr lang="en-US" altLang="en-US"/>
              <a:t>Polling</a:t>
            </a:r>
            <a:r>
              <a:rPr lang="zh-CN" altLang="en-US"/>
              <a:t>）</a:t>
            </a:r>
            <a:r>
              <a:rPr lang="en-US" altLang="en-US"/>
              <a:t>:</a:t>
            </a:r>
            <a:r>
              <a:rPr lang="en-US" altLang="en-US" b="1"/>
              <a:t> </a:t>
            </a:r>
            <a:endParaRPr lang="en-US" altLang="en-US" dirty="0"/>
          </a:p>
          <a:p>
            <a:r>
              <a:rPr lang="zh-CN" altLang="en-US"/>
              <a:t>主节点 </a:t>
            </a:r>
            <a:r>
              <a:rPr lang="en-US" altLang="zh-CN"/>
              <a:t>"</a:t>
            </a:r>
            <a:r>
              <a:rPr lang="zh-CN" altLang="en-US"/>
              <a:t>邀请 </a:t>
            </a:r>
            <a:r>
              <a:rPr lang="en-US" altLang="zh-CN"/>
              <a:t>"</a:t>
            </a:r>
            <a:r>
              <a:rPr lang="zh-CN" altLang="en-US"/>
              <a:t>从属节点依次进行传输</a:t>
            </a:r>
            <a:endParaRPr lang="en-US" altLang="en-US" dirty="0"/>
          </a:p>
          <a:p>
            <a:r>
              <a:rPr lang="zh-CN" altLang="en-US"/>
              <a:t>问题</a:t>
            </a:r>
            <a:r>
              <a:rPr lang="en-US" altLang="en-US"/>
              <a:t>:</a:t>
            </a:r>
            <a:endParaRPr lang="en-US" altLang="en-US" dirty="0"/>
          </a:p>
          <a:p>
            <a:pPr lvl="1"/>
            <a:r>
              <a:rPr lang="zh-CN" altLang="en-US"/>
              <a:t>轮询的开销</a:t>
            </a:r>
            <a:endParaRPr lang="en-US" altLang="en-US" dirty="0"/>
          </a:p>
          <a:p>
            <a:pPr lvl="1"/>
            <a:r>
              <a:rPr lang="zh-CN" altLang="en-US"/>
              <a:t>延迟</a:t>
            </a:r>
            <a:endParaRPr lang="en-US" altLang="zh-CN"/>
          </a:p>
          <a:p>
            <a:pPr lvl="1"/>
            <a:r>
              <a:rPr lang="zh-CN" altLang="en-US"/>
              <a:t>单点故障（主节点）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"</a:t>
            </a:r>
            <a:r>
              <a:rPr lang="zh-CN" altLang="en-US"/>
              <a:t>轮流</a:t>
            </a:r>
            <a:r>
              <a:rPr lang="en-US" altLang="zh-CN"/>
              <a:t>" </a:t>
            </a:r>
            <a:r>
              <a:rPr lang="en-US" altLang="en-US"/>
              <a:t>MAC</a:t>
            </a:r>
            <a:r>
              <a:rPr lang="zh-CN" altLang="en-US"/>
              <a:t>协议</a:t>
            </a:r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6000496" y="2185166"/>
            <a:ext cx="5082032" cy="38481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400" b="0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zh-CN" altLang="en-US"/>
              <a:t>令牌传递（</a:t>
            </a:r>
            <a:r>
              <a:rPr lang="en-US" altLang="en-US"/>
              <a:t>Token passing</a:t>
            </a:r>
            <a:r>
              <a:rPr lang="zh-CN" altLang="en-US"/>
              <a:t>）</a:t>
            </a:r>
            <a:r>
              <a:rPr lang="en-US" altLang="en-US"/>
              <a:t>:</a:t>
            </a:r>
            <a:endParaRPr lang="en-US" altLang="en-US" dirty="0"/>
          </a:p>
          <a:p>
            <a:r>
              <a:rPr lang="zh-CN" altLang="en-US"/>
              <a:t>控制令牌从一个节点依次传递到下一个节点</a:t>
            </a:r>
            <a:endParaRPr lang="en-US" altLang="en-US" dirty="0"/>
          </a:p>
          <a:p>
            <a:r>
              <a:rPr lang="zh-CN" altLang="en-US"/>
              <a:t>令牌消息</a:t>
            </a:r>
            <a:endParaRPr lang="en-US" altLang="zh-CN"/>
          </a:p>
          <a:p>
            <a:r>
              <a:rPr lang="zh-CN" altLang="en-US"/>
              <a:t>问题</a:t>
            </a:r>
            <a:r>
              <a:rPr lang="en-US" altLang="en-US"/>
              <a:t>:</a:t>
            </a:r>
            <a:endParaRPr lang="en-US" altLang="en-US" dirty="0"/>
          </a:p>
          <a:p>
            <a:pPr lvl="1"/>
            <a:r>
              <a:rPr lang="zh-CN" altLang="en-US"/>
              <a:t>令牌开销</a:t>
            </a:r>
            <a:endParaRPr lang="en-US" altLang="zh-CN"/>
          </a:p>
          <a:p>
            <a:pPr lvl="1"/>
            <a:r>
              <a:rPr lang="zh-CN" altLang="en-US"/>
              <a:t>延迟</a:t>
            </a:r>
            <a:endParaRPr lang="en-US" altLang="en-US" dirty="0"/>
          </a:p>
          <a:p>
            <a:pPr lvl="1"/>
            <a:r>
              <a:rPr lang="zh-CN" altLang="en-US"/>
              <a:t>单点故障（</a:t>
            </a:r>
            <a:r>
              <a:rPr lang="en-US" altLang="en-US"/>
              <a:t>token</a:t>
            </a:r>
            <a:r>
              <a:rPr lang="zh-CN" altLang="en-US" dirty="0"/>
              <a:t>）</a:t>
            </a:r>
            <a:endParaRPr lang="en-US" altLang="en-US" dirty="0"/>
          </a:p>
          <a:p>
            <a:pPr>
              <a:buFont typeface="ZapfDingbats" pitchFamily="82" charset="2"/>
              <a:buNone/>
            </a:pPr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6692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/>
              <a:t>如何处理共享介质的问题</a:t>
            </a:r>
            <a:r>
              <a:rPr lang="en-US"/>
              <a:t>?</a:t>
            </a:r>
            <a:endParaRPr lang="en-US" dirty="0"/>
          </a:p>
          <a:p>
            <a:r>
              <a:rPr lang="zh-CN" altLang="en-US"/>
              <a:t>信道分割（通过时间，频率或码片）</a:t>
            </a:r>
            <a:endParaRPr lang="en-US" altLang="zh-CN"/>
          </a:p>
          <a:p>
            <a:pPr lvl="1"/>
            <a:r>
              <a:rPr lang="zh-CN" altLang="en-US"/>
              <a:t>时分，频分，码分</a:t>
            </a:r>
            <a:endParaRPr lang="en-US"/>
          </a:p>
          <a:p>
            <a:r>
              <a:rPr lang="zh-CN" altLang="en-US"/>
              <a:t>随机划分（动态）</a:t>
            </a:r>
            <a:r>
              <a:rPr lang="en-US"/>
              <a:t> </a:t>
            </a:r>
          </a:p>
          <a:p>
            <a:pPr lvl="1"/>
            <a:r>
              <a:rPr lang="en-US"/>
              <a:t>ALOHA</a:t>
            </a:r>
            <a:r>
              <a:rPr lang="en-US" dirty="0"/>
              <a:t>, S-ALOHA, CSMA, </a:t>
            </a:r>
          </a:p>
          <a:p>
            <a:pPr lvl="1"/>
            <a:r>
              <a:rPr lang="zh-CN" altLang="en-US"/>
              <a:t>碰撞检测：在某些技术中很容易（有线），在其他技术中很难（无线）</a:t>
            </a:r>
            <a:endParaRPr lang="en-US" dirty="0"/>
          </a:p>
          <a:p>
            <a:pPr lvl="1"/>
            <a:r>
              <a:rPr lang="en-US" dirty="0"/>
              <a:t>CSMA</a:t>
            </a:r>
            <a:r>
              <a:rPr lang="en-US"/>
              <a:t>/CD </a:t>
            </a:r>
            <a:r>
              <a:rPr lang="zh-CN" altLang="en-US"/>
              <a:t>在 </a:t>
            </a:r>
            <a:r>
              <a:rPr lang="en-US"/>
              <a:t>Ethernet </a:t>
            </a:r>
            <a:r>
              <a:rPr lang="zh-CN" altLang="en-US"/>
              <a:t>中得以使用</a:t>
            </a:r>
            <a:endParaRPr lang="en-US" dirty="0"/>
          </a:p>
          <a:p>
            <a:r>
              <a:rPr lang="zh-CN" altLang="en-US"/>
              <a:t>轮流</a:t>
            </a:r>
            <a:endParaRPr lang="en-US" dirty="0"/>
          </a:p>
          <a:p>
            <a:pPr lvl="1"/>
            <a:r>
              <a:rPr lang="zh-CN" altLang="en-US"/>
              <a:t>从一个中心站点进行轮询，令牌传递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MAC</a:t>
            </a:r>
            <a:r>
              <a:rPr lang="zh-CN" altLang="en-US"/>
              <a:t>协议的总结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232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B59B91F-AB54-4F5D-ADCD-1A7AF8D01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99965"/>
            <a:ext cx="10515600" cy="868430"/>
          </a:xfrm>
        </p:spPr>
        <p:txBody>
          <a:bodyPr/>
          <a:lstStyle/>
          <a:p>
            <a:pPr algn="ctr"/>
            <a:r>
              <a:rPr lang="en-US" altLang="zh-CN" sz="4000" dirty="0"/>
              <a:t>Thank you</a:t>
            </a:r>
            <a:r>
              <a:rPr lang="zh-CN" altLang="en-US" sz="4000"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065440831"/>
      </p:ext>
    </p:extLst>
  </p:cSld>
  <p:clrMapOvr>
    <a:masterClrMapping/>
  </p:clrMapOvr>
</p:sld>
</file>

<file path=ppt/theme/theme1.xml><?xml version="1.0" encoding="utf-8"?>
<a:theme xmlns:a="http://schemas.openxmlformats.org/drawingml/2006/main" name="UB Powerpoint Template">
  <a:themeElements>
    <a:clrScheme name="Custom 1">
      <a:dk1>
        <a:srgbClr val="000000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1857</Words>
  <Application>Microsoft Office PowerPoint</Application>
  <PresentationFormat>宽屏</PresentationFormat>
  <Paragraphs>281</Paragraphs>
  <Slides>33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LucidaGrande</vt:lpstr>
      <vt:lpstr>ZapfDingbats</vt:lpstr>
      <vt:lpstr>等线</vt:lpstr>
      <vt:lpstr>黑体</vt:lpstr>
      <vt:lpstr>Arial</vt:lpstr>
      <vt:lpstr>Comic Sans MS</vt:lpstr>
      <vt:lpstr>Georgia</vt:lpstr>
      <vt:lpstr>Times New Roman</vt:lpstr>
      <vt:lpstr>UB Powerpoint Template</vt:lpstr>
      <vt:lpstr>Wireless network and IoT security</vt:lpstr>
      <vt:lpstr>PowerPoint 演示文稿</vt:lpstr>
      <vt:lpstr>介质访问控制(Medium Access Control, MAC) 协议</vt:lpstr>
      <vt:lpstr>理想的多址接入协议</vt:lpstr>
      <vt:lpstr>介质访问控制协议：分类</vt:lpstr>
      <vt:lpstr>信道分割的MAC协议</vt:lpstr>
      <vt:lpstr>信道划分的MAC协议：时分多址</vt:lpstr>
      <vt:lpstr>信道划分的MAC协议：频分多址</vt:lpstr>
      <vt:lpstr>信道划分的MAC协议：码分多址</vt:lpstr>
      <vt:lpstr>信道分割的控制</vt:lpstr>
      <vt:lpstr>随机访问协议</vt:lpstr>
      <vt:lpstr>随机访问MAC协议的例子</vt:lpstr>
      <vt:lpstr>ALOHA</vt:lpstr>
      <vt:lpstr>时隙ALOHA（Slotted ALOHA）</vt:lpstr>
      <vt:lpstr>时隙ALOHA（Slotted ALOHA）</vt:lpstr>
      <vt:lpstr>载波监听多路访问（CSMA: Carrier Sense Multiple Access） </vt:lpstr>
      <vt:lpstr>基于冲突检测的载波监听多路访问（CSMA/CD）</vt:lpstr>
      <vt:lpstr>基于冲突避免的载波监听多路访问（CSMA/CA）</vt:lpstr>
      <vt:lpstr>CSMA/CA 基本流程</vt:lpstr>
      <vt:lpstr>CSMA/CA 示例(1)</vt:lpstr>
      <vt:lpstr>CSMA/CA 示例(2)</vt:lpstr>
      <vt:lpstr>CSMA/CA 示例(3)</vt:lpstr>
      <vt:lpstr>CSMA/CA 示例(4)</vt:lpstr>
      <vt:lpstr>CSMA/CA 示例(5)</vt:lpstr>
      <vt:lpstr>CSMA/CA 示例(6)</vt:lpstr>
      <vt:lpstr>CSMA/CA 示例(7)</vt:lpstr>
      <vt:lpstr>问题：隐藏的节点（Hidden node）</vt:lpstr>
      <vt:lpstr>问题：显露的节点（Exposed Node）</vt:lpstr>
      <vt:lpstr>带有RTS/CTS的CSMA/CA</vt:lpstr>
      <vt:lpstr>带有RTS/CTS的CSMA/CA</vt:lpstr>
      <vt:lpstr>"轮流" MAC协议</vt:lpstr>
      <vt:lpstr>MAC协议的总结</vt:lpstr>
      <vt:lpstr>Thank you！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Feng Lin</dc:creator>
  <cp:lastModifiedBy>Feng Lin</cp:lastModifiedBy>
  <cp:revision>56</cp:revision>
  <dcterms:created xsi:type="dcterms:W3CDTF">2021-05-23T15:16:49Z</dcterms:created>
  <dcterms:modified xsi:type="dcterms:W3CDTF">2023-05-18T18:05:28Z</dcterms:modified>
</cp:coreProperties>
</file>